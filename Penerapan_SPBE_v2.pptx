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286000" cy="2286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3657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962E"/>
                </a:solidFill>
                <a:latin typeface="Calibri"/>
              </a:defRPr>
            </a:pPr>
            <a:r>
              <a:t>SISTEM PEMERINTAHAN BERBASIS ELEKTRONIK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Republik Indonesia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109441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PENERAPAN SPBE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8962E"/>
                </a:solidFill>
                <a:latin typeface="Calibri"/>
              </a:defRPr>
            </a:pPr>
            <a:r>
              <a:t>Transformasi Birokrasi Terintegrasi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109441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Efisien • Aman • Tepercaya</a:t>
            </a:r>
            <a:br/>
            <a:r>
              <a:t>Terintegrasi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6858000" cy="822960"/>
          </a:xfrm>
          <a:prstGeom prst="roundRect">
            <a:avLst>
              <a:gd name="adj" fmla="val 4000"/>
            </a:avLst>
          </a:prstGeom>
          <a:solidFill>
            <a:srgbClr val="0D1F3C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DF5"/>
                </a:solidFill>
                <a:latin typeface="Calibri"/>
              </a:defRPr>
            </a:pPr>
            <a:r>
              <a:t>Perpres No. 95 Tahun 2018  •  Perpres No. 132 Tahun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Kementerian PAN-RB — Pedoman SPBE Nasional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Daftar 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Pokok bahasan presentasi SPBE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484778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106424"/>
            <a:ext cx="457200" cy="457200"/>
          </a:xfrm>
          <a:prstGeom prst="round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106424"/>
            <a:ext cx="266181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Apa Itu SPBE?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18488"/>
            <a:ext cx="3484778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73352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73352"/>
            <a:ext cx="266181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Kerangka Arsitektur SPBE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1051560"/>
            <a:ext cx="3484778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44898" y="1106424"/>
            <a:ext cx="457200" cy="457200"/>
          </a:xfrm>
          <a:prstGeom prst="round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258" y="1106424"/>
            <a:ext cx="266181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4 Domain Evaluasi SPBE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3458" y="1618488"/>
            <a:ext cx="3484778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44898" y="1673352"/>
            <a:ext cx="457200" cy="457200"/>
          </a:xfrm>
          <a:prstGeom prst="round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9258" y="1673352"/>
            <a:ext cx="266181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6 Langkah Penerapan SPBE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8276" y="1051560"/>
            <a:ext cx="3484778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9716" y="1106424"/>
            <a:ext cx="457200" cy="45720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4076" y="1106424"/>
            <a:ext cx="266181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Prinsip Utama &amp; Penutup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Apa Itu SPBE?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Dasar Hukum: Perpres No. 95/2018 &amp; Perpres No. 132/2022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Sistem Pemerintahan Berbasis Elektronik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Memahami SPBE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Bukan sekadar digitalisasi — transformasi menyeluruh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609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8962E"/>
                </a:solidFill>
                <a:latin typeface="Calibri"/>
              </a:defRPr>
            </a:pPr>
            <a:r>
              <a:t>Bukan Digitalisasi Biasa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Bukan memindahkan kertas ke aplikasi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Transformasi menyeluruh birokrasi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Menciptakan tata kelola terintegrasi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2188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Dasar Hukum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Perpres No. 95 Tahun 2018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Perpres No. 132 Tahun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Pedoman dari Kemenpan-RB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1766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Tujuan Akhir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Birokrasi terintegrasi &amp; efisien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Layanan prima bagi masyarakat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Pemerintahan aman &amp; tepercaya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Kerangka Arsitektur SPBE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Tata Kelola dan Manajemen sebagai pondasi pengikat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567863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2567863" cy="457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25678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A1628"/>
                </a:solidFill>
                <a:latin typeface="Calibri"/>
              </a:defRPr>
            </a:pPr>
            <a:r>
              <a:t>Layanan SPBE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99B0"/>
                </a:solidFill>
                <a:latin typeface="Calibri"/>
              </a:defRPr>
            </a:pPr>
            <a:r>
              <a:t>Tujuan akhir: layanan publik &amp; administrasi yang prima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051560"/>
            <a:ext cx="2567863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0823" y="1051560"/>
            <a:ext cx="2567863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0823" y="1280160"/>
            <a:ext cx="25678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563EB"/>
                </a:solidFill>
                <a:latin typeface="Calibri"/>
              </a:defRPr>
            </a:pPr>
            <a:r>
              <a:t>Aplikasi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19659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99B0"/>
                </a:solidFill>
                <a:latin typeface="Calibri"/>
              </a:defRPr>
            </a:pPr>
            <a:r>
              <a:t>Platform digital terpadu &amp; interoperabel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051560"/>
            <a:ext cx="2567863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051560"/>
            <a:ext cx="2567863" cy="4572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1280160"/>
            <a:ext cx="25678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B7C72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19659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99B0"/>
                </a:solidFill>
                <a:latin typeface="Calibri"/>
              </a:defRPr>
            </a:pPr>
            <a:r>
              <a:t>Satu Data Indonesia — standar, metadata, interoperabilitas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051560"/>
            <a:ext cx="2567863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75191" y="1051560"/>
            <a:ext cx="2567863" cy="4572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5191" y="1280160"/>
            <a:ext cx="25678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A0522D"/>
                </a:solidFill>
                <a:latin typeface="Calibri"/>
              </a:defRPr>
            </a:pPr>
            <a:r>
              <a:t>Infrastruktur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19659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99B0"/>
                </a:solidFill>
                <a:latin typeface="Calibri"/>
              </a:defRPr>
            </a:pPr>
            <a:r>
              <a:t>PDN, cloud, jaringan — aman &amp; efisien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37560"/>
            <a:ext cx="11094415" cy="2560320"/>
          </a:xfrm>
          <a:prstGeom prst="roundRect">
            <a:avLst>
              <a:gd name="adj" fmla="val 4000"/>
            </a:avLst>
          </a:prstGeom>
          <a:solidFill>
            <a:srgbClr val="E8EDF5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74720"/>
            <a:ext cx="1063721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Tata Kelola → perencanaan arsitektur, peta rencana, integrasi sistem</a:t>
            </a:r>
            <a:br/>
            <a:r>
              <a:t>Manajemen → pengelolaan risiko, data, keamanan, SDM, aset TIK</a:t>
            </a:r>
            <a:br/>
            <a:br/>
            <a:r>
              <a:t>💡 Prinsip: Seluruh komponen saling menopang untuk satu tujuan — Layanan SPBE yang prima.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4 Domain Evaluasi SPBE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Penilaian oleh Kemenpan-RB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Indikator Tingkat Kematangan (Maturity Index)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Empat Domain Evaluasi SPBE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Indikator tingkat kematangan instansi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51560"/>
          <a:ext cx="1109441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Fokus Utama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 yang Diharapkan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Kebijakan Internal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Regulasi, pedoman, SK formal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Perbup/Perwali/Perka terkait Tim Koordinasi &amp; Tata Kelola TIK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Tata Kelola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Perencanaan arsitektur, peta rencana, integrasi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Dokumen Arsitektur SPBE &amp; Peta Rencana 5 tahun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Manajemen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Pengelolaan risiko, data, keamanan, SDM, aset TIK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Penerapan Satu Data Indonesia &amp; Manajemen Risiko SPBE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Layanan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Kualitas fungsi aplikasi publik &amp; administrasi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Aplikasi terintegrasi — bukan platform terpisah-pisah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Domain 1: Kebijakan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Regulasi, Pedoman, dan SK Formal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25374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609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628"/>
                </a:solidFill>
                <a:latin typeface="Calibri"/>
              </a:defRPr>
            </a:pPr>
            <a:r>
              <a:t>Peraturan Kepala Daerah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Terbitkan Perbup/Perwali/Perka tentang Tim Koordinasi SPBE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Landasan hukum formal implementasi SPBE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25374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0167" y="1188719"/>
            <a:ext cx="384048" cy="384048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977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1691639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628"/>
                </a:solidFill>
                <a:latin typeface="Calibri"/>
              </a:defRPr>
            </a:pPr>
            <a:r>
              <a:t>Pedoman TIK Internal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03911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Pedoman tata kelola TIK internal instansi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3317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Selaras dengan arah strategis SPBE nasional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63339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63339"/>
            <a:ext cx="45720" cy="25374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4000500"/>
            <a:ext cx="384048" cy="384048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034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628"/>
                </a:solidFill>
                <a:latin typeface="Calibri"/>
              </a:defRPr>
            </a:pPr>
            <a:r>
              <a:t>SK Formal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5089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SK pembentukan struktur organisasi SPBE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14350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Melibatkan seluruh unit terkait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863339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007" y="3863339"/>
            <a:ext cx="45720" cy="25374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70167" y="4000500"/>
            <a:ext cx="384048" cy="384048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977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45034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628"/>
                </a:solidFill>
                <a:latin typeface="Calibri"/>
              </a:defRPr>
            </a:pPr>
            <a:r>
              <a:t>Harmonisasi Regulasi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485089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Harmonisasi antar sektor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514350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Koordinasi lintas bidang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Domain 2: Tata Kelola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Perencanaan Arsitektur &amp; Peta Rencana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2537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609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Arsitektur SPBE Instansi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Proses bisnis, data, aplikasi, infrastruktur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Selaras dengan Arsitektur SPBE Nasional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2537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0167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977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1691639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Peta Rencana 5 Tahun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03911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Roadmap implementasi SPBE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3317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Tahapan dan milestone jelas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63339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63339"/>
            <a:ext cx="45720" cy="2537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40005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034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Integrasi Sistem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5089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Integrasi lintas unit kerja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14350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Menggunakan aplikasi Arsitektur SPBE Nasional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863339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007" y="3863339"/>
            <a:ext cx="45720" cy="2537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70167" y="40005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977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45034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485089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Evaluasi berkala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514350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Penyesuaian rencana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Domain 3: Manajemen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Pengelolaan Risiko, Data, SDM &amp; Aset TIK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253746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609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Satu Data Indonesia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Standar data, metadata, interoperabilitas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Referensi data nasional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253746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0167" y="1188719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977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1691639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Manajemen Risiko SPBE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03911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Identifikasi dan mitigasi risiko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3317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Berbasis standar manajemen risiko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63339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63339"/>
            <a:ext cx="45720" cy="253746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4000500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034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SDM TIK Profesional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5089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Pengelolaan SDM berkelanjutan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14350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Sertifikasi kompetensi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863339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007" y="3863339"/>
            <a:ext cx="45720" cy="253746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70167" y="4000500"/>
            <a:ext cx="384048" cy="384048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977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45034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7C72"/>
                </a:solidFill>
                <a:latin typeface="Calibri"/>
              </a:defRPr>
            </a:pPr>
            <a:r>
              <a:t>Aset &amp; Keamanan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485089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Inventarisasi aset TIK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514350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Kebijakan pengamanan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Domain 4: Layanan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Kualitas Fungsi Aplikasi &amp; Interoperabilitas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25374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609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8962E"/>
                </a:solidFill>
                <a:latin typeface="Calibri"/>
              </a:defRPr>
            </a:pPr>
            <a:r>
              <a:t>Platform Terpadu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Integrasi layanan publik dalam satu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Super Apps untuk masyarakat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25374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0167" y="1188719"/>
            <a:ext cx="384048" cy="384048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977" y="124724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1691639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8962E"/>
                </a:solidFill>
                <a:latin typeface="Calibri"/>
              </a:defRPr>
            </a:pPr>
            <a:r>
              <a:t>Layanan Administrasi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03911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Layanan internal efisien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3317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Kepegawaian, keuangan, dll.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63339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63339"/>
            <a:ext cx="45720" cy="25374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4000500"/>
            <a:ext cx="384048" cy="384048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034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8962E"/>
                </a:solidFill>
                <a:latin typeface="Calibri"/>
              </a:defRPr>
            </a:pPr>
            <a:r>
              <a:t>Interoperabilitas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5089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Sistem saling bertukar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14350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API terdokumentasi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863339"/>
            <a:ext cx="5410047" cy="25374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007" y="3863339"/>
            <a:ext cx="45720" cy="25374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70167" y="4000500"/>
            <a:ext cx="384048" cy="384048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977" y="4059021"/>
            <a:ext cx="230428" cy="2304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450342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8962E"/>
                </a:solidFill>
                <a:latin typeface="Calibri"/>
              </a:defRPr>
            </a:pPr>
            <a:r>
              <a:t>Kualitas &amp; Kepuasan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4850892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Standar kualitas layanan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5143500"/>
            <a:ext cx="513572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Ukur kepuasan pengguna berkala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6 Langkah Penerapan SPBE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Hindari pemborosan anggaran 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Urutan implementasi wajib diikuti secara runut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Ringkasan 6 Langkah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Tahapan implementasi SPBE yang berurutan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19"/>
            <a:ext cx="1620469" cy="457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0274" y="1325879"/>
            <a:ext cx="457200" cy="45720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0274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A1628"/>
                </a:solidFill>
                <a:latin typeface="Calibri"/>
              </a:defRPr>
            </a:pPr>
            <a:r>
              <a:t>Tim Koordinasi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Calibri"/>
              </a:defRPr>
            </a:pPr>
            <a:r>
              <a:t>SK Tim lintas sektor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9109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3429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43429" y="1188719"/>
            <a:ext cx="162046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25063" y="1325879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25063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4869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Arsitektur &amp;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4869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Calibri"/>
              </a:defRPr>
            </a:pPr>
            <a:r>
              <a:t>Dokumen 5 tahun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3898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8218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8218" y="1188719"/>
            <a:ext cx="1620469" cy="4572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9853" y="1325879"/>
            <a:ext cx="457200" cy="457200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853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9658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Calibri"/>
              </a:defRPr>
            </a:pPr>
            <a:r>
              <a:t>Infrastruktur &amp;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9658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Calibri"/>
              </a:defRPr>
            </a:pPr>
            <a:r>
              <a:t>PDN, SPLP, SDI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58687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007" y="1188719"/>
            <a:ext cx="1620469" cy="4572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14642" y="1325879"/>
            <a:ext cx="457200" cy="457200"/>
          </a:xfrm>
          <a:prstGeom prst="ellipse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4642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447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0522D"/>
                </a:solidFill>
                <a:latin typeface="Calibri"/>
              </a:defRPr>
            </a:pPr>
            <a:r>
              <a:t>Konsolidasi Aplikasi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447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Calibri"/>
              </a:defRPr>
            </a:pPr>
            <a:r>
              <a:t>Super Apps terpadu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3476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7796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7796" y="1188719"/>
            <a:ext cx="1620469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09431" y="1325879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09431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9236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Keamanan Informasi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9236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Calibri"/>
              </a:defRPr>
            </a:pPr>
            <a:r>
              <a:t>ISO 27001, BSSN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8266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22586" y="1188719"/>
            <a:ext cx="16204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22586" y="1188719"/>
            <a:ext cx="1620469" cy="457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04220" y="1325879"/>
            <a:ext cx="457200" cy="45720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04220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14026" y="1874519"/>
            <a:ext cx="14375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Evaluasi &amp; Audit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14026" y="2194560"/>
            <a:ext cx="14375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99B0"/>
                </a:solidFill>
                <a:latin typeface="Calibri"/>
              </a:defRPr>
            </a:pPr>
            <a:r>
              <a:t>Self-assessment TIK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3383279"/>
            <a:ext cx="11094415" cy="2560320"/>
          </a:xfrm>
          <a:prstGeom prst="roundRect">
            <a:avLst>
              <a:gd name="adj" fmla="val 4000"/>
            </a:avLst>
          </a:prstGeom>
          <a:solidFill>
            <a:srgbClr val="E8EDF5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3520439"/>
            <a:ext cx="1063721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📌 Urutan bersifat wajib — jangan melompati langkah. Setiap langkah adalah fondasi bagi langkah selanjutnya.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Langkah 1: Tim Koordinasi SPBE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Langkah Awal / Fondasi Implementasi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Pembentukan Tim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SK Kepala Daerah / Menteri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Dipimpin Sekda / Sekjen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Bersifat lintas sektor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Bukan proyek TIK — transformasi birokrasi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Unsur yang Terlibat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Perencanaan (Bappeda)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Organisasi (Ortala)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Keuangan (BPKAD)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Teknis TIK (Diskominfo)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Langkah 2: Arsitektur &amp; Peta Rencana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Proses Perencanaan Strategis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Arsitektur SPBE Instansi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Petakan Proses Bisnis dulu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Data &amp; Informasi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Aplikasi yang dibutuhkan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Infrastruktur &amp; Keamanan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Calibri"/>
              </a:defRPr>
            </a:pPr>
            <a:r>
              <a:t>Peta Rencana 5 Tahun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Gunakan aplikasi Arsitektur SPBE Nasional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Selaras dengan arah strategis nasional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Milestone &amp; target per tahun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Anggaran &amp; sumber daya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Langkah 3: Standardisasi Infrastruktur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Fase Eksekusi Teknis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7C72"/>
                </a:solidFill>
                <a:latin typeface="Calibri"/>
              </a:defRPr>
            </a:pPr>
            <a:r>
              <a:t>Infrastruktur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Batasi data center mandiri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Migrasi ke PDN /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Hub SPLP untuk interoperabilitas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Efisiensi anggaran TIK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Prinsip Satu Data Indonesia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Standar data &amp;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Interoperabilitas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Referensi data nasional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Langkah 4: Konsolidasi Aplikasi &amp; Layanan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Penyederhanaan Layanan Digital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0522D"/>
                </a:solidFill>
                <a:latin typeface="Calibri"/>
              </a:defRPr>
            </a:pPr>
            <a:r>
              <a:t>Yang Harus Dilakukan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Audit seluruh aplikasi existing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Moratorium aplikasi duplikatif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Gabung ke platform terpadu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Super Apps untuk publik &amp; internal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Yang Harus Dihindari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Membuat aplikasi baru tiap masalah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Platform terpisah-pisah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Membangun dari nol tanpa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Mengabaikan interoperabilitas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Langkah 5: Manajemen Keamanan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Aspek Keamanan &amp; Kepatuhan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Standar &amp; Kolaborasi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SMKI berbasis ISO 27001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Kolaborasi dengan BSSN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Vulnerability Assessment berkala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Security by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Tim &amp; Prosedur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CSIRT internal instansi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Penetration testing rutin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Audit keamanan informasi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Insiden response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Langkah 6: Pemantauan, Evaluasi, dan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Continuous 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Evaluasi Mandiri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Self-assessment berkala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Pantau kemajuan implementasi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Persiapan penilaian Kemenpan-RB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Gunakan hasil untuk perbaikan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Audit TIK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Efisiensi infrastruktur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Audit aplikasi &amp; layanan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Kepatuhan keamanan informasi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Laporan rekomendasi perbaikan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Prinsip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Interoperabilitas — Bukan Jumlah Aplikasi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Kunci Keberhasilan SPBE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Jebakan Terbesar SPBE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Menganggap digitalisasi = membuat aplikasi baru untuk setiap masalah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5410047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4100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2716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99B0"/>
                </a:solidFill>
                <a:latin typeface="Calibri"/>
              </a:defRPr>
            </a:pPr>
            <a:r>
              <a:t>Puluhan aplikasi terpisah</a:t>
            </a:r>
            <a:br/>
            <a:r>
              <a:t>Masyarakat bingung</a:t>
            </a:r>
            <a:br/>
            <a:r>
              <a:t>Anggaran membengkak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051560"/>
            <a:ext cx="5410047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051560"/>
            <a:ext cx="5410047" cy="45720"/>
          </a:xfrm>
          <a:prstGeom prst="rect">
            <a:avLst/>
          </a:prstGeom>
          <a:solidFill>
            <a:srgbClr val="0B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280160"/>
            <a:ext cx="54100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B7C72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1965960"/>
            <a:ext cx="522716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99B0"/>
                </a:solidFill>
                <a:latin typeface="Calibri"/>
              </a:defRPr>
            </a:pPr>
            <a:r>
              <a:t>Satu platform terpadu</a:t>
            </a:r>
            <a:br/>
            <a:r>
              <a:t>Interoperabilitas</a:t>
            </a:r>
            <a:br/>
            <a:r>
              <a:t>Efisiensi &amp; sinergi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11094415" cy="2560320"/>
          </a:xfrm>
          <a:prstGeom prst="roundRect">
            <a:avLst>
              <a:gd name="adj" fmla="val 4000"/>
            </a:avLst>
          </a:prstGeom>
          <a:solidFill>
            <a:srgbClr val="E8EDF5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1063721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💡 Paradigma SPBE Modern:</a:t>
            </a:r>
            <a:br/>
            <a:r>
              <a:t>• Fokus pada interoperabilitas — bagaimana sistem yang sudah ada bisa saling berbicara</a:t>
            </a:r>
            <a:br/>
            <a:r>
              <a:t>• Bertukar data tanpa memaksa masyarakat mengunduh puluhan aplikasi berbeda</a:t>
            </a:r>
            <a:br/>
            <a:r>
              <a:t>• Satu platform terpadu, banyak layanan — bukan banyak platform, satu layanan</a:t>
            </a:r>
            <a:br/>
            <a:r>
              <a:t>• SPBE adalah transformasi birokrasi, bukan proyek TIK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32004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Mari Wujudkan SPBE yang Terintegrasi, Efisien, Aman, dan Tepercaya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8EDF5"/>
                </a:solidFill>
                <a:latin typeface="Calibri"/>
              </a:defRPr>
            </a:pPr>
            <a:r>
              <a:t>Bersama membangun birokrasi digital Indonesia yang melayani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9441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Perpres No. 95/2018 • Perpres No. 132/2022 • Pedoman SPBE Kemenpan-RB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