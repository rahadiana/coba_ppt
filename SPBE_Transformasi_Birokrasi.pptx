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2286000" cy="2286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36576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962E"/>
                </a:solidFill>
                <a:latin typeface="Calibri"/>
              </a:defRPr>
            </a:pPr>
            <a:r>
              <a:t>SISTEM PEMERINTAHAN BERBASIS ELEKTRONIK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INDONESIA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PENERAPAN SPBE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8962E"/>
                </a:solidFill>
                <a:latin typeface="Calibri"/>
              </a:defRPr>
            </a:pPr>
            <a:r>
              <a:t>Perpres No. 95/2018 &amp; Perpres No. 132/2022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109441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Transformasi</a:t>
            </a:r>
            <a:br/>
            <a:r>
              <a:t>Birokrasi Digital</a:t>
            </a:r>
            <a:br/>
            <a:r>
              <a:t>Terintegrasi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6858000" cy="822960"/>
          </a:xfrm>
          <a:prstGeom prst="roundRect">
            <a:avLst>
              <a:gd name="adj" fmla="val 4000"/>
            </a:avLst>
          </a:prstGeom>
          <a:solidFill>
            <a:srgbClr val="0D1F3C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834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EDF5"/>
                </a:solidFill>
                <a:latin typeface="Calibri"/>
              </a:defRPr>
            </a:pPr>
            <a:r>
              <a:t>SPBE · 2024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Calibri"/>
              </a:defRPr>
            </a:pPr>
            <a:r>
              <a:t>Mewujudkan Birokrasi Efisien, Aman &amp; Tepercaya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Empat Pilar Utama Menuju Transformasi Digital Pemerintahan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Penerapan SPBE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10642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106424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Transformasi SPBE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618488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673352"/>
            <a:ext cx="457200" cy="457200"/>
          </a:xfrm>
          <a:prstGeom prst="round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673352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Arsitektur &amp; Kerangka Kerja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85415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240279"/>
            <a:ext cx="457200" cy="457200"/>
          </a:xfrm>
          <a:prstGeom prst="round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240279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4 Domain Utama Evaluasi SPBE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5867" y="1051560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7307" y="1106424"/>
            <a:ext cx="457200" cy="457200"/>
          </a:xfrm>
          <a:prstGeom prst="round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1667" y="1106424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6 Langkah Penerapan SPBE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1618488"/>
            <a:ext cx="5387187" cy="52120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47307" y="167335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1667" y="1673352"/>
            <a:ext cx="4564227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A1A2E"/>
                </a:solidFill>
                <a:latin typeface="Calibri"/>
              </a:defRPr>
            </a:pPr>
            <a:r>
              <a:t>Prinsip Utama &amp; Kesimpulan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1</a:t>
            </a:r>
            <a:br/>
            <a:r>
              <a:t>TRANSFORMASI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Digitalisasi Bukan Sekadar Aplikasi — Reformasi Birokrasi 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Perpres No. 95/2018 &amp; Perpres No. 132/2022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SPBE Bukan Sekadar Digitalisasi — Ini Transformasi Birokrasi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Perpres No. 95/2018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🏛️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Apa Itu SPBE?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Penyelenggaraan pemerintahan berbasis elektronik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95728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Menciptakan birokrasi terintegrasi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88336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Efisien, aman, dan tepercaya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188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Dasar Hukum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Perpres No. 95 Tahun 2018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Perpres No. 132 Tahun 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Pedoman nasional SPBE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1766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0522D"/>
                </a:solidFill>
                <a:latin typeface="Calibri"/>
              </a:defRPr>
            </a:pPr>
            <a:r>
              <a:t>Tujuan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Menghilangkan ego sektoral digital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publik &amp; administrasi prima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Birokrasi modern &amp; transparan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Digitalisasi Pemerintahan Harus Bersandar pada Kerangka Kerja Terpadu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Prinsip Dasar SPBE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Hindari Ego Sektoral Digital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Jangan buat aplikasi sendiri-sendiri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Setiap sistem harus terintegrasi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Satu data, satu platform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977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Interoperabilitas adalah Kunci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Sistem saling terhubung &amp; bertukar data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Masyarakat tidak perlu banyak aplikasi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terpadu dalam satu pintu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2</a:t>
            </a:r>
            <a:br/>
            <a:r>
              <a:t>ARSITEKTUR &amp; KERANGKA KERJA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Proses Bisnis, Data, Aplikasi, Infrastruktur, dan Keamanan Saling Menopang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Tata Kelola &amp; Manajemen sebagai Pondasi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Tata Kelola &amp; Manajemen Mengikat Seluruh Komponen Arsitektur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Kerangka Arsitektur SPBE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25374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Proses Bisnis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Petakan proses bisnis dulu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Sebelum menyentuh teknologi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Gunakan aplikasi Arsitektur SPBE Nasional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1051560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051560"/>
            <a:ext cx="45720" cy="253746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188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Data &amp; Informasi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Prinsip Satu Data Indonesia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Data terstandarisasi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Berbagi pakai data antar instansi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1051560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1051560"/>
            <a:ext cx="45720" cy="253746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1766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0522D"/>
                </a:solidFill>
                <a:latin typeface="Calibri"/>
              </a:defRPr>
            </a:pPr>
            <a:r>
              <a:t>Aplikasi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Konsolidasi aplikasi sektoral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Super apps terpadu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Moratorium aplikasi duplikatif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3863339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863339"/>
            <a:ext cx="45720" cy="25374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000500"/>
            <a:ext cx="384048" cy="384048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2609" y="405902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5034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1B3A6B"/>
                </a:solidFill>
                <a:latin typeface="Calibri"/>
              </a:defRPr>
            </a:pPr>
            <a:r>
              <a:t>Infrastruktur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485089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Pusat Data Nasional (PDN)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514350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Cloud tersertifikasi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436108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Hub SPLP untuk berbagi pakai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38218" y="3863339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38218" y="3863339"/>
            <a:ext cx="45720" cy="25374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475378" y="40005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2188" y="405902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5378" y="45034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Keamanan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5378" y="485089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SMKI berbasis ISO 27001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75378" y="514350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Kolaborasi BSSN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5378" y="5436108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CSIRT internal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27796" y="3863339"/>
            <a:ext cx="3515258" cy="25374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27796" y="3863339"/>
            <a:ext cx="45720" cy="253746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264956" y="4000500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41766" y="405902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64956" y="45034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Layanan SPBE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64956" y="485089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publik prima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64956" y="514350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administrasi internal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64956" y="5436108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Terintegrasi &amp; tepercaya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3</a:t>
            </a:r>
            <a:br/>
            <a:r>
              <a:t>4 DOMAIN UTAMA EVALUASI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Kebijakan, Tata Kelola, Manajemen, dan Layanan — Indikator Tingkat Kematangan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Maturity Index SPBE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Empat Domain Evaluasi Menentukan Tingkat Kematangan SPBE Instansi 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Domain Evaluasi SPBE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Domain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Fokus Utama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yang Diharapkan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Kebijakan Internal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Regulasi, pedoman, dan SK formal di internal instansi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Perbup/Perwali/Perka terkait Tim Koordinasi &amp; Tata Kelola TIK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Tata Kelola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Perencanaan arsitektur, peta rencana, dan integrasi sistem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Dokumen Arsitektur SPBE &amp; Peta Rencana Instansi 5 tahun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Manajemen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Pengelolaan risiko, data, keamanan, SDM, dan aset TIK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Penerapan Satu Data Indonesia &amp; Manajemen Risiko SPBE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Layanan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Kualitas fungsi aplikasi pelayanan publik &amp; administrasi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Aplikasi saling terintegrasi (bukan platform terpisah-pisah)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4</a:t>
            </a:r>
            <a:br/>
            <a:r>
              <a:t>6 LANGKAH PENERAPAN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Urutan Wajib — Hindari Pemborosan Anggaran TIK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Langkah Demi Langkah Implementasi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Enam Langkah Berurutan Menjamin Implementasi SPBE yang Sukses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Tahapan Penerapan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19"/>
            <a:ext cx="1620469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0274" y="1325879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0274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Tim Koordinasi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SK Kepala Daerah</a:t>
            </a:r>
            <a:br/>
            <a:r>
              <a:t>Lintas Sektor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69109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3429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43429" y="1188719"/>
            <a:ext cx="1620469" cy="4572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25063" y="1325879"/>
            <a:ext cx="457200" cy="45720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25063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34869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B7C72"/>
                </a:solidFill>
                <a:latin typeface="Calibri"/>
              </a:defRPr>
            </a:pPr>
            <a:r>
              <a:t>Arsitektur &amp; Roadmap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34869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Proses Bisnis</a:t>
            </a:r>
            <a:br/>
            <a:r>
              <a:t>Peta Rencana 5 Thn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63898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8218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38218" y="1188719"/>
            <a:ext cx="1620469" cy="4572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9853" y="1325879"/>
            <a:ext cx="457200" cy="457200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853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A0522D"/>
                </a:solidFill>
                <a:latin typeface="Calibri"/>
              </a:defRPr>
            </a:pPr>
            <a:r>
              <a:t>Infrastruktur &amp;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9658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PDN / Cloud</a:t>
            </a:r>
            <a:br/>
            <a:r>
              <a:t>Satu Data Indonesia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58687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3007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33007" y="1188719"/>
            <a:ext cx="1620469" cy="457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14642" y="1325879"/>
            <a:ext cx="457200" cy="457200"/>
          </a:xfrm>
          <a:prstGeom prst="ellipse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4642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4447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B3A6B"/>
                </a:solidFill>
                <a:latin typeface="Calibri"/>
              </a:defRPr>
            </a:pPr>
            <a:r>
              <a:t>Konsolidasi Aplikasi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447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Audit Aplikasi</a:t>
            </a:r>
            <a:br/>
            <a:r>
              <a:t>Super Apps Terpadu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53476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7796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27796" y="1188719"/>
            <a:ext cx="1620469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709431" y="1325879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09431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19236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Keamanan Informasi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9236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ISO 27001</a:t>
            </a:r>
            <a:br/>
            <a:r>
              <a:t>BSSN &amp; CSIRT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48266" y="1828799"/>
            <a:ext cx="2743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22586" y="1188719"/>
            <a:ext cx="16204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22586" y="1188719"/>
            <a:ext cx="1620469" cy="4572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04220" y="1325879"/>
            <a:ext cx="457200" cy="457200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4220" y="1325879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14026" y="1874519"/>
            <a:ext cx="14375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B7C72"/>
                </a:solidFill>
                <a:latin typeface="Calibri"/>
              </a:defRPr>
            </a:pPr>
            <a:r>
              <a:t>Evaluasi &amp; 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14026" y="2194560"/>
            <a:ext cx="14375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8899B0"/>
                </a:solidFill>
                <a:latin typeface="Calibri"/>
              </a:defRPr>
            </a:pPr>
            <a:r>
              <a:t>Self Assessment</a:t>
            </a:r>
            <a:br/>
            <a:r>
              <a:t>Audit TIK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Tiga Langkah Awal Menentukan Fondasi SPBE yang Kokoh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Langkah 1–3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1. Tim Koordinasi SPBE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SK Kepala Daerah/Menteri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Dipimpin Sekda/Sekjen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3240938" cy="33832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Lintas sektor: Bappeda, Ortala, BPKAD, Diskominfo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188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🗺️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2. Arsitektur &amp; Peta Rencana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Petakan Proses Bisnis dulu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Gunakan Aplikasi Arsitektur SPBE Nasional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Peta Rencana 5 tahunan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1766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🖥️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0522D"/>
                </a:solidFill>
                <a:latin typeface="Calibri"/>
              </a:defRPr>
            </a:pPr>
            <a:r>
              <a:t>3. Infrastruktur &amp; Integrasi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Migrasi ke Pusat Data Nasional (PDN)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Cloud tersertifikasi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Hub SPLP &amp; Satu Data Indonesia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Tiga Langkah Akhir Memastikan Keberlanjutan &amp; Keamanan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Langkah 4–6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4. Konsolidasi Aplikasi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Audit seluruh aplikasi existing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Moratorium aplikasi duplikatif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Gabung ke Super Apps terpadu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5378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2188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5. Keamanan Informasi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SMKI berbasis ISO 27001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BSSN: Vulnerability Assessment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Bentuk CSIRT internal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4956" y="1188719"/>
            <a:ext cx="384048" cy="384048"/>
          </a:xfrm>
          <a:prstGeom prst="ellipse">
            <a:avLst/>
          </a:prstGeom>
          <a:solidFill>
            <a:srgbClr val="A05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41766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1691639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A0522D"/>
                </a:solidFill>
                <a:latin typeface="Calibri"/>
              </a:defRPr>
            </a:pPr>
            <a:r>
              <a:t>6. Evaluasi &amp; Audit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039112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Self-assessment berkala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33172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Penilaian formal Kemenpan-RB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624327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Audit TIK menyeluruh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BAB 5</a:t>
            </a:r>
            <a:br/>
            <a:r>
              <a:t>PRINSIP UTAMA &amp; KESIMPULAN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Interoperabilitas — Bukan Membuat Aplikasi Baru untuk Setiap Masalah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4748B"/>
                </a:solidFill>
                <a:latin typeface="Calibri"/>
              </a:defRPr>
            </a:pPr>
            <a:r>
              <a:t>Paradigma SPBE Modern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59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029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Georgia"/>
              </a:defRPr>
            </a:pPr>
            <a:r>
              <a:t>Paradigma SPBE Modern Berfokus pada Interoperabilitas, Bukan Jumlah Aplikasi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64748B"/>
                </a:solidFill>
                <a:latin typeface="Calibri"/>
              </a:defRPr>
            </a:pPr>
            <a:r>
              <a:t>Prinsip Utama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19"/>
            <a:ext cx="384048" cy="384048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609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⚠️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DC2626"/>
                </a:solidFill>
                <a:latin typeface="Calibri"/>
              </a:defRPr>
            </a:pPr>
            <a:r>
              <a:t>Jebakan Terbesar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Anggap digitalisasi = buat aplikasi baru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Puluhan aplikasi terpisah-pisah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Pemborosan anggaran TIK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Masyarakat bingung dengan banyak platform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1051560"/>
            <a:ext cx="5410047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370167" y="1188719"/>
            <a:ext cx="384048" cy="384048"/>
          </a:xfrm>
          <a:prstGeom prst="ellipse">
            <a:avLst/>
          </a:prstGeom>
          <a:solidFill>
            <a:srgbClr val="0B7C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977" y="1247241"/>
            <a:ext cx="230428" cy="23042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FFFFFF"/>
                </a:solidFill>
                <a:latin typeface="Calibri"/>
              </a:defRPr>
            </a:pPr>
            <a:r>
              <a:t>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1691639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B7C72"/>
                </a:solidFill>
                <a:latin typeface="Calibri"/>
              </a:defRPr>
            </a:pPr>
            <a:r>
              <a:t>Paradigma Modern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2039112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Sistem saling berbicara &amp; bertukar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331720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Satu platform layanan terpadu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2624327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Efisien, transparan, tepercaya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2916935"/>
            <a:ext cx="513572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Masyarakat cukup satu aplikasi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55664"/>
            <a:ext cx="36576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64748B"/>
                </a:solidFill>
                <a:latin typeface="Calibri"/>
              </a:defRPr>
            </a:pPr>
            <a:r>
              <a:t>Penerapan Sistem Pemerintahan Berbasis Elektronik (SPBE)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55664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64748B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91840"/>
            <a:ext cx="32004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SISTEM PEMERINTAHAN BERBASIS ELEKTRONIK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9039"/>
            <a:ext cx="110944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E8EDF5"/>
                </a:solidFill>
                <a:latin typeface="Calibri"/>
              </a:defRPr>
            </a:pPr>
            <a:r>
              <a:t>Bersama Mewujudkan Birokrasi Digital</a:t>
            </a:r>
            <a:br/>
            <a:r>
              <a:t>Terintegrasi, Efisien, Aman, dan Tepercaya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094415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4748B"/>
                </a:solidFill>
                <a:latin typeface="Calibri"/>
              </a:defRPr>
            </a:pPr>
            <a:r>
              <a:t>Sumber: Perpres No. 95/2018 · Perpres No. 132/2022 · Kemenpan-RB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