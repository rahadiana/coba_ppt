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57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962E"/>
                </a:solidFill>
                <a:latin typeface="Arial"/>
              </a:defRPr>
            </a:pPr>
            <a:r>
              <a:t>SISTEM PEMERINTAHAN BERBASIS ELEKTRONIK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TRANSFORMASI BIROKRASI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Penerapan SPBE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8962E"/>
                </a:solidFill>
                <a:latin typeface="Arial"/>
              </a:defRPr>
            </a:pPr>
            <a:r>
              <a:t>Perpres No. 95/2018 — Perpres No. 132/2022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Mewujudkan Birokrasi</a:t>
            </a:r>
            <a:br/>
            <a:r>
              <a:t>Terintegrasi, Efisien,</a:t>
            </a:r>
            <a:br/>
            <a:r>
              <a:t>Aman, dan Tepercaya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6858000" cy="822960"/>
          </a:xfrm>
          <a:prstGeom prst="roundRect">
            <a:avLst>
              <a:gd name="adj" fmla="val 4000"/>
            </a:avLst>
          </a:prstGeom>
          <a:solidFill>
            <a:srgbClr val="0D1F3C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DF5"/>
                </a:solidFill>
                <a:latin typeface="Arial"/>
              </a:defRPr>
            </a:pPr>
            <a:r>
              <a:t>Kementerian/Lembaga/Pemda ·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Arsitektur &amp; Peta Rencana SPBE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5 Pokok Bahasan Memandu Transformasi SPBE Instansi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Daftar Isi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06424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Arial"/>
              </a:defRPr>
            </a:pPr>
            <a:r>
              <a:t>Konsep Dasar &amp; Landasan Hukum SPBE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73352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Arial"/>
              </a:defRPr>
            </a:pPr>
            <a:r>
              <a:t>Kerangka Arsitektur SPBE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85415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79"/>
            <a:ext cx="457200" cy="45720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40279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Arial"/>
              </a:defRPr>
            </a:pPr>
            <a:r>
              <a:t>4 Domain Evaluasi Tingkat Kematangan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1106424"/>
            <a:ext cx="457200" cy="4572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1667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Arial"/>
              </a:defRPr>
            </a:pPr>
            <a:r>
              <a:t>6 Langkah Penerapan SPBE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7307" y="167335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1667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Arial"/>
              </a:defRPr>
            </a:pPr>
            <a:r>
              <a:t>Prinsip Interoperabilitas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KONSEP DASAR</a:t>
            </a:r>
            <a:br/>
            <a:r>
              <a:t>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Transformasi menyeluruh, bukan sekadar digitalisasi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Paradigma Baru Birokrasi Pemerintahan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SPBE adalah Transformasi Birokrasi, Bukan Sekadar Memindahkan Kertas ke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Definisi &amp; Landasan Hukum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Amanat Perpres No. 95/2018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SPBE adalah penyelenggaraan pemerintahan yang memanfaatkan 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Memberi layanan kepada instansi, ASN, pelaku bisnis, dan masyarakat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Menjadi dasar bagi seluruh transformasi digital pemerintahan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Arial"/>
              </a:defRPr>
            </a:pPr>
            <a:r>
              <a:t>Penyempurnaan Perpres No. 132/2022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Memperkuat arsitektur SPBE nasional yang terpadu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Menekankan interoperabilitas dan keamanan informasi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24327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Mendorong konsolidasi infrastruktur ke Pusat Data Nasional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522D"/>
                </a:solidFill>
                <a:latin typeface="Arial"/>
              </a:defRPr>
            </a:pPr>
            <a:r>
              <a:t>Transformasi Menyeluruh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Bukan sekadar digitalisasi proses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Mencakup aspek proses bisnis, data, aplikasi, infrastruktur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36108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Menciptakan birokrasi yang terintegrasi, efisien, aman, tepercaya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3A6B"/>
                </a:solidFill>
                <a:latin typeface="Arial"/>
              </a:defRPr>
            </a:pPr>
            <a:r>
              <a:t>Antisipasi Ego Sektoral Digital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Digitalisasi harus bersandar pada kerangka kerja terpadu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7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Setiap instansi terikat dalam arsitektur SPBE nasional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167" y="5436108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Menghindari pembuatan aplikasi sektoral yang tumpang tindih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SPBE Bukan Digitalisasi — Ini Transformasi Sistemik Birokrasi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Perbedaan Mendasar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DIGITALISASI SEMATA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Memindahkan kertas ke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Membuat aplikasi baru untuk setiap masalah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Berfokus pada teknologi, bukan proses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Rentan menciptakan ego sektoral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7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Aplikasi tumpang tindih &amp; tidak terintegrasi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Pemborosan anggaran TIK yang signifikan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Arial"/>
              </a:defRPr>
            </a:pPr>
            <a:r>
              <a:t>TRANSFORMASI SPBE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Menata ulang proses bisnis secara menyeluruh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Interoperabilitas antar sistem yang sudah 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Berfokus pada layanan terpadu (user-centric)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43230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Satu platform terintegasi — efisien &amp; 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2670047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Data berbagi pakai antar instansi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0779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Efektivitas &amp; efisiensi anggaran nasional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KERANGKA</a:t>
            </a:r>
            <a:br/>
            <a:r>
              <a:t>ARSITEKTUR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Tata Kelola &amp; Manajemen sebagai fondasi yang mengikat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8 Komponen Terintegrasi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Tata Kelola dan Manajemen Menjadi Pondasi yang Mengikat Seluruh Komponen Arsitektur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Arsitektur SPBE Instansi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Tata Kelola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Kebijakan &amp; regulasi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Perencanaan strategis 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Struktur organisasi &amp; kewenangan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823" y="1051560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823" y="1051560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7983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4793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Arial"/>
              </a:defRPr>
            </a:pPr>
            <a:r>
              <a:t>Manajemen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Pengelolaan risiko &amp; keamanan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SDM &amp; aset TIK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Satu Data Indonesia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051560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522D"/>
                </a:solidFill>
                <a:latin typeface="Arial"/>
              </a:defRPr>
            </a:pPr>
            <a:r>
              <a:t>Proses Bisnis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Pemetaan proses bisnis instansi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Standard operating procedure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624327"/>
            <a:ext cx="2293543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Prioritas sebelum menyentuh teknologi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5191" y="1051560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5191" y="1051560"/>
            <a:ext cx="45720" cy="25374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12351" y="1188719"/>
            <a:ext cx="384048" cy="38404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9161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2351" y="1691639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3A6B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2351" y="203911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Prinsip Satu Data Indonesia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2351" y="23317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Interoperabilitas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2624327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Standar metadata &amp; klasifikasi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63339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5034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Aplikasi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85089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Konsolidasi platform terpadu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14350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Moratorium aplikasi duplikatif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36108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Super Apps layanan digital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90823" y="3863339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90823" y="3863339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27983" y="4000500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04793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7983" y="45034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Arial"/>
              </a:defRPr>
            </a:pPr>
            <a:r>
              <a:t>Infrastruktur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7983" y="485089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Pusat Data Nasional (PDN)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7983" y="514350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Cloud tersertifikasi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7983" y="5436108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Hub SPLP — sistem berbagi pakai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3007" y="3863339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0167" y="45034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522D"/>
                </a:solidFill>
                <a:latin typeface="Arial"/>
              </a:defRPr>
            </a:pPr>
            <a:r>
              <a:t>Keamanan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0167" y="485089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SMKI berbasis ISO 27001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0167" y="514350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BSSN — vulnerability assessment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0167" y="5436108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CSIRT internal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75191" y="3863339"/>
            <a:ext cx="2567863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75191" y="3863339"/>
            <a:ext cx="45720" cy="25374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212351" y="4000500"/>
            <a:ext cx="384048" cy="38404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9161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12351" y="450342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3A6B"/>
                </a:solidFill>
                <a:latin typeface="Arial"/>
              </a:defRPr>
            </a:pPr>
            <a:r>
              <a:t>Layanan SPBE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12351" y="4850892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Layanan publik prima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2351" y="514350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Layanan administrasi internal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2351" y="5436108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Terintegrasi penuh — satu pintu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4 DOMAIN</a:t>
            </a:r>
            <a:br/>
            <a:r>
              <a:t>EVALUASI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Kebijakan → Tata Kelola → Manajemen → Layanan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Indikator Tingkat Kematangan (Maturity Index)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Empat Domain Evaluasi Menentukan Tingkat Kematangan SPBE Instansi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Domain Evaluasi SPBE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51560"/>
          <a:ext cx="110944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Fokus Utama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 yang Diharapkan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Kebijakan Internal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Regulasi, pedoman, dan SK formal internal instansi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Perbup/Perwali/Perka Tim Koordinasi &amp; Tata Kelola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Tata Kelola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Perencanaan arsitektur, peta rencana, integrasi sistem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Dokumen Arsitektur SPBE &amp; Peta Rencana 5 tahun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Manajemen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Pengelolaan risiko, data, keamanan, SDM, aset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Penerapan Satu Data Indonesia &amp; Manajemen Risiko SPBE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Layanan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Kualitas fungsi aplikasi pelayanan publik &amp; administrasi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Aplikasi saling terintegrasi — bukan platform terpisah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6 LANGKAH</a:t>
            </a:r>
            <a:br/>
            <a:r>
              <a:t>PENERAPAN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Fondasi → Perencanaan → Teknis → Konsolidasi → Keamanan → Evaluasi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Urutan Wajib — Jangan Terjebak Pemborosan Anggaran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Keenam Langkah Bersifat Sistematis — Setiap Tahap Wajib Dirunut Berurutan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Alur Penerapan SPBE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19"/>
            <a:ext cx="162046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0274" y="132587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0274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Tim Koordinasi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SK Tim Koordinasi</a:t>
            </a:r>
            <a:br/>
            <a:r>
              <a:t>SPBE Instansi</a:t>
            </a:r>
            <a:br/>
            <a:r>
              <a:t>Lintas Sektor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9109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3429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3429" y="1188719"/>
            <a:ext cx="1620469" cy="4572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5063" y="1325879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5063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4869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Arial"/>
              </a:defRPr>
            </a:pPr>
            <a:r>
              <a:t>Arsitektur &amp; Peta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4869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Pemetaan Proses</a:t>
            </a:r>
            <a:br/>
            <a:r>
              <a:t>Bisnis — Roadmap</a:t>
            </a:r>
            <a:br/>
            <a:r>
              <a:t>5 Tahun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3898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8218" y="1188719"/>
            <a:ext cx="1620469" cy="457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853" y="1325879"/>
            <a:ext cx="457200" cy="457200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853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9658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0522D"/>
                </a:solidFill>
                <a:latin typeface="Arial"/>
              </a:defRPr>
            </a:pPr>
            <a:r>
              <a:t>Infrastruktur &amp;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Migrasi ke PDN</a:t>
            </a:r>
            <a:br/>
            <a:r>
              <a:t>Hub SPLP</a:t>
            </a:r>
            <a:br/>
            <a:r>
              <a:t>Satu Data Indonesia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8687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1188719"/>
            <a:ext cx="1620469" cy="45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4642" y="1325879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4642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3A6B"/>
                </a:solidFill>
                <a:latin typeface="Arial"/>
              </a:defRPr>
            </a:pPr>
            <a:r>
              <a:t>Konsolidasi Aplikasi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Audit Aplikasi</a:t>
            </a:r>
            <a:br/>
            <a:r>
              <a:t>Moratorium Duplikasi</a:t>
            </a:r>
            <a:br/>
            <a:r>
              <a:t>Super Apps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3476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7796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7796" y="1188719"/>
            <a:ext cx="162046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09431" y="132587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9431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236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Keamanan Informasi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236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SMKI ISO 27001</a:t>
            </a:r>
            <a:br/>
            <a:r>
              <a:t>BSSN Assessment</a:t>
            </a:r>
            <a:br/>
            <a:r>
              <a:t>CSIRT Internal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8266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22586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22586" y="1188719"/>
            <a:ext cx="1620469" cy="4572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04220" y="1325879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4220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4026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Arial"/>
              </a:defRPr>
            </a:pPr>
            <a:r>
              <a:t>Evaluasi &amp; 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14026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Arial"/>
              </a:defRPr>
            </a:pPr>
            <a:r>
              <a:t>Self-Assessment</a:t>
            </a:r>
            <a:br/>
            <a:r>
              <a:t>Audit TIK</a:t>
            </a:r>
            <a:br/>
            <a:r>
              <a:t>Continuous Improvement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Fondasi, Perencanaan, dan Infrastruktur — Tiga Langkah Awal yang Menentukan Keberhasilan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Langkah 1–3: Fondasi &amp; Perencanaan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Tim Koordinasi SPBE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SK Kepala Daerah/Menteri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Dipimpin Sekda/Sekjen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Unsur: Bappeda, Ortala, BPKAD, Diskominfo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Bersifat lintas sektor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2188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Arial"/>
              </a:defRPr>
            </a:pPr>
            <a:r>
              <a:t>2. Arsitektur &amp; Peta Rencana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Petakan proses bisnis DAHULU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Gunakan aplikasi Arsitektur SPBE Nasional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Susun Peta Rencana 5 tahun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378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Selaras arah strategis nasional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1766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522D"/>
                </a:solidFill>
                <a:latin typeface="Arial"/>
              </a:defRPr>
            </a:pPr>
            <a:r>
              <a:t>3. Infrastruktur &amp; Integrasi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Batasi pembangunan data center mandiri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Migrasi ke PDN / cloud tersertifikasi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Implementasi Hub SPLP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Prinsip Satu Data Indonesia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Konsolidasi, Keamanan, dan Evaluasi Berkelanjutan — Kunci Keberlanjutan Transformasi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Langkah 4–6: Eksekusi &amp; Evaluasi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4. Konsolidasi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Audit seluruh aplikasi yang 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Moratorium aplikasi baru duplikatif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Gabung ke satu platform terpadu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Super Apps layanan publik &amp; administrasi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2188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Arial"/>
              </a:defRPr>
            </a:pPr>
            <a:r>
              <a:t>5. Keamanan Informasi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SMKI berbasis ISO 27001 bertahap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Kolaborasi dengan BSSN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Vulnerability Assessment berkala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378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Bentuk CSIRT internal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1766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522D"/>
                </a:solidFill>
                <a:latin typeface="Arial"/>
              </a:defRPr>
            </a:pPr>
            <a:r>
              <a:t>6. Evaluasi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Self-assessment berkala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Penilaian formal Kemenpan-RB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Audit TIK infrastruktur &amp; aplikasi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Arial"/>
              </a:defRPr>
            </a:pPr>
            <a:r>
              <a:t>• Continuous improvement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PRINSIP UTAMA</a:t>
            </a:r>
            <a:br/>
            <a:r>
              <a:t>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Interoperabilitas — sistem saling berbicara, bukan aplikasi baru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Paradigma Modern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Jebakan Terbesar: Menganggap Digitalisasi Berarti Membuat Aplikasi Baru untuk Setiap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Paradigma Lama vs SPBE Modern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PARADIGMA 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Setiap masalah → aplikasi baru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Masyarakat unduh puluhan aplikasi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Data tersekat di masing-masing sistem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Tidak ada standar keamanan terpadu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7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Anggaran membengkak — tumpang tindih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0779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Ego sektoral digital menguat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Arial"/>
              </a:defRPr>
            </a:pPr>
            <a:r>
              <a:t>PARADIGMA SPBE MODERN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Fokus pada interoperabilitas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Sistem yang ada saling berbicara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Bertukar data via Hub SPLP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432303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Satu pintu layanan — masyarakat cukup 1 aplikasi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2670047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Efisien, aman, dan tepercaya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0779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Arial"/>
              </a:defRPr>
            </a:pPr>
            <a:r>
              <a:t>• Kolaborasi antar instansi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Sumber: Perpres No. 95/2018, Perpres No. 132/2022, &amp; Pedoman SPBE Kemenpan-RB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2004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Arial"/>
              </a:defRPr>
            </a:pPr>
            <a:r>
              <a:t>SISTEM PEMERINTAHAN BERBASIS ELEKTRONIK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DF5"/>
                </a:solidFill>
                <a:latin typeface="Arial"/>
              </a:defRPr>
            </a:pPr>
            <a:r>
              <a:t>Mewujudkan Birokrasi Terintegrasi, Efisien, Aman, dan Tepercaya</a:t>
            </a:r>
            <a:br/>
            <a:r>
              <a:t>Melalui Transformasi SPBE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944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Sumber: Perpres No. 95/2018 · Perpres No. 132/2022 · Kemenpan-RB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