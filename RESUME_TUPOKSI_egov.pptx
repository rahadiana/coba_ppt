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-457200"/>
            <a:ext cx="5029200" cy="4572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716975" y="3200400"/>
            <a:ext cx="4114800" cy="41148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59" y="1371600"/>
            <a:ext cx="731520" cy="7315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39" y="1554480"/>
            <a:ext cx="3657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20139" y="1668780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463040"/>
            <a:ext cx="92656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Calibri"/>
              </a:defRPr>
            </a:pPr>
            <a:r>
              <a:t>RESUME TUPOKSI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17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6F7F5"/>
                </a:solidFill>
                <a:latin typeface="Calibri"/>
              </a:defRPr>
            </a:pPr>
            <a:r>
              <a:t>Bidang e-Government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Diskominfostandi Kota Bekasi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2286000" cy="3483864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Tiga Pilar Strategis e-Government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Bidang e-Government menggerakkan 3 pilar utama transformasi digital Kota Bekasi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371600"/>
            <a:ext cx="3484778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39" y="1371600"/>
            <a:ext cx="3484778" cy="7315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39" y="1645920"/>
            <a:ext cx="502920" cy="5029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19" y="1828800"/>
            <a:ext cx="137160" cy="137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19" y="1828800"/>
            <a:ext cx="137160" cy="1371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19" y="171907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A1628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39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Pengembangan Aplikasi</a:t>
            </a:r>
            <a:br/>
            <a:r>
              <a:t>&amp; Sistem Informasi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39" y="3291840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39" y="3474720"/>
            <a:ext cx="302757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Mengawal standar &amp; kualitas</a:t>
            </a:r>
            <a:br/>
            <a:r>
              <a:t>pengembangan aplikasi serta</a:t>
            </a:r>
            <a:br/>
            <a:r>
              <a:t>menghubungkan layanan daerah</a:t>
            </a:r>
            <a:br/>
            <a:r>
              <a:t>melalui SPLP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3458" y="1371600"/>
            <a:ext cx="3484778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53458" y="1371600"/>
            <a:ext cx="3484778" cy="73152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entagon 17"/>
          <p:cNvSpPr/>
          <p:nvPr/>
        </p:nvSpPr>
        <p:spPr>
          <a:xfrm>
            <a:off x="4582058" y="1645920"/>
            <a:ext cx="502920" cy="502920"/>
          </a:xfrm>
          <a:prstGeom prst="homePlate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32934" y="1796796"/>
            <a:ext cx="201168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2138" y="171907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5676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2058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Tata Kelola SPBE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82058" y="3291840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82058" y="3474720"/>
            <a:ext cx="302757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Merancang roadmap, arsitektur &amp;</a:t>
            </a:r>
            <a:br/>
            <a:r>
              <a:t>kebijakan SPBE sekaligus</a:t>
            </a:r>
            <a:br/>
            <a:r>
              <a:t>memperkuat kapasitas SDM</a:t>
            </a:r>
            <a:br/>
            <a:r>
              <a:t>dan peran Government CIO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58276" y="1371600"/>
            <a:ext cx="3484778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58276" y="1371600"/>
            <a:ext cx="3484778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86876" y="1796796"/>
            <a:ext cx="502920" cy="35204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>
            <a:off x="8386876" y="1645920"/>
            <a:ext cx="502920" cy="251460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37752" y="1897380"/>
            <a:ext cx="75438" cy="754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26956" y="171907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6876" y="2423160"/>
            <a:ext cx="302757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A1628"/>
                </a:solidFill>
                <a:latin typeface="Calibri"/>
              </a:defRPr>
            </a:pPr>
            <a:r>
              <a:t>Pengembangan</a:t>
            </a:r>
            <a:br/>
            <a:r>
              <a:t>Kota Cerdas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86876" y="3291840"/>
            <a:ext cx="3027578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86876" y="3474720"/>
            <a:ext cx="302757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Calibri"/>
              </a:defRPr>
            </a:pPr>
            <a:r>
              <a:t>Menyusun masterplan, membangun</a:t>
            </a:r>
            <a:br/>
            <a:r>
              <a:t>kolaborasi lintas sektor, serta</a:t>
            </a:r>
            <a:br/>
            <a:r>
              <a:t>mengevaluasi program Smart City</a:t>
            </a:r>
            <a:br/>
            <a:r>
              <a:t>secara berkelanjutan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Empat Sistem &amp; Aplikasi Strategis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Layanan digital yang dioperasikan dan dipelihara oleh Bidang e-Government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39" y="141732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777239" y="1691640"/>
            <a:ext cx="548640" cy="548640"/>
          </a:xfrm>
          <a:prstGeom prst="diamond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39" y="1922068"/>
            <a:ext cx="548640" cy="8778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79" y="1691640"/>
            <a:ext cx="40841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A1628"/>
                </a:solidFill>
                <a:latin typeface="Calibri"/>
              </a:defRPr>
            </a:pPr>
            <a:r>
              <a:t>Web Pemerintah Kota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79" y="2194560"/>
            <a:ext cx="408416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Portal utama pemerintah kota</a:t>
            </a:r>
            <a:br/>
            <a:r>
              <a:t>sebagai pusat info &amp; layanan publik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41732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30771" y="1691640"/>
            <a:ext cx="301752" cy="54864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40499" y="1911095"/>
            <a:ext cx="82296" cy="1645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1297" y="2130552"/>
            <a:ext cx="120700" cy="8778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4567" y="1691640"/>
            <a:ext cx="40841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76"/>
                </a:solidFill>
                <a:latin typeface="Calibri"/>
              </a:defRPr>
            </a:pPr>
            <a:r>
              <a:t>Mobile App PSW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4567" y="2194560"/>
            <a:ext cx="408416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Aplikasi mobile Pekan Smart City</a:t>
            </a:r>
            <a:br/>
            <a:r>
              <a:t>— layanan kota cerdas terintegrasi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39" y="338328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39" y="3822191"/>
            <a:ext cx="5486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sosceles Triangle 19"/>
          <p:cNvSpPr/>
          <p:nvPr/>
        </p:nvSpPr>
        <p:spPr>
          <a:xfrm>
            <a:off x="777239" y="3657600"/>
            <a:ext cx="548640" cy="274320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1" y="3931920"/>
            <a:ext cx="82296" cy="822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79" y="3657600"/>
            <a:ext cx="40841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9488"/>
                </a:solidFill>
                <a:latin typeface="Calibri"/>
              </a:defRPr>
            </a:pPr>
            <a:r>
              <a:t>Web Kota Cerdas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79" y="4160520"/>
            <a:ext cx="408416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Portal informasi &amp; layanan</a:t>
            </a:r>
            <a:br/>
            <a:r>
              <a:t>program Smart City Kota Bekasi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78727" y="3383280"/>
            <a:ext cx="5364327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6507327" y="3657600"/>
            <a:ext cx="384048" cy="548640"/>
          </a:xfrm>
          <a:prstGeom prst="parallelogram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6671919" y="3657600"/>
            <a:ext cx="384048" cy="548640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4567" y="3657600"/>
            <a:ext cx="408416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Aplikasi SPLP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4567" y="4160520"/>
            <a:ext cx="408416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Calibri"/>
              </a:defRPr>
            </a:pPr>
            <a:r>
              <a:t>Sistem Penghubung Layanan</a:t>
            </a:r>
            <a:br/>
            <a:r>
              <a:t>Pemerintah — terintegrasi Kemenkomdigi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Supervisi &amp; Pengembangan Aplikasi Daerah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Lingkup kerja pengembangan sistem informasi dan aplikasi perangkat daerah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45920"/>
            <a:ext cx="457200" cy="45720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60120" y="1737360"/>
            <a:ext cx="274320" cy="27432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168249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Supervisi, analisis, dan standarisasi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pengembangan aplikasi perangkat daerah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868680" y="2697480"/>
            <a:ext cx="320040" cy="457200"/>
          </a:xfrm>
          <a:prstGeom prst="parallelogram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005839" y="2697480"/>
            <a:ext cx="320040" cy="457200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78992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273405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Mengelola &amp; mengembangkan SPLP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sebagai tulang punggung integrasi layanan</a:t>
            </a:r>
          </a:p>
        </p:txBody>
      </p:sp>
      <p:sp>
        <p:nvSpPr>
          <p:cNvPr id="16" name="Diamond 15"/>
          <p:cNvSpPr/>
          <p:nvPr/>
        </p:nvSpPr>
        <p:spPr>
          <a:xfrm>
            <a:off x="868680" y="3749039"/>
            <a:ext cx="457200" cy="457200"/>
          </a:xfrm>
          <a:prstGeom prst="diamond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3941063"/>
            <a:ext cx="45720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8992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3785615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Pengelolaan domain &amp; subdomain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pemerintah daerah secara terpusat</a:t>
            </a:r>
          </a:p>
        </p:txBody>
      </p:sp>
      <p:sp>
        <p:nvSpPr>
          <p:cNvPr id="20" name="Pentagon 19"/>
          <p:cNvSpPr/>
          <p:nvPr/>
        </p:nvSpPr>
        <p:spPr>
          <a:xfrm>
            <a:off x="868680" y="4800600"/>
            <a:ext cx="457200" cy="457200"/>
          </a:xfrm>
          <a:prstGeom prst="homePlat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39" y="4937760"/>
            <a:ext cx="18288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483717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Sosialisasi &amp; peningkatan kapasitas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SDM pengelola sistem informasi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Akselerasi Program Kota Cerdas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Strategi dan kolaborasi menuju Smart City yang terintegrasi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iamond 7"/>
          <p:cNvSpPr/>
          <p:nvPr/>
        </p:nvSpPr>
        <p:spPr>
          <a:xfrm>
            <a:off x="868680" y="1645920"/>
            <a:ext cx="457200" cy="457200"/>
          </a:xfrm>
          <a:prstGeom prst="diamond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iamond 8"/>
          <p:cNvSpPr/>
          <p:nvPr/>
        </p:nvSpPr>
        <p:spPr>
          <a:xfrm>
            <a:off x="937259" y="1714500"/>
            <a:ext cx="320040" cy="32004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168249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Menyusun strategi, rencana aksi,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dan masterplan Kota Cerdas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834640"/>
            <a:ext cx="45720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868680" y="2697480"/>
            <a:ext cx="457200" cy="228600"/>
          </a:xfrm>
          <a:prstGeom prst="triangl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39" y="29260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273405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Membangun kolaborasi dengan pemangku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kepentingan lintas sektor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1560" y="3931920"/>
            <a:ext cx="91439" cy="914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28700" y="3909059"/>
            <a:ext cx="137160" cy="1371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8992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3785615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Mengoordinasikan &amp; mengevaluasi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program Kota Cerdas secara berkala</a:t>
            </a:r>
          </a:p>
        </p:txBody>
      </p:sp>
      <p:sp>
        <p:nvSpPr>
          <p:cNvPr id="22" name="Parallelogram 21"/>
          <p:cNvSpPr/>
          <p:nvPr/>
        </p:nvSpPr>
        <p:spPr>
          <a:xfrm>
            <a:off x="868680" y="4800600"/>
            <a:ext cx="320040" cy="457200"/>
          </a:xfrm>
          <a:prstGeom prst="parallelogram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1005839" y="4800600"/>
            <a:ext cx="320040" cy="457200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54480" y="483717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Menyelaraskan rencana induk dengan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dokumen perencanaan daerah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"/>
            <a:ext cx="12191695" cy="10515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88136"/>
            <a:ext cx="12191695" cy="27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"/>
            <a:ext cx="108200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Penguatan Tata Kelola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082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6F7F5"/>
                </a:solidFill>
                <a:latin typeface="Calibri"/>
              </a:defRPr>
            </a:pPr>
            <a:r>
              <a:t>Kerangka kerja menuju SPBE yang matang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91440" cy="475488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entagon 7"/>
          <p:cNvSpPr/>
          <p:nvPr/>
        </p:nvSpPr>
        <p:spPr>
          <a:xfrm>
            <a:off x="868680" y="1645920"/>
            <a:ext cx="457200" cy="457200"/>
          </a:xfrm>
          <a:prstGeom prst="homePlate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39" y="1783080"/>
            <a:ext cx="182880" cy="18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8992" y="219456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168249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Menyusun strategi, roadmap, arsitektur,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dan peta rencana SPBE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680" y="2697480"/>
            <a:ext cx="457200" cy="457200"/>
          </a:xfrm>
          <a:prstGeom prst="rightArrow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8992" y="3246120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273405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Melaksanakan &amp; mengoordinasikan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program SPBE lintas perangkat daerah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749039"/>
            <a:ext cx="457200" cy="457200"/>
          </a:xfrm>
          <a:prstGeom prst="round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3931920"/>
            <a:ext cx="91439" cy="914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8700" y="3909059"/>
            <a:ext cx="137160" cy="137160"/>
          </a:xfrm>
          <a:prstGeom prst="rect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8992" y="4297679"/>
            <a:ext cx="17419320000" cy="457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3785615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Mengembangkan kebijakan &amp;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tata kelola SPBE yang adaptif</a:t>
            </a:r>
          </a:p>
        </p:txBody>
      </p:sp>
      <p:sp>
        <p:nvSpPr>
          <p:cNvPr id="20" name="Diamond 19"/>
          <p:cNvSpPr/>
          <p:nvPr/>
        </p:nvSpPr>
        <p:spPr>
          <a:xfrm>
            <a:off x="868680" y="4800600"/>
            <a:ext cx="457200" cy="457200"/>
          </a:xfrm>
          <a:prstGeom prst="diamond">
            <a:avLst/>
          </a:prstGeom>
          <a:solidFill>
            <a:srgbClr val="1A5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937259" y="4869180"/>
            <a:ext cx="320040" cy="32004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4837176"/>
            <a:ext cx="98142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1E293B"/>
                </a:solidFill>
                <a:latin typeface="Calibri"/>
              </a:defRPr>
            </a:pPr>
            <a:r>
              <a:t>Monitoring, evaluasi, &amp; rekomendasi</a:t>
            </a:r>
          </a:p>
          <a:p>
            <a:pPr>
              <a:spcAft>
                <a:spcPts val="100"/>
              </a:spcAft>
              <a:defRPr sz="1300" b="0">
                <a:solidFill>
                  <a:srgbClr val="1E293B"/>
                </a:solidFill>
                <a:latin typeface="Calibri"/>
              </a:defRPr>
            </a:pPr>
            <a:r>
              <a:t>perbaikan SPBE berkelanjutan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17419320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94A3B8"/>
                </a:solidFill>
                <a:latin typeface="Calibri"/>
              </a:defRPr>
            </a:pPr>
            <a:r>
              <a:t>Sumber: RESUME TUPOKSI egov.docx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510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6895" y="-457200"/>
            <a:ext cx="4572000" cy="4572000"/>
          </a:xfrm>
          <a:prstGeom prst="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iamond 4"/>
          <p:cNvSpPr/>
          <p:nvPr/>
        </p:nvSpPr>
        <p:spPr>
          <a:xfrm>
            <a:off x="5730087" y="1097280"/>
            <a:ext cx="731520" cy="731520"/>
          </a:xfrm>
          <a:prstGeom prst="diamond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5839815" y="1207007"/>
            <a:ext cx="512063" cy="512063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6F7F5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  <p:sp>
        <p:nvSpPr>
          <p:cNvPr id="9" name="Rectangle 8"/>
          <p:cNvSpPr/>
          <p:nvPr/>
        </p:nvSpPr>
        <p:spPr>
          <a:xfrm>
            <a:off x="5181447" y="3931920"/>
            <a:ext cx="1828800" cy="23225760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"Mewujudkan tata kelola pemerintahan yang cerdas,</a:t>
            </a:r>
            <a:br/>
            <a:r>
              <a:t>terpadu, dan berkelanjutan"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