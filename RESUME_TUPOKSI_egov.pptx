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ight Triangle 1"/>
          <p:cNvSpPr/>
          <p:nvPr/>
        </p:nvSpPr>
        <p:spPr>
          <a:xfrm>
            <a:off x="8686800" y="0"/>
            <a:ext cx="4572000" cy="6858000"/>
          </a:xfrm>
          <a:prstGeom prst="rtTriangle">
            <a:avLst/>
          </a:prstGeom>
          <a:solidFill>
            <a:srgbClr val="15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ight Triangle 2"/>
          <p:cNvSpPr/>
          <p:nvPr/>
        </p:nvSpPr>
        <p:spPr>
          <a:xfrm>
            <a:off x="9326880" y="1371600"/>
            <a:ext cx="3657600" cy="5486400"/>
          </a:xfrm>
          <a:prstGeom prst="rtTriangle">
            <a:avLst/>
          </a:prstGeom>
          <a:solidFill>
            <a:srgbClr val="1226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381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3657600"/>
            <a:ext cx="1828800" cy="381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7315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200" b="1">
                <a:solidFill>
                  <a:srgbClr val="FFFFFF"/>
                </a:solidFill>
                <a:latin typeface="Calibri"/>
              </a:defRPr>
            </a:pPr>
            <a:r>
              <a:t>RESUME TUPOKSI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74320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0">
                <a:solidFill>
                  <a:srgbClr val="BBD0E5"/>
                </a:solidFill>
                <a:latin typeface="Calibri"/>
              </a:defRPr>
            </a:pPr>
            <a:r>
              <a:t>Bidang e-Government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88A8C8"/>
                </a:solidFill>
                <a:latin typeface="Calibri"/>
              </a:defRPr>
            </a:pPr>
            <a:r>
              <a:t>Diskominfostandi Kota Bekasi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02920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8B97A8"/>
                </a:solidFill>
                <a:latin typeface="Calibri"/>
              </a:defRPr>
            </a:pPr>
            <a:r>
              <a:t>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3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65D"/>
                </a:solidFill>
                <a:latin typeface="Calibri"/>
              </a:defRPr>
            </a:pPr>
            <a:r>
              <a:t>Tiga Pilar Utama Tugas Pokok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371600" cy="254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Bidang e-Government mencakup 3 area strategis dalam transformasi digital daerah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076" y="2103120"/>
            <a:ext cx="32918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08076" y="2103120"/>
            <a:ext cx="3291840" cy="635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36676" y="2468880"/>
            <a:ext cx="502920" cy="502920"/>
          </a:xfrm>
          <a:prstGeom prst="ellipse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76756" y="24688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1A365D"/>
                </a:solidFill>
                <a:latin typeface="Calibri"/>
              </a:defRPr>
            </a:pPr>
            <a:r>
              <a:t>Pengembangan Aplikasi</a:t>
            </a:r>
            <a:br/>
            <a:r>
              <a:t>&amp; Sistem Informasi</a:t>
            </a:r>
          </a:p>
        </p:txBody>
      </p:sp>
      <p:sp>
        <p:nvSpPr>
          <p:cNvPr id="10" name="Rectangle 9"/>
          <p:cNvSpPr/>
          <p:nvPr/>
        </p:nvSpPr>
        <p:spPr>
          <a:xfrm>
            <a:off x="836676" y="3383280"/>
            <a:ext cx="283464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" y="356616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Supervisi, standarisasi, dan pengelolaan</a:t>
            </a:r>
            <a:br/>
            <a:r>
              <a:t>sistem penghubung layanan pemerintah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48556" y="2103120"/>
            <a:ext cx="32918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48556" y="2103120"/>
            <a:ext cx="3291840" cy="635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677156" y="2468880"/>
            <a:ext cx="502920" cy="502920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17236" y="24688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1A365D"/>
                </a:solidFill>
                <a:latin typeface="Calibri"/>
              </a:defRPr>
            </a:pPr>
            <a:r>
              <a:t>Tata Kelola e-Government</a:t>
            </a:r>
            <a:br/>
            <a:r>
              <a:t>(SPBE)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77156" y="3383280"/>
            <a:ext cx="283464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77156" y="356616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Strategi, roadmap, arsitektur, dan</a:t>
            </a:r>
            <a:br/>
            <a:r>
              <a:t>peningkatan kapasitas SDM &amp; GCIO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89036" y="2103120"/>
            <a:ext cx="32918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89036" y="2103120"/>
            <a:ext cx="3291840" cy="63500"/>
          </a:xfrm>
          <a:prstGeom prst="rect">
            <a:avLst/>
          </a:prstGeom>
          <a:solidFill>
            <a:srgbClr val="0B8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17636" y="2468880"/>
            <a:ext cx="502920" cy="502920"/>
          </a:xfrm>
          <a:prstGeom prst="ellipse">
            <a:avLst/>
          </a:prstGeom>
          <a:solidFill>
            <a:srgbClr val="0B8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80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57716" y="2468880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sz="1500" b="1">
                <a:solidFill>
                  <a:srgbClr val="1A365D"/>
                </a:solidFill>
                <a:latin typeface="Calibri"/>
              </a:defRPr>
            </a:pPr>
            <a:r>
              <a:t>Pengembangan Kota Cerdas</a:t>
            </a:r>
            <a:br/>
            <a:r>
              <a:t>(Smart City)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17636" y="3383280"/>
            <a:ext cx="2834640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17636" y="3566160"/>
            <a:ext cx="2834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  <a:defRPr sz="1200" b="0">
                <a:solidFill>
                  <a:srgbClr val="4A5568"/>
                </a:solidFill>
                <a:latin typeface="Calibri"/>
              </a:defRPr>
            </a:pPr>
            <a:r>
              <a:t>Masterplan, kolaborasi lintas sektor,</a:t>
            </a:r>
            <a:br/>
            <a:r>
              <a:t>dan evaluasi program kota cerdas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6446520"/>
            <a:ext cx="12188952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7A8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3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65D"/>
                </a:solidFill>
                <a:latin typeface="Calibri"/>
              </a:defRPr>
            </a:pPr>
            <a:r>
              <a:t>Empat Sistem &amp; Aplikasi Strategis yang Dikelola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371600" cy="254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Layanan digital yang dioperasikan dan dipelihara oleh Bidang e-Government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745236" y="2103120"/>
            <a:ext cx="50292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5236" y="2103120"/>
            <a:ext cx="76200" cy="2011680"/>
          </a:xfrm>
          <a:prstGeom prst="rect">
            <a:avLst/>
          </a:prstGeom>
          <a:solidFill>
            <a:srgbClr val="0B8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065276" y="2560320"/>
            <a:ext cx="640080" cy="640080"/>
          </a:xfrm>
          <a:prstGeom prst="ellipse">
            <a:avLst/>
          </a:prstGeom>
          <a:solidFill>
            <a:srgbClr val="0B8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33956" y="24688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65D"/>
                </a:solidFill>
                <a:latin typeface="Calibri"/>
              </a:defRPr>
            </a:pPr>
            <a:r>
              <a:t>Web Pemerintah Kota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33956" y="2971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Calibri"/>
              </a:defRPr>
            </a:pPr>
            <a:r>
              <a:t>Admin Teknis Web Pemkot &amp; Web Diskominfo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14516" y="2103120"/>
            <a:ext cx="50292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14516" y="2103120"/>
            <a:ext cx="76200" cy="201168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734556" y="2560320"/>
            <a:ext cx="640080" cy="640080"/>
          </a:xfrm>
          <a:prstGeom prst="ellipse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03236" y="246888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65D"/>
                </a:solidFill>
                <a:latin typeface="Calibri"/>
              </a:defRPr>
            </a:pPr>
            <a:r>
              <a:t>Mobile App PSW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03236" y="297180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Calibri"/>
              </a:defRPr>
            </a:pPr>
            <a:r>
              <a:t>Platform Smart City (Pekan Smart City)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5236" y="4572000"/>
            <a:ext cx="50292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5236" y="4572000"/>
            <a:ext cx="76200" cy="2011680"/>
          </a:xfrm>
          <a:prstGeom prst="rect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65276" y="5029200"/>
            <a:ext cx="640080" cy="640080"/>
          </a:xfrm>
          <a:prstGeom prst="ellipse">
            <a:avLst/>
          </a:prstGeom>
          <a:solidFill>
            <a:srgbClr val="38A1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33956" y="493776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65D"/>
                </a:solidFill>
                <a:latin typeface="Calibri"/>
              </a:defRPr>
            </a:pPr>
            <a:r>
              <a:t>Web Kota Cerdas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33956" y="54406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Calibri"/>
              </a:defRPr>
            </a:pPr>
            <a:r>
              <a:t>Admin Teknis Portal Kota Cerdas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4516" y="4572000"/>
            <a:ext cx="5029200" cy="2011680"/>
          </a:xfrm>
          <a:prstGeom prst="rect">
            <a:avLst/>
          </a:prstGeom>
          <a:solidFill>
            <a:srgbClr val="FFFFFF"/>
          </a:solidFill>
          <a:ln w="63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14516" y="4572000"/>
            <a:ext cx="76200" cy="201168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734556" y="5029200"/>
            <a:ext cx="640080" cy="640080"/>
          </a:xfrm>
          <a:prstGeom prst="ellipse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03236" y="493776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365D"/>
                </a:solidFill>
                <a:latin typeface="Calibri"/>
              </a:defRPr>
            </a:pPr>
            <a:r>
              <a:t>Aplikasi SPLP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03236" y="544068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5568"/>
                </a:solidFill>
                <a:latin typeface="Calibri"/>
              </a:defRPr>
            </a:pPr>
            <a:r>
              <a:t>Sistem Penghubung Layanan Pemerintah — Kemenkomdigi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6446520"/>
            <a:ext cx="12188952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7A8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3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65D"/>
                </a:solidFill>
                <a:latin typeface="Calibri"/>
              </a:defRPr>
            </a:pPr>
            <a:r>
              <a:t>Supervisi &amp; Pengembangan Aplikasi Daerah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371600" cy="254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Lingkup kerja pengembangan sistem informasi dan aplikasi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50800" cy="41148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10268712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1A202C"/>
                </a:solidFill>
                <a:latin typeface="Calibri"/>
              </a:defRPr>
            </a:pPr>
            <a:r>
              <a:t>▸  Supervisi, analisis, dan standarisasi pengembangan aplikasi perangkat daerah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Mengelola dan mengembangkan Sistem Penghubung Layanan Pemerintah (SPLP)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Pengelolaan domain dan subdomain pemerintah daerah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Sosialisasi dan peningkatan kapasitas SDM pengelola sistem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88952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7A8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3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65D"/>
                </a:solidFill>
                <a:latin typeface="Calibri"/>
              </a:defRPr>
            </a:pPr>
            <a:r>
              <a:t>Akselerasi Program Kota Cerdas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371600" cy="254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Strategi dan kolaborasi menuju Smart City yang terintegrasi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50800" cy="4114800"/>
          </a:xfrm>
          <a:prstGeom prst="rect">
            <a:avLst/>
          </a:prstGeom>
          <a:solidFill>
            <a:srgbClr val="0B83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10268712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1A202C"/>
                </a:solidFill>
                <a:latin typeface="Calibri"/>
              </a:defRPr>
            </a:pPr>
            <a:r>
              <a:t>▸  Menyusun strategi, rencana aksi, dan masterplan Kota Cerdas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Membangun kolaborasi dengan pemangku kepentingan (pemerintah, swasta, akademisi, masyarakat)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Mengoordinasikan dan mengevaluasi program Kota Cerdas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Menyelaraskan rencana induk dengan dokumen perencanaan daerah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88952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7A8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08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457200"/>
            <a:ext cx="1054303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365D"/>
                </a:solidFill>
                <a:latin typeface="Calibri"/>
              </a:defRPr>
            </a:pPr>
            <a:r>
              <a:t>Penguatan Tata Kelola SPBE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143000"/>
            <a:ext cx="1371600" cy="254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234440"/>
            <a:ext cx="105430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4A5568"/>
                </a:solidFill>
                <a:latin typeface="Calibri"/>
              </a:defRPr>
            </a:pPr>
            <a:r>
              <a:t>Kerangka kerja menuju Sistem Pemerintahan Berbasis Elektronik yang matang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645920"/>
            <a:ext cx="50800" cy="411480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737360"/>
            <a:ext cx="10268712" cy="91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defRPr sz="1500" b="0">
                <a:solidFill>
                  <a:srgbClr val="1A202C"/>
                </a:solidFill>
                <a:latin typeface="Calibri"/>
              </a:defRPr>
            </a:pPr>
            <a:r>
              <a:t>▸  Menyusun strategi, roadmap, arsitektur, dan peta rencana SPBE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Melaksanakan dan mengoordinasikan program SPBE lintas perangkat daerah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Mengembangkan kebijakan dan tata kelola SPBE</a:t>
            </a:r>
          </a:p>
          <a:p>
            <a:pPr>
              <a:spcAft>
                <a:spcPts val="1200"/>
              </a:spcAft>
              <a:defRPr sz="1500">
                <a:solidFill>
                  <a:srgbClr val="1A202C"/>
                </a:solidFill>
                <a:latin typeface="Calibri"/>
              </a:defRPr>
            </a:pPr>
            <a:r>
              <a:t>▸  Monitoring, evaluasi, dan rekomendasi perbaikan berkelanjutan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46520"/>
            <a:ext cx="12188952" cy="41148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446520"/>
            <a:ext cx="12188952" cy="127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510528"/>
            <a:ext cx="1054303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7A8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365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81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3291840"/>
            <a:ext cx="1828800" cy="38100"/>
          </a:xfrm>
          <a:prstGeom prst="rect">
            <a:avLst/>
          </a:prstGeom>
          <a:solidFill>
            <a:srgbClr val="D69E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4303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Terima Kasih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43200"/>
            <a:ext cx="1054303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BD0E5"/>
                </a:solidFill>
                <a:latin typeface="Calibri"/>
              </a:defRPr>
            </a:pPr>
            <a:r>
              <a:t>Bidang e-Government — Diskominfostandi Kota Bekasi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10543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8B97A8"/>
                </a:solidFill>
                <a:latin typeface="Calibri"/>
              </a:defRPr>
            </a:pPr>
            <a:r>
              <a:t>"Mewujudkan tata kelola pemerintahan yang cerdas, terpadu, dan berkelanjutan"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