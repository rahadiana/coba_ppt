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19695" y="-457200"/>
            <a:ext cx="5029200" cy="457200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716975" y="3200400"/>
            <a:ext cx="4114800" cy="411480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59" y="1371600"/>
            <a:ext cx="731520" cy="7315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430121"/>
            <a:ext cx="731520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  <a:latin typeface="Segoe UI Emoji"/>
              </a:defRPr>
            </a:pPr>
            <a:r>
              <a:t>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463040"/>
            <a:ext cx="92656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600" b="1">
                <a:solidFill>
                  <a:srgbClr val="FFFFFF"/>
                </a:solidFill>
                <a:latin typeface="Calibri"/>
              </a:defRPr>
            </a:pPr>
            <a:r>
              <a:t>RESUME TUPOKSI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517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6F7F5"/>
                </a:solidFill>
                <a:latin typeface="Calibri"/>
              </a:defRPr>
            </a:pPr>
            <a:r>
              <a:t>Bidang e-Government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004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Diskominfostandi Kota Bekasi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49039"/>
            <a:ext cx="2286000" cy="348386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4023360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"/>
            <a:ext cx="12191695" cy="10515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8136"/>
            <a:ext cx="12191695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"/>
            <a:ext cx="108200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Tiga Pilar Strategis e-Government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58368"/>
            <a:ext cx="108200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6F7F5"/>
                </a:solidFill>
                <a:latin typeface="Calibri"/>
              </a:defRPr>
            </a:pPr>
            <a:r>
              <a:t>Bidang e-Government menggerakkan 3 pilar utama transformasi digital Kota Bekasi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39" y="1417320"/>
            <a:ext cx="3484778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39" y="1417320"/>
            <a:ext cx="3484778" cy="7315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39" y="1691640"/>
            <a:ext cx="502920" cy="502920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39" y="1731873"/>
            <a:ext cx="502920" cy="42748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>
                <a:solidFill>
                  <a:srgbClr val="FFFFFF"/>
                </a:solidFill>
                <a:latin typeface="Segoe UI Emoji"/>
              </a:defRPr>
            </a:pPr>
            <a:r>
              <a:t>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19" y="1764792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A1628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39" y="2423160"/>
            <a:ext cx="302757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A1628"/>
                </a:solidFill>
                <a:latin typeface="Calibri"/>
              </a:defRPr>
            </a:pPr>
            <a:r>
              <a:t>Pengembangan Aplikasi</a:t>
            </a:r>
            <a:br/>
            <a:r>
              <a:t>&amp; Sistem Informasi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39" y="3291839"/>
            <a:ext cx="3027578" cy="17419320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39" y="3474720"/>
            <a:ext cx="302757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Calibri"/>
              </a:defRPr>
            </a:pPr>
            <a:r>
              <a:t>Mengawal standar &amp; kualitas</a:t>
            </a:r>
            <a:br/>
            <a:r>
              <a:t>pengembangan aplikasi serta</a:t>
            </a:r>
            <a:br/>
            <a:r>
              <a:t>menghubungkan layanan daerah</a:t>
            </a:r>
            <a:br/>
            <a:r>
              <a:t>melalui SPLP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3458" y="1417320"/>
            <a:ext cx="3484778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53458" y="1417320"/>
            <a:ext cx="3484778" cy="73152"/>
          </a:xfrm>
          <a:prstGeom prst="rect">
            <a:avLst/>
          </a:prstGeom>
          <a:solidFill>
            <a:srgbClr val="1A5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82058" y="1691640"/>
            <a:ext cx="502920" cy="502920"/>
          </a:xfrm>
          <a:prstGeom prst="roundRect">
            <a:avLst/>
          </a:prstGeom>
          <a:solidFill>
            <a:srgbClr val="1A5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82058" y="1731873"/>
            <a:ext cx="502920" cy="42748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>
                <a:solidFill>
                  <a:srgbClr val="FFFFFF"/>
                </a:solidFill>
                <a:latin typeface="Segoe UI Emoji"/>
              </a:defRPr>
            </a:pPr>
            <a:r>
              <a:t>⚙️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22138" y="1764792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676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2058" y="2423160"/>
            <a:ext cx="302757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A1628"/>
                </a:solidFill>
                <a:latin typeface="Calibri"/>
              </a:defRPr>
            </a:pPr>
            <a:r>
              <a:t>Tata Kelola SPBE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82058" y="3291839"/>
            <a:ext cx="3027578" cy="17419320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82058" y="3474720"/>
            <a:ext cx="302757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Calibri"/>
              </a:defRPr>
            </a:pPr>
            <a:r>
              <a:t>Merancang roadmap, arsitektur &amp;</a:t>
            </a:r>
            <a:br/>
            <a:r>
              <a:t>kebijakan SPBE sekaligus</a:t>
            </a:r>
            <a:br/>
            <a:r>
              <a:t>memperkuat kapasitas SDM</a:t>
            </a:r>
            <a:br/>
            <a:r>
              <a:t>dan peran Government CIO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58276" y="1417320"/>
            <a:ext cx="3484778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58276" y="1417320"/>
            <a:ext cx="3484778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386876" y="1691640"/>
            <a:ext cx="502920" cy="5029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86876" y="1731873"/>
            <a:ext cx="502920" cy="42748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>
                <a:solidFill>
                  <a:srgbClr val="FFFFFF"/>
                </a:solidFill>
                <a:latin typeface="Segoe UI Emoji"/>
              </a:defRPr>
            </a:pPr>
            <a:r>
              <a:t>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26956" y="1764792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9488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6876" y="2423160"/>
            <a:ext cx="302757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A1628"/>
                </a:solidFill>
                <a:latin typeface="Calibri"/>
              </a:defRPr>
            </a:pPr>
            <a:r>
              <a:t>Pengembangan</a:t>
            </a:r>
            <a:br/>
            <a:r>
              <a:t>Kota Cerdas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86876" y="3291839"/>
            <a:ext cx="3027578" cy="17419320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86876" y="3474720"/>
            <a:ext cx="302757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Calibri"/>
              </a:defRPr>
            </a:pPr>
            <a:r>
              <a:t>Menyusun masterplan, membangun</a:t>
            </a:r>
            <a:br/>
            <a:r>
              <a:t>kolaborasi lintas sektor, serta</a:t>
            </a:r>
            <a:br/>
            <a:r>
              <a:t>mengevaluasi program Smart City</a:t>
            </a:r>
            <a:br/>
            <a:r>
              <a:t>secara berkelanjutan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17419320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6510528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  <a:latin typeface="Calibri"/>
              </a:defRPr>
            </a:pPr>
            <a:r>
              <a:t>Sumber: RESUME TUPOKSI egov.docx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77295" y="6510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"/>
            <a:ext cx="12191695" cy="10515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8136"/>
            <a:ext cx="12191695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"/>
            <a:ext cx="108200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Empat Sistem &amp; Aplikasi Strategis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58368"/>
            <a:ext cx="108200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6F7F5"/>
                </a:solidFill>
                <a:latin typeface="Calibri"/>
              </a:defRPr>
            </a:pPr>
            <a:r>
              <a:t>Layanan digital yang dioperasikan dan dipelihara oleh Bidang e-Government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39" y="1417320"/>
            <a:ext cx="5364327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39" y="1691640"/>
            <a:ext cx="594360" cy="594360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39" y="1739188"/>
            <a:ext cx="594360" cy="50520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300">
                <a:solidFill>
                  <a:srgbClr val="FFFFFF"/>
                </a:solidFill>
                <a:latin typeface="Segoe UI Emoji"/>
              </a:defRPr>
            </a:pPr>
            <a:r>
              <a:t>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199" y="1691640"/>
            <a:ext cx="3992727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A1628"/>
                </a:solidFill>
                <a:latin typeface="Calibri"/>
              </a:defRPr>
            </a:pPr>
            <a:r>
              <a:t>Web Pemerintah Kota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199" y="2194560"/>
            <a:ext cx="3992727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Calibri"/>
              </a:defRPr>
            </a:pPr>
            <a:r>
              <a:t>Portal utama pemerintah kota</a:t>
            </a:r>
            <a:br/>
            <a:r>
              <a:t>sebagai pusat info &amp; layanan publik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1417320"/>
            <a:ext cx="5364327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07327" y="1691640"/>
            <a:ext cx="594360" cy="594360"/>
          </a:xfrm>
          <a:prstGeom prst="roundRect">
            <a:avLst/>
          </a:prstGeom>
          <a:solidFill>
            <a:srgbClr val="1A5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7327" y="1739188"/>
            <a:ext cx="594360" cy="50520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300">
                <a:solidFill>
                  <a:srgbClr val="FFFFFF"/>
                </a:solidFill>
                <a:latin typeface="Segoe UI Emoji"/>
              </a:defRPr>
            </a:pPr>
            <a:r>
              <a:t>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0287" y="1691640"/>
            <a:ext cx="3992727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5676"/>
                </a:solidFill>
                <a:latin typeface="Calibri"/>
              </a:defRPr>
            </a:pPr>
            <a:r>
              <a:t>Mobile App PSW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0287" y="2194560"/>
            <a:ext cx="3992727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Calibri"/>
              </a:defRPr>
            </a:pPr>
            <a:r>
              <a:t>Aplikasi mobile Pekan Smart City</a:t>
            </a:r>
            <a:br/>
            <a:r>
              <a:t>— layanan kota cerdas terintegrasi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39" y="3383280"/>
            <a:ext cx="5364327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77239" y="3657600"/>
            <a:ext cx="594360" cy="59436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39" y="3705148"/>
            <a:ext cx="594360" cy="50520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300">
                <a:solidFill>
                  <a:srgbClr val="FFFFFF"/>
                </a:solidFill>
                <a:latin typeface="Segoe UI Emoji"/>
              </a:defRPr>
            </a:pPr>
            <a:r>
              <a:t>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199" y="3657600"/>
            <a:ext cx="3992727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9488"/>
                </a:solidFill>
                <a:latin typeface="Calibri"/>
              </a:defRPr>
            </a:pPr>
            <a:r>
              <a:t>Web Kota Cerdas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199" y="4160520"/>
            <a:ext cx="3992727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Calibri"/>
              </a:defRPr>
            </a:pPr>
            <a:r>
              <a:t>Portal informasi &amp; layanan</a:t>
            </a:r>
            <a:br/>
            <a:r>
              <a:t>program Smart City Kota Bekasi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78727" y="3383280"/>
            <a:ext cx="5364327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507327" y="3657600"/>
            <a:ext cx="594360" cy="5943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07327" y="3705148"/>
            <a:ext cx="594360" cy="50520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300">
                <a:solidFill>
                  <a:srgbClr val="FFFFFF"/>
                </a:solidFill>
                <a:latin typeface="Segoe UI Emoji"/>
              </a:defRPr>
            </a:pPr>
            <a:r>
              <a:t>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30287" y="3657600"/>
            <a:ext cx="3992727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9E0B"/>
                </a:solidFill>
                <a:latin typeface="Calibri"/>
              </a:defRPr>
            </a:pPr>
            <a:r>
              <a:t>Aplikasi SPLP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30287" y="4160520"/>
            <a:ext cx="3992727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Calibri"/>
              </a:defRPr>
            </a:pPr>
            <a:r>
              <a:t>Sistem Penghubung Layanan</a:t>
            </a:r>
            <a:br/>
            <a:r>
              <a:t>Pemerintah — terintegrasi Kemenkomdigi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446520"/>
            <a:ext cx="12191695" cy="17419320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510528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  <a:latin typeface="Calibri"/>
              </a:defRPr>
            </a:pPr>
            <a:r>
              <a:t>Sumber: RESUME TUPOKSI egov.docx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7295" y="6510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"/>
            <a:ext cx="12191695" cy="10515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8136"/>
            <a:ext cx="12191695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"/>
            <a:ext cx="108200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Supervisi &amp; Pengembangan Aplikasi Daerah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58368"/>
            <a:ext cx="108200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6F7F5"/>
                </a:solidFill>
                <a:latin typeface="Calibri"/>
              </a:defRPr>
            </a:pPr>
            <a:r>
              <a:t>Lingkup kerja pengembangan sistem informasi dan aplikasi perangkat daerah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91440" cy="475488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1645920"/>
            <a:ext cx="457200" cy="457200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82496"/>
            <a:ext cx="457200" cy="3886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  <a:latin typeface="Segoe UI Emoji"/>
              </a:defRPr>
            </a:pPr>
            <a:r>
              <a:t>✅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2194560"/>
            <a:ext cx="17419320000" cy="4572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200" y="1682496"/>
            <a:ext cx="97228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1E293B"/>
                </a:solidFill>
                <a:latin typeface="Calibri"/>
              </a:defRPr>
            </a:pPr>
            <a:r>
              <a:t>Supervisi, analisis, dan standarisasi</a:t>
            </a:r>
          </a:p>
          <a:p>
            <a:pPr>
              <a:spcAft>
                <a:spcPts val="100"/>
              </a:spcAft>
              <a:defRPr sz="1300" b="0">
                <a:solidFill>
                  <a:srgbClr val="1E293B"/>
                </a:solidFill>
                <a:latin typeface="Calibri"/>
              </a:defRPr>
            </a:pPr>
            <a:r>
              <a:t>pengembangan aplikasi perangkat daerah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2697480"/>
            <a:ext cx="457200" cy="457200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734056"/>
            <a:ext cx="457200" cy="3886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  <a:latin typeface="Segoe UI Emoji"/>
              </a:defRPr>
            </a:pPr>
            <a:r>
              <a:t>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3246120"/>
            <a:ext cx="17419320000" cy="4572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00200" y="2734056"/>
            <a:ext cx="97228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1E293B"/>
                </a:solidFill>
                <a:latin typeface="Calibri"/>
              </a:defRPr>
            </a:pPr>
            <a:r>
              <a:t>Mengelola &amp; mengembangkan SPLP</a:t>
            </a:r>
          </a:p>
          <a:p>
            <a:pPr>
              <a:spcAft>
                <a:spcPts val="100"/>
              </a:spcAft>
              <a:defRPr sz="1300" b="0">
                <a:solidFill>
                  <a:srgbClr val="1E293B"/>
                </a:solidFill>
                <a:latin typeface="Calibri"/>
              </a:defRPr>
            </a:pPr>
            <a:r>
              <a:t>sebagai tulang punggung integrasi layanan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3749039"/>
            <a:ext cx="457200" cy="457200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85615"/>
            <a:ext cx="457200" cy="3886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  <a:latin typeface="Segoe UI Emoji"/>
              </a:defRPr>
            </a:pPr>
            <a:r>
              <a:t>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4297679"/>
            <a:ext cx="17419320000" cy="4572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3785615"/>
            <a:ext cx="97228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1E293B"/>
                </a:solidFill>
                <a:latin typeface="Calibri"/>
              </a:defRPr>
            </a:pPr>
            <a:r>
              <a:t>Pengelolaan domain &amp; subdomain</a:t>
            </a:r>
          </a:p>
          <a:p>
            <a:pPr>
              <a:spcAft>
                <a:spcPts val="100"/>
              </a:spcAft>
              <a:defRPr sz="1300" b="0">
                <a:solidFill>
                  <a:srgbClr val="1E293B"/>
                </a:solidFill>
                <a:latin typeface="Calibri"/>
              </a:defRPr>
            </a:pPr>
            <a:r>
              <a:t>pemerintah daerah secara terpusat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4800600"/>
            <a:ext cx="457200" cy="457200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837176"/>
            <a:ext cx="457200" cy="3886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  <a:latin typeface="Segoe UI Emoji"/>
              </a:defRPr>
            </a:pPr>
            <a:r>
              <a:t>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4837176"/>
            <a:ext cx="97228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1E293B"/>
                </a:solidFill>
                <a:latin typeface="Calibri"/>
              </a:defRPr>
            </a:pPr>
            <a:r>
              <a:t>Sosialisasi &amp; peningkatan kapasitas</a:t>
            </a:r>
          </a:p>
          <a:p>
            <a:pPr>
              <a:spcAft>
                <a:spcPts val="100"/>
              </a:spcAft>
              <a:defRPr sz="1300" b="0">
                <a:solidFill>
                  <a:srgbClr val="1E293B"/>
                </a:solidFill>
                <a:latin typeface="Calibri"/>
              </a:defRPr>
            </a:pPr>
            <a:r>
              <a:t>SDM pengelola sistem informasi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446520"/>
            <a:ext cx="12191695" cy="17419320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510528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  <a:latin typeface="Calibri"/>
              </a:defRPr>
            </a:pPr>
            <a:r>
              <a:t>Sumber: RESUME TUPOKSI egov.docx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7295" y="6510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"/>
            <a:ext cx="12191695" cy="10515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8136"/>
            <a:ext cx="12191695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"/>
            <a:ext cx="108200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Akselerasi Program Kota Cerdas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58368"/>
            <a:ext cx="108200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6F7F5"/>
                </a:solidFill>
                <a:latin typeface="Calibri"/>
              </a:defRPr>
            </a:pPr>
            <a:r>
              <a:t>Strategi dan kolaborasi menuju Smart City yang terintegrasi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91440" cy="47548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1645920"/>
            <a:ext cx="457200" cy="45720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82496"/>
            <a:ext cx="457200" cy="3886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  <a:latin typeface="Segoe UI Emoji"/>
              </a:defRPr>
            </a:pPr>
            <a:r>
              <a:t>⭐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2194560"/>
            <a:ext cx="17419320000" cy="4572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200" y="1682496"/>
            <a:ext cx="97228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1E293B"/>
                </a:solidFill>
                <a:latin typeface="Calibri"/>
              </a:defRPr>
            </a:pPr>
            <a:r>
              <a:t>Menyusun strategi, rencana aksi,</a:t>
            </a:r>
          </a:p>
          <a:p>
            <a:pPr>
              <a:spcAft>
                <a:spcPts val="100"/>
              </a:spcAft>
              <a:defRPr sz="1300" b="0">
                <a:solidFill>
                  <a:srgbClr val="1E293B"/>
                </a:solidFill>
                <a:latin typeface="Calibri"/>
              </a:defRPr>
            </a:pPr>
            <a:r>
              <a:t>dan masterplan Kota Cerdas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2697480"/>
            <a:ext cx="457200" cy="45720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734056"/>
            <a:ext cx="457200" cy="3886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  <a:latin typeface="Segoe UI Emoji"/>
              </a:defRPr>
            </a:pPr>
            <a:r>
              <a:t>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3246120"/>
            <a:ext cx="17419320000" cy="4572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00200" y="2734056"/>
            <a:ext cx="97228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1E293B"/>
                </a:solidFill>
                <a:latin typeface="Calibri"/>
              </a:defRPr>
            </a:pPr>
            <a:r>
              <a:t>Membangun kolaborasi dengan pemangku</a:t>
            </a:r>
          </a:p>
          <a:p>
            <a:pPr>
              <a:spcAft>
                <a:spcPts val="100"/>
              </a:spcAft>
              <a:defRPr sz="1300" b="0">
                <a:solidFill>
                  <a:srgbClr val="1E293B"/>
                </a:solidFill>
                <a:latin typeface="Calibri"/>
              </a:defRPr>
            </a:pPr>
            <a:r>
              <a:t>kepentingan lintas sektor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3749039"/>
            <a:ext cx="457200" cy="45720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85615"/>
            <a:ext cx="457200" cy="3886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  <a:latin typeface="Segoe UI Emoji"/>
              </a:defRPr>
            </a:pPr>
            <a:r>
              <a:t>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4297679"/>
            <a:ext cx="17419320000" cy="4572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3785615"/>
            <a:ext cx="97228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1E293B"/>
                </a:solidFill>
                <a:latin typeface="Calibri"/>
              </a:defRPr>
            </a:pPr>
            <a:r>
              <a:t>Mengoordinasikan &amp; mengevaluasi</a:t>
            </a:r>
          </a:p>
          <a:p>
            <a:pPr>
              <a:spcAft>
                <a:spcPts val="100"/>
              </a:spcAft>
              <a:defRPr sz="1300" b="0">
                <a:solidFill>
                  <a:srgbClr val="1E293B"/>
                </a:solidFill>
                <a:latin typeface="Calibri"/>
              </a:defRPr>
            </a:pPr>
            <a:r>
              <a:t>program Kota Cerdas secara berkala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4800600"/>
            <a:ext cx="457200" cy="45720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837176"/>
            <a:ext cx="457200" cy="3886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  <a:latin typeface="Segoe UI Emoji"/>
              </a:defRPr>
            </a:pPr>
            <a:r>
              <a:t>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4837176"/>
            <a:ext cx="97228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1E293B"/>
                </a:solidFill>
                <a:latin typeface="Calibri"/>
              </a:defRPr>
            </a:pPr>
            <a:r>
              <a:t>Menyelaraskan rencana induk dengan</a:t>
            </a:r>
          </a:p>
          <a:p>
            <a:pPr>
              <a:spcAft>
                <a:spcPts val="100"/>
              </a:spcAft>
              <a:defRPr sz="1300" b="0">
                <a:solidFill>
                  <a:srgbClr val="1E293B"/>
                </a:solidFill>
                <a:latin typeface="Calibri"/>
              </a:defRPr>
            </a:pPr>
            <a:r>
              <a:t>dokumen perencanaan daerah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446520"/>
            <a:ext cx="12191695" cy="17419320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510528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  <a:latin typeface="Calibri"/>
              </a:defRPr>
            </a:pPr>
            <a:r>
              <a:t>Sumber: RESUME TUPOKSI egov.docx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7295" y="6510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"/>
            <a:ext cx="12191695" cy="10515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8136"/>
            <a:ext cx="12191695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"/>
            <a:ext cx="108200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Penguatan Tata Kelola SPBE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58368"/>
            <a:ext cx="108200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6F7F5"/>
                </a:solidFill>
                <a:latin typeface="Calibri"/>
              </a:defRPr>
            </a:pPr>
            <a:r>
              <a:t>Kerangka kerja menuju SPBE yang matang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91440" cy="4754880"/>
          </a:xfrm>
          <a:prstGeom prst="rect">
            <a:avLst/>
          </a:prstGeom>
          <a:solidFill>
            <a:srgbClr val="1A5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1645920"/>
            <a:ext cx="457200" cy="457200"/>
          </a:xfrm>
          <a:prstGeom prst="roundRect">
            <a:avLst/>
          </a:prstGeom>
          <a:solidFill>
            <a:srgbClr val="1A5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82496"/>
            <a:ext cx="457200" cy="3886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  <a:latin typeface="Segoe UI Emoji"/>
              </a:defRPr>
            </a:pPr>
            <a:r>
              <a:t>⚙️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2194560"/>
            <a:ext cx="17419320000" cy="4572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200" y="1682496"/>
            <a:ext cx="97228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1E293B"/>
                </a:solidFill>
                <a:latin typeface="Calibri"/>
              </a:defRPr>
            </a:pPr>
            <a:r>
              <a:t>Menyusun strategi, roadmap, arsitektur,</a:t>
            </a:r>
          </a:p>
          <a:p>
            <a:pPr>
              <a:spcAft>
                <a:spcPts val="100"/>
              </a:spcAft>
              <a:defRPr sz="1300" b="0">
                <a:solidFill>
                  <a:srgbClr val="1E293B"/>
                </a:solidFill>
                <a:latin typeface="Calibri"/>
              </a:defRPr>
            </a:pPr>
            <a:r>
              <a:t>dan peta rencana SPBE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2697480"/>
            <a:ext cx="457200" cy="457200"/>
          </a:xfrm>
          <a:prstGeom prst="roundRect">
            <a:avLst/>
          </a:prstGeom>
          <a:solidFill>
            <a:srgbClr val="1A5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734056"/>
            <a:ext cx="457200" cy="3886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  <a:latin typeface="Segoe UI Emoji"/>
              </a:defRPr>
            </a:pPr>
            <a:r>
              <a:t>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3246120"/>
            <a:ext cx="17419320000" cy="4572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00200" y="2734056"/>
            <a:ext cx="97228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1E293B"/>
                </a:solidFill>
                <a:latin typeface="Calibri"/>
              </a:defRPr>
            </a:pPr>
            <a:r>
              <a:t>Melaksanakan &amp; mengoordinasikan</a:t>
            </a:r>
          </a:p>
          <a:p>
            <a:pPr>
              <a:spcAft>
                <a:spcPts val="100"/>
              </a:spcAft>
              <a:defRPr sz="1300" b="0">
                <a:solidFill>
                  <a:srgbClr val="1E293B"/>
                </a:solidFill>
                <a:latin typeface="Calibri"/>
              </a:defRPr>
            </a:pPr>
            <a:r>
              <a:t>program SPBE lintas perangkat daerah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3749039"/>
            <a:ext cx="457200" cy="457200"/>
          </a:xfrm>
          <a:prstGeom prst="roundRect">
            <a:avLst/>
          </a:prstGeom>
          <a:solidFill>
            <a:srgbClr val="1A5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85615"/>
            <a:ext cx="457200" cy="3886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  <a:latin typeface="Segoe UI Emoji"/>
              </a:defRPr>
            </a:pPr>
            <a:r>
              <a:t>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4297679"/>
            <a:ext cx="17419320000" cy="4572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3785615"/>
            <a:ext cx="97228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1E293B"/>
                </a:solidFill>
                <a:latin typeface="Calibri"/>
              </a:defRPr>
            </a:pPr>
            <a:r>
              <a:t>Mengembangkan kebijakan &amp;</a:t>
            </a:r>
          </a:p>
          <a:p>
            <a:pPr>
              <a:spcAft>
                <a:spcPts val="100"/>
              </a:spcAft>
              <a:defRPr sz="1300" b="0">
                <a:solidFill>
                  <a:srgbClr val="1E293B"/>
                </a:solidFill>
                <a:latin typeface="Calibri"/>
              </a:defRPr>
            </a:pPr>
            <a:r>
              <a:t>tata kelola SPBE yang adaptif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4800600"/>
            <a:ext cx="457200" cy="457200"/>
          </a:xfrm>
          <a:prstGeom prst="roundRect">
            <a:avLst/>
          </a:prstGeom>
          <a:solidFill>
            <a:srgbClr val="1A5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837176"/>
            <a:ext cx="457200" cy="3886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  <a:latin typeface="Segoe UI Emoji"/>
              </a:defRPr>
            </a:pPr>
            <a:r>
              <a:t>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4837176"/>
            <a:ext cx="97228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1E293B"/>
                </a:solidFill>
                <a:latin typeface="Calibri"/>
              </a:defRPr>
            </a:pPr>
            <a:r>
              <a:t>Monitoring, evaluasi, &amp; rekomendasi</a:t>
            </a:r>
          </a:p>
          <a:p>
            <a:pPr>
              <a:spcAft>
                <a:spcPts val="100"/>
              </a:spcAft>
              <a:defRPr sz="1300" b="0">
                <a:solidFill>
                  <a:srgbClr val="1E293B"/>
                </a:solidFill>
                <a:latin typeface="Calibri"/>
              </a:defRPr>
            </a:pPr>
            <a:r>
              <a:t>perbaikan SPBE berkelanjutan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446520"/>
            <a:ext cx="12191695" cy="17419320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510528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  <a:latin typeface="Calibri"/>
              </a:defRPr>
            </a:pPr>
            <a:r>
              <a:t>Sumber: RESUME TUPOKSI egov.docx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7295" y="6510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76895" y="-457200"/>
            <a:ext cx="4572000" cy="457200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730087" y="1097280"/>
            <a:ext cx="731520" cy="7315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30087" y="1155801"/>
            <a:ext cx="731520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  <a:latin typeface="Segoe UI Emoji"/>
              </a:defRPr>
            </a:pPr>
            <a:r>
              <a:t>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Terima Kasih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4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6F7F5"/>
                </a:solidFill>
                <a:latin typeface="Calibri"/>
              </a:defRPr>
            </a:pPr>
            <a:r>
              <a:t>Bidang e-Government — Diskominfostandi Kota Bekasi</a:t>
            </a:r>
          </a:p>
        </p:txBody>
      </p:sp>
      <p:sp>
        <p:nvSpPr>
          <p:cNvPr id="9" name="Rectangle 8"/>
          <p:cNvSpPr/>
          <p:nvPr/>
        </p:nvSpPr>
        <p:spPr>
          <a:xfrm>
            <a:off x="5181447" y="3931920"/>
            <a:ext cx="1828800" cy="2322576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20624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"Mewujudkan tata kelola pemerintahan yang cerdas,</a:t>
            </a:r>
            <a:br/>
            <a:r>
              <a:t>terpadu, dan berkelanjutan"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