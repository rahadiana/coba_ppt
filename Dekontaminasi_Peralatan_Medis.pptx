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23560" y="731520"/>
            <a:ext cx="457200" cy="137160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74920" y="1143000"/>
            <a:ext cx="1554480" cy="45720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PROSEDUR DEKONTAMINASI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B7C72"/>
                </a:solidFill>
                <a:latin typeface="Calibri"/>
              </a:defRPr>
            </a:pPr>
            <a:r>
              <a:t>PERALATAN MEDIS BERDASARKAN STANDAR INTERNASIONAL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480560"/>
            <a:ext cx="393192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Mengacu pada Standar WHO &amp; CDC — Klasifikasi Spaulding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962E"/>
                </a:solidFill>
                <a:latin typeface="Calibri"/>
              </a:defRPr>
            </a:pPr>
            <a:r>
              <a:t>Kementerian Kesehatan RI  |  CSSD (Central Sterile Supply Department)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7C72"/>
                </a:solidFill>
              </a:defRPr>
            </a:pPr>
            <a:r>
              <a:t>Mapa Dekontaminasi Peralatan Medis?</a:t>
            </a:r>
          </a:p>
          <a:p>
            <a:pPr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Membersihkan dan mendekontaminasi peralatan medis bukan sekadar membuatnya terlihat bersih, melainkan prosedur vital untuk memutus rantai penyebaran infeksi.</a:t>
            </a:r>
          </a:p>
          <a:p>
            <a:pPr>
              <a:spcBef>
                <a:spcPts val="1400"/>
              </a:spcBef>
              <a:defRPr sz="1800">
                <a:solidFill>
                  <a:srgbClr val="FFFFFF"/>
                </a:solidFill>
              </a:defRPr>
            </a:pPr>
            <a:r>
              <a:t>Standar internasional yang dikeluarkan oleh: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0B7C72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WHO (World Health Organization)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0B7C72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CDC (Centers for Disease Control and Prevention)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0B7C72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Kementerian Kesehatan Republik Indonesia</a:t>
            </a:r>
          </a:p>
          <a:p>
            <a:pPr>
              <a:spcBef>
                <a:spcPts val="2400"/>
              </a:spcBef>
            </a:pPr>
            <a:r>
              <a:rPr sz="1800" b="1">
                <a:solidFill>
                  <a:srgbClr val="C8962E"/>
                </a:solidFill>
              </a:rPr>
              <a:t>Prinsip Utama: </a:t>
            </a:r>
            <a:r>
              <a:rPr sz="1700">
                <a:solidFill>
                  <a:srgbClr val="94A3B8"/>
                </a:solidFill>
              </a:rPr>
              <a:t>Klasifikasi Spaulding — menentukan metode penanganan alat berdasarkan tingkat risiko penularan infeksi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KLASIFIKASI SPAULDING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47472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C2626"/>
                </a:solidFill>
                <a:latin typeface="Calibri"/>
              </a:defRPr>
            </a:pPr>
            <a:r>
              <a:t>🔴  KRITIS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108960" cy="914400"/>
          </a:xfrm>
          <a:prstGeom prst="roundRect">
            <a:avLst/>
          </a:prstGeom>
          <a:solidFill>
            <a:srgbClr val="0D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Area Kontak:</a:t>
            </a:r>
            <a:br/>
            <a:r>
              <a:t>Jaringan steril atau pembuluh darah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3108960" cy="13716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200400"/>
            <a:ext cx="310896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STERILISASI</a:t>
            </a:r>
            <a:br/>
            <a:r>
              <a:t>(Wajib membunuh semua</a:t>
            </a:r>
            <a:br/>
            <a:r>
              <a:t>mikroba &amp; spora)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Contoh Alat: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06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Instrumen bedah</a:t>
            </a:r>
            <a:br/>
            <a:r>
              <a:t>Kateter</a:t>
            </a:r>
            <a:br/>
            <a:r>
              <a:t>Implan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79" y="1188720"/>
            <a:ext cx="347472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A580C"/>
                </a:solidFill>
                <a:latin typeface="Calibri"/>
              </a:defRPr>
            </a:pPr>
            <a:r>
              <a:t>🟠  SEMI-KRITIS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2103120"/>
            <a:ext cx="3108960" cy="914400"/>
          </a:xfrm>
          <a:prstGeom prst="roundRect">
            <a:avLst/>
          </a:prstGeom>
          <a:solidFill>
            <a:srgbClr val="0D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2148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Area Kontak:</a:t>
            </a:r>
            <a:br/>
            <a:r>
              <a:t>Selaput lendir (mukosa)</a:t>
            </a:r>
            <a:br/>
            <a:r>
              <a:t>atau kulit yang terluka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200400"/>
            <a:ext cx="3108960" cy="13716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59" y="3200400"/>
            <a:ext cx="31089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9" y="3291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DISINFEKSI TINGKAT</a:t>
            </a:r>
            <a:br/>
            <a:r>
              <a:t>TINGGI (DTT)</a:t>
            </a:r>
            <a:br/>
            <a:r>
              <a:t>(Membunuh semua mikroba,</a:t>
            </a:r>
            <a:br/>
            <a:r>
              <a:t>kecuali spora dalam jumlah besar)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1999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Contoh Alat: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1206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Endoskop</a:t>
            </a:r>
            <a:br/>
            <a:r>
              <a:t>Sirkuit ventilator</a:t>
            </a:r>
            <a:br/>
            <a:r>
              <a:t>Spekulum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188720"/>
            <a:ext cx="347472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6A34A"/>
                </a:solidFill>
                <a:latin typeface="Calibri"/>
              </a:defRPr>
            </a:pPr>
            <a:r>
              <a:t>🟢  NON-KRITIS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599" y="2103120"/>
            <a:ext cx="3108960" cy="914400"/>
          </a:xfrm>
          <a:prstGeom prst="roundRect">
            <a:avLst/>
          </a:prstGeom>
          <a:solidFill>
            <a:srgbClr val="0D1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39" y="2148840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Area Kontak:</a:t>
            </a:r>
            <a:br/>
            <a:r>
              <a:t>Kulit yang utuh/sehat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599" y="3200400"/>
            <a:ext cx="3108960" cy="13716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599" y="3200400"/>
            <a:ext cx="3108960" cy="457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39" y="32918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DISINFEKSI TINGKAT</a:t>
            </a:r>
            <a:br/>
            <a:r>
              <a:t>RENDAH / MENENGAH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4754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Contoh Alat: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9" y="51206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Stetoskop</a:t>
            </a:r>
            <a:br/>
            <a:r>
              <a:t>Manset tensimeter</a:t>
            </a:r>
            <a:br/>
            <a:r>
              <a:t>Permukaan bed pasien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LANGKAH 1: PRE-CLEANING (Pembersihan Awal)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64240" cy="128016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EA580C"/>
                </a:solidFill>
              </a:rPr>
              <a:t>⏰  </a:t>
            </a:r>
            <a:r>
              <a:rPr sz="2000" b="1">
                <a:solidFill>
                  <a:srgbClr val="FFFFFF"/>
                </a:solidFill>
              </a:rPr>
              <a:t>Segera setelah alat digunakan — di tempat penggunaan!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3474720" cy="36576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474720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017520"/>
            <a:ext cx="914400" cy="9144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7C72"/>
                </a:solidFill>
                <a:latin typeface="Calibri"/>
              </a:defRPr>
            </a:pPr>
            <a:r>
              <a:t>BILAS LANGSUNG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Bilas alat medis langsung di tempat penggunaan untuk mencegah darah, cairan tubuh, atau jaringan mengering.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743200"/>
            <a:ext cx="3474720" cy="36576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743200"/>
            <a:ext cx="347472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77839" y="3017520"/>
            <a:ext cx="914400" cy="9144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C2626"/>
                </a:solidFill>
                <a:latin typeface="Calibri"/>
              </a:defRPr>
            </a:pPr>
            <a:r>
              <a:t>CEGAH BIOFILM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466344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Kotoran yang mengering dapat membentuk biofilm (lapisan lendir pelindung bakteri) yang sangat sulit dibersihkan.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2743200"/>
            <a:ext cx="3474720" cy="36576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2743200"/>
            <a:ext cx="347472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79" y="3017520"/>
            <a:ext cx="914400" cy="914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4114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563EB"/>
                </a:solidFill>
                <a:latin typeface="Calibri"/>
              </a:defRPr>
            </a:pPr>
            <a:r>
              <a:t>GUNAKAN MEDIA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466344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Gunakan air mengalir atau semprotkan busa enzimatik khusus (enzymatic foam).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LANGKAH 2: PEMBERSIHAN UTAMA (Cleaning &amp; Scrubbing)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64240" cy="109728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DC2626"/>
                </a:solidFill>
              </a:rPr>
              <a:t>⚠️  </a:t>
            </a:r>
            <a:r>
              <a:rPr sz="1800" b="1">
                <a:solidFill>
                  <a:srgbClr val="DC2626"/>
                </a:solidFill>
              </a:rPr>
              <a:t>WAJIB mengenakan APD lengkap sebelum memulai proses pembersihan!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1064240" cy="393192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7C72"/>
                </a:solidFill>
              </a:defRPr>
            </a:pPr>
            <a:r>
              <a:t>Ruang Dekontaminasi (CSSD)</a:t>
            </a:r>
          </a:p>
          <a:p>
            <a:pPr>
              <a:spcBef>
                <a:spcPts val="1600"/>
              </a:spcBef>
              <a:defRPr sz="1700">
                <a:solidFill>
                  <a:srgbClr val="FFFFFF"/>
                </a:solidFill>
              </a:defRPr>
            </a:pPr>
            <a:r>
              <a:t>Bawa alat ke ruang dekontaminasi (CSSD — Central Sterile Supply Department)</a:t>
            </a:r>
          </a:p>
          <a:p>
            <a:pPr>
              <a:spcBef>
                <a:spcPts val="1400"/>
              </a:spcBef>
              <a:defRPr sz="1800" b="1">
                <a:solidFill>
                  <a:srgbClr val="C8962E"/>
                </a:solidFill>
              </a:defRPr>
            </a:pPr>
            <a:r>
              <a:t>Langkah Pembersihan:</a:t>
            </a:r>
          </a:p>
          <a:p>
            <a:pPr lvl="1">
              <a:spcBef>
                <a:spcPts val="1000"/>
              </a:spcBef>
            </a:pPr>
            <a:r>
              <a:rPr sz="1700">
                <a:solidFill>
                  <a:srgbClr val="0B7C72"/>
                </a:solidFill>
              </a:rPr>
              <a:t>▸  </a:t>
            </a:r>
            <a:r>
              <a:rPr sz="1700">
                <a:solidFill>
                  <a:srgbClr val="FFFFFF"/>
                </a:solidFill>
              </a:rPr>
              <a:t>Rendam alat dalam larutan detergen enzimatik sesuai dosis penunjuk kemasan</a:t>
            </a:r>
          </a:p>
          <a:p>
            <a:pPr lvl="1">
              <a:spcBef>
                <a:spcPts val="1000"/>
              </a:spcBef>
            </a:pPr>
            <a:r>
              <a:rPr sz="1700">
                <a:solidFill>
                  <a:srgbClr val="0B7C72"/>
                </a:solidFill>
              </a:rPr>
              <a:t>▸  </a:t>
            </a:r>
            <a:r>
              <a:rPr sz="1700">
                <a:solidFill>
                  <a:srgbClr val="FFFFFF"/>
                </a:solidFill>
              </a:rPr>
              <a:t>Lakukan penyikatan secara manual menggunakan sikat lembut di bawah permukaan air</a:t>
            </a:r>
          </a:p>
          <a:p>
            <a:pPr lvl="1">
              <a:spcBef>
                <a:spcPts val="1000"/>
              </a:spcBef>
            </a:pPr>
            <a:r>
              <a:rPr sz="1700">
                <a:solidFill>
                  <a:srgbClr val="0B7C72"/>
                </a:solidFill>
              </a:rPr>
              <a:t>▸  </a:t>
            </a:r>
            <a:r>
              <a:rPr sz="1700">
                <a:solidFill>
                  <a:srgbClr val="FFFFFF"/>
                </a:solidFill>
              </a:rPr>
              <a:t>Hindari cipratan cairan (aerosol) ke wajah Anda</a:t>
            </a:r>
          </a:p>
          <a:p>
            <a:pPr lvl="1">
              <a:spcBef>
                <a:spcPts val="1000"/>
              </a:spcBef>
            </a:pPr>
            <a:r>
              <a:rPr sz="1700">
                <a:solidFill>
                  <a:srgbClr val="0B7C72"/>
                </a:solidFill>
              </a:rPr>
              <a:t>▸  </a:t>
            </a:r>
            <a:r>
              <a:rPr sz="1700">
                <a:solidFill>
                  <a:srgbClr val="FFFFFF"/>
                </a:solidFill>
              </a:rPr>
              <a:t>Untuk alat berongga (lumen), gunakan sikat tabung yang sesuai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LANGKAH 3: PEMBILASAN &amp; PENGERINGAN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2563EB"/>
                </a:solidFill>
              </a:rPr>
              <a:t>💧  </a:t>
            </a:r>
            <a:r>
              <a:rPr sz="2400" b="1">
                <a:solidFill>
                  <a:srgbClr val="2563EB"/>
                </a:solidFill>
              </a:rPr>
              <a:t>PEMBILASAN</a:t>
            </a:r>
          </a:p>
          <a:p>
            <a:pPr>
              <a:spcBef>
                <a:spcPts val="2000"/>
              </a:spcBef>
              <a:defRPr sz="1700">
                <a:solidFill>
                  <a:srgbClr val="FFFFFF"/>
                </a:solidFill>
              </a:defRPr>
            </a:pPr>
            <a:r>
              <a:t>Menghilangkan residu kimia dari alat</a:t>
            </a:r>
          </a:p>
          <a:p>
            <a:pPr>
              <a:spcBef>
                <a:spcPts val="1600"/>
              </a:spcBef>
              <a:defRPr sz="1600">
                <a:solidFill>
                  <a:srgbClr val="94A3B8"/>
                </a:solidFill>
              </a:defRPr>
            </a:pPr>
            <a:r>
              <a:t>▸  Bilas seluruh alat dengan air bersih yang mengalir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</a:defRPr>
            </a:pPr>
            <a:r>
              <a:t>▸  Diutamakan menggunakan air murni (demineralized water)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</a:defRPr>
            </a:pPr>
            <a:r>
              <a:t>▸  Air murni mencegah terbentuknya kerak mineral pada alat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39496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>
                <a:solidFill>
                  <a:srgbClr val="16A34A"/>
                </a:solidFill>
              </a:rPr>
              <a:t>🌬️  </a:t>
            </a:r>
            <a:r>
              <a:rPr sz="2400" b="1">
                <a:solidFill>
                  <a:srgbClr val="16A34A"/>
                </a:solidFill>
              </a:rPr>
              <a:t>PENGERINGAN</a:t>
            </a:r>
          </a:p>
          <a:p>
            <a:pPr>
              <a:spcBef>
                <a:spcPts val="2000"/>
              </a:spcBef>
              <a:defRPr sz="1700">
                <a:solidFill>
                  <a:srgbClr val="FFFFFF"/>
                </a:solidFill>
              </a:defRPr>
            </a:pPr>
            <a:r>
              <a:t>Memastikan alat sepenuhnya kering</a:t>
            </a:r>
          </a:p>
          <a:p>
            <a:pPr>
              <a:spcBef>
                <a:spcPts val="1600"/>
              </a:spcBef>
              <a:defRPr sz="1600">
                <a:solidFill>
                  <a:srgbClr val="94A3B8"/>
                </a:solidFill>
              </a:defRPr>
            </a:pPr>
            <a:r>
              <a:t>▸  Gunakan kain bersih bebas serat (lint-free cloth)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</a:defRPr>
            </a:pPr>
            <a:r>
              <a:t>▸  Atau gunakan udara bertekanan medis</a:t>
            </a:r>
          </a:p>
          <a:p>
            <a:pPr>
              <a:spcBef>
                <a:spcPts val="1000"/>
              </a:spcBef>
              <a:defRPr sz="1600">
                <a:solidFill>
                  <a:srgbClr val="94A3B8"/>
                </a:solidFill>
              </a:defRPr>
            </a:pPr>
            <a:r>
              <a:t>▸  Alat yang lembap menurunkan efektivitas sterilisasi gas atau kimia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LANGKAH 4: DISINFEKSI / STERILISASI UTAMA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47472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🔴  ALAT KRITIS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108960" cy="9144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STERILISASI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Metode: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Mesin Autoklaf (uap panas bertekanan)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Suhu 121°C atau 134°C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Sterilisasi plasma/suhu rendah untuk alat sensitif panas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188720"/>
            <a:ext cx="347472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580C"/>
                </a:solidFill>
                <a:latin typeface="Calibri"/>
              </a:defRPr>
            </a:pPr>
            <a:r>
              <a:t>🟠  ALAT SEMI-KRITIS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2194560"/>
            <a:ext cx="3108960" cy="9144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DISINFEKSI TINGKAT TINGGI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3291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Metode: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36576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Bahan kimia: glutaraldehyde atau hydrogen peroxide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Waktu perendaman sesuai standar baku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Membunuh semua mikroba kecuali spora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188720"/>
            <a:ext cx="347472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1188720"/>
            <a:ext cx="3474720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14630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🟢  ALAT NON-KRITIS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599" y="2194560"/>
            <a:ext cx="3108960" cy="914400"/>
          </a:xfrm>
          <a:prstGeom prst="roundRect">
            <a:avLst/>
          </a:prstGeom>
          <a:solidFill>
            <a:srgbClr val="1A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39" y="22860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DISINFEKSI TINGKAT RENDAH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2918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8962E"/>
                </a:solidFill>
                <a:latin typeface="Calibri"/>
              </a:defRPr>
            </a:pPr>
            <a:r>
              <a:t>Metode: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3657600"/>
            <a:ext cx="29260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Seka dengan disinfektan tingkat rendah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Alkohol 70% atau cairan berbasis klorin</a:t>
            </a:r>
          </a:p>
          <a:p>
            <a:pPr>
              <a:spcBef>
                <a:spcPts val="800"/>
              </a:spcBef>
              <a:defRPr sz="1400">
                <a:solidFill>
                  <a:srgbClr val="94A3B8"/>
                </a:solidFill>
              </a:defRPr>
            </a:pPr>
            <a:r>
              <a:t>▸  Cukup untuk kulit utuh/sehat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LANGKAH 5: PENYIMPANAN BERSIH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1064240" cy="52120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46304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6A34A"/>
                </a:solidFill>
              </a:defRPr>
            </a:pPr>
            <a:r>
              <a:t>Menjaga Sterilitas Alat</a:t>
            </a:r>
          </a:p>
          <a:p>
            <a:pPr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Alat yang sudah disterilkan harus disimpan dengan benar untuk mempertahankan kondisi steril: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16A34A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Simpan dalam kemasan khusus (pouch) tertutup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16A34A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Masukkan ke dalam lemari tertutup dengan suhu dan kelembapan terkontrol</a:t>
            </a:r>
          </a:p>
          <a:p>
            <a:pPr>
              <a:spcBef>
                <a:spcPts val="1600"/>
              </a:spcBef>
            </a:pPr>
            <a:r>
              <a:rPr sz="1800" b="1">
                <a:solidFill>
                  <a:srgbClr val="C8962E"/>
                </a:solidFill>
              </a:rPr>
              <a:t>Prinsip FIFO: </a:t>
            </a:r>
            <a:r>
              <a:rPr sz="1700">
                <a:solidFill>
                  <a:srgbClr val="94A3B8"/>
                </a:solidFill>
              </a:rPr>
              <a:t>First In, First Out — alat yang disterilkan lebih dulu digunakan terlebih dahulu</a:t>
            </a:r>
          </a:p>
          <a:p>
            <a:pPr>
              <a:spcBef>
                <a:spcPts val="2000"/>
              </a:spcBef>
              <a:defRPr sz="1800" b="1">
                <a:solidFill>
                  <a:srgbClr val="0B7C72"/>
                </a:solidFill>
              </a:defRPr>
            </a:pPr>
            <a:r>
              <a:t>Pemeriksaan Kemasan: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0B7C72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Periksa indikator kimia pada kemasan untuk memastikan sterilisasi berhasil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0B7C72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Indikator berubah warna menandakan proses sterilisasi selesai sempurna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1064240" cy="1280160"/>
          </a:xfrm>
          <a:prstGeom prst="roundRect">
            <a:avLst/>
          </a:prstGeom>
          <a:solidFill>
            <a:srgbClr val="5C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6576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</a:rPr>
              <a:t>⚠️  PERINGATAN KESELAMATAN PENTING  ⚠️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697480" cy="45720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6974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Masker Pelindung Wajah</a:t>
            </a:r>
            <a:br/>
            <a:r>
              <a:t>(Faceshield)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2331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Melindungi wajah dari cipratan cairan dan aerosol berbahaya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697480" cy="45720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26974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9260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Gaun Kedap Air</a:t>
            </a:r>
            <a:br/>
            <a:r>
              <a:t>(Waterproof Gown)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023360"/>
            <a:ext cx="2331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Mencegah kontaminasi cairan tubuh ke tubuh petugas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1828800"/>
            <a:ext cx="2697480" cy="45720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59" y="1828800"/>
            <a:ext cx="26974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29260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Apron Pelindung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4023360"/>
            <a:ext cx="2331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Lapisan tambahan untuk proteksi tubuh bagian depan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19" y="1828800"/>
            <a:ext cx="2697480" cy="457200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19" y="1828800"/>
            <a:ext cx="269748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599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🖐️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599" y="29260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Sarung Tangan Tebal</a:t>
            </a:r>
            <a:br/>
            <a:r>
              <a:t>(Utility Gloves)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4023360"/>
            <a:ext cx="2331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Khusus dekontaminasi — melindungi dari tusukan jarum dan instrumen tajam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RINGKASAN — 5 Langkah Dekontaminasi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148840" cy="47548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4884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1737360"/>
            <a:ext cx="914400" cy="9144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A580C"/>
                </a:solidFill>
                <a:latin typeface="Calibri"/>
              </a:defRPr>
            </a:pPr>
            <a:r>
              <a:t>PRE-</a:t>
            </a:r>
            <a:br/>
            <a:r>
              <a:t>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Bilas langsung</a:t>
            </a:r>
            <a:br/>
            <a:r>
              <a:t>setelah pemakaian</a:t>
            </a:r>
            <a:br/>
            <a:r>
              <a:t>untuk cegah biofilm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463040"/>
            <a:ext cx="2148840" cy="47548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97479" y="1463040"/>
            <a:ext cx="2148840" cy="54864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91839" y="1737360"/>
            <a:ext cx="914400" cy="9144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B7C72"/>
                </a:solidFill>
                <a:latin typeface="Calibri"/>
              </a:defRPr>
            </a:pPr>
            <a:r>
              <a:t>PEMBERSIHAN</a:t>
            </a:r>
            <a:br/>
            <a:r>
              <a:t>UTAMA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Rendam detergen</a:t>
            </a:r>
            <a:br/>
            <a:r>
              <a:t>enzimatik + sikat</a:t>
            </a:r>
            <a:br/>
            <a:r>
              <a:t>manual di bawah air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463040"/>
            <a:ext cx="2148840" cy="47548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463040"/>
            <a:ext cx="21488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Calibri"/>
              </a:defRPr>
            </a:pPr>
            <a:r>
              <a:t>PEMBILASAN</a:t>
            </a:r>
            <a:br/>
            <a:r>
              <a:t>&amp; PENGERINGAN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Air bersih mengalir</a:t>
            </a:r>
            <a:br/>
            <a:r>
              <a:t>+ kain bebas serat</a:t>
            </a:r>
            <a:br/>
            <a:r>
              <a:t>atau udara tekan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19" y="1463040"/>
            <a:ext cx="2148840" cy="47548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0919" y="1463040"/>
            <a:ext cx="214884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55279" y="1737360"/>
            <a:ext cx="914400" cy="9144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C2626"/>
                </a:solidFill>
                <a:latin typeface="Calibri"/>
              </a:defRPr>
            </a:pPr>
            <a:r>
              <a:t>STERILISASI</a:t>
            </a:r>
            <a:br/>
            <a:r>
              <a:t>/ DISINFEKSI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Sesuai klasifikasi</a:t>
            </a:r>
            <a:br/>
            <a:r>
              <a:t>Spaulding: Autoklaf</a:t>
            </a:r>
            <a:br/>
            <a:r>
              <a:t>atau bahan kimia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1463040"/>
            <a:ext cx="2148840" cy="4754880"/>
          </a:xfrm>
          <a:prstGeom prst="roundRect">
            <a:avLst/>
          </a:prstGeom>
          <a:solidFill>
            <a:srgbClr val="12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92640" y="1463040"/>
            <a:ext cx="2148840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87000" y="1737360"/>
            <a:ext cx="914400" cy="9144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6A34A"/>
                </a:solidFill>
                <a:latin typeface="Calibri"/>
              </a:defRPr>
            </a:pPr>
            <a:r>
              <a:t>PENYIMPANAN</a:t>
            </a:r>
            <a:br/>
            <a:r>
              <a:t>BERSIH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Pouch tertutup</a:t>
            </a:r>
            <a:br/>
            <a:r>
              <a:t>FIFO + indikator</a:t>
            </a:r>
            <a:br/>
            <a:r>
              <a:t>kimia steril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4008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8962E"/>
                </a:solidFill>
                <a:latin typeface="Calibri"/>
              </a:defRPr>
            </a:pPr>
            <a:r>
              <a:t>Standar WHO &amp; CDC  |  Klasifikasi Spaulding  |  Patuhi Protokol Dekontaminasi!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