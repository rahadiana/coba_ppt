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B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PROSEDUR PEMBERSIHAN &amp;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DEKONTAMINASI PERALATAN MEDIS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291840"/>
            <a:ext cx="3962095" cy="54864"/>
          </a:xfrm>
          <a:prstGeom prst="rect">
            <a:avLst/>
          </a:prstGeom>
          <a:solidFill>
            <a:srgbClr val="009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DDEE"/>
                </a:solidFill>
                <a:latin typeface="Calibri"/>
              </a:defRPr>
            </a:pPr>
            <a:r>
              <a:t>Berdasarkan Klasifikasi Spaulding &amp; Standar WHO/CDC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0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080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CCEE"/>
                </a:solidFill>
                <a:latin typeface="Calibri"/>
              </a:defRPr>
            </a:pPr>
            <a:r>
              <a:t>Memutus Rantai Penyebaran Infeksi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080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CCEE"/>
                </a:solidFill>
                <a:latin typeface="Calibri"/>
              </a:defRPr>
            </a:pPr>
            <a:r>
              <a:t>Standar Internasional • Evidence-Based Practice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DAFTAR ISI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280160"/>
            <a:ext cx="411480" cy="411480"/>
          </a:xfrm>
          <a:prstGeom prst="ellipse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2618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Pentingnya Dekontaminasi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5361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Mengapa prosedur ini vital bagi keselamatan pasien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874519"/>
            <a:ext cx="411480" cy="411480"/>
          </a:xfrm>
          <a:prstGeom prst="ellipse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5623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Klasifikasi Spaulding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305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Tiga kategori alat medis berdasarkan risiko penularan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468880"/>
            <a:ext cx="411480" cy="411480"/>
          </a:xfrm>
          <a:prstGeom prst="ellipse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450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Tahapan Dekontaminasi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2491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5 langkah wajib yang harus diikuti secara ketat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063240"/>
            <a:ext cx="411480" cy="411480"/>
          </a:xfrm>
          <a:prstGeom prst="ellipse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44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Pre-Cleaning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192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Pembersihan awal segera setelah alat digunakan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657600"/>
            <a:ext cx="411480" cy="411480"/>
          </a:xfrm>
          <a:prstGeom prst="ellipse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6393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Pembersihan Utama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9136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Scrubbing dengan detergen enzimatik di CSSD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251960"/>
            <a:ext cx="411480" cy="411480"/>
          </a:xfrm>
          <a:prstGeom prst="ellipse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2336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Pembilasan &amp; Pengeringan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079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Menghilangkan residu kimia dan mempersiapkan sterilisasi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846320"/>
            <a:ext cx="411480" cy="411480"/>
          </a:xfrm>
          <a:prstGeom prst="ellipse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828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Disinfeksi &amp; Sterilisasi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1023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Metode berdasarkan Klasifikasi Spaulding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440679"/>
            <a:ext cx="411480" cy="411480"/>
          </a:xfrm>
          <a:prstGeom prst="ellipse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4223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Penyimpanan Bersih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69671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Menjaga sterilitas dengan prinsip FIFO</a:t>
            </a:r>
          </a:p>
        </p:txBody>
      </p:sp>
      <p:sp>
        <p:nvSpPr>
          <p:cNvPr id="28" name="Oval 27"/>
          <p:cNvSpPr/>
          <p:nvPr/>
        </p:nvSpPr>
        <p:spPr>
          <a:xfrm>
            <a:off x="914400" y="6035040"/>
            <a:ext cx="411480" cy="411480"/>
          </a:xfrm>
          <a:prstGeom prst="ellipse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60167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Keselamatan Kerja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62910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APD lengkap untuk melindungi petugas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01  PENTINGNYA DEKONTAMINASI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  <a:latin typeface="Calibri"/>
              </a:defRPr>
            </a:pPr>
            <a:r>
              <a:t>Membersihkan dan mendekontaminasi peralatan medis bukan sekadar membuatnya terlihat bersih,</a:t>
            </a:r>
            <a:br/>
            <a:r>
              <a:t>melainkan prosedur vital untuk memutus rantai penyebaran infeksi.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3383280" cy="3474720"/>
          </a:xfrm>
          <a:prstGeom prst="roundRect">
            <a:avLst/>
          </a:prstGeom>
          <a:solidFill>
            <a:srgbClr val="F5FAFC"/>
          </a:solidFill>
          <a:ln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005B96"/>
                </a:solidFill>
                <a:latin typeface="Calibri"/>
              </a:defRPr>
            </a:pPr>
            <a:r>
              <a:t>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8404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5B96"/>
                </a:solidFill>
                <a:latin typeface="Calibri"/>
              </a:defRPr>
            </a:pPr>
            <a:r>
              <a:t>HAI (Healthcare-Associated Infections)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57200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Infeksi nosokomial yang dapat dicegah melalui prosedur dekontaminasi yang tepat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743200"/>
            <a:ext cx="3383280" cy="3474720"/>
          </a:xfrm>
          <a:prstGeom prst="roundRect">
            <a:avLst/>
          </a:prstGeom>
          <a:solidFill>
            <a:srgbClr val="F5FAFC"/>
          </a:solidFill>
          <a:ln>
            <a:solidFill>
              <a:srgbClr val="009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0175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00964B"/>
                </a:solidFill>
                <a:latin typeface="Calibri"/>
              </a:defRPr>
            </a:pPr>
            <a:r>
              <a:t>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8404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4B"/>
                </a:solidFill>
                <a:latin typeface="Calibri"/>
              </a:defRPr>
            </a:pPr>
            <a:r>
              <a:t>Biofilm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457200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Lapisan lendir pelindung bakteri yang terbentuk dari kotoran organik yang mengering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743200"/>
            <a:ext cx="3383280" cy="3474720"/>
          </a:xfrm>
          <a:prstGeom prst="roundRect">
            <a:avLst/>
          </a:prstGeom>
          <a:solidFill>
            <a:srgbClr val="F5FAFC"/>
          </a:solidFill>
          <a:ln>
            <a:solidFill>
              <a:srgbClr val="008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30175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008CBA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8404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8CBA"/>
                </a:solidFill>
                <a:latin typeface="Calibri"/>
              </a:defRPr>
            </a:pPr>
            <a:r>
              <a:t>Standar WHO &amp; CDC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57200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Pedoman internasional yang mengatur prosedur dekontaminasi peralatan medis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02  KLASIFIKASI SPAULDING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Standar internasional yang dikeluarkan oleh WHO dan CDC untuk menentukan metode penanganan alat berdasarkan tingkat risiko penularannya.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3474720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🔴  KRITIS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0000"/>
                </a:solidFill>
                <a:latin typeface="Calibri"/>
              </a:defRPr>
            </a:pPr>
            <a:r>
              <a:t>Area Kontak: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Jaringan steril atau</a:t>
            </a:r>
            <a:br/>
            <a:r>
              <a:t>pembuluh darah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59" y="3977639"/>
            <a:ext cx="2926080" cy="1828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69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0000"/>
                </a:solidFill>
                <a:latin typeface="Calibri"/>
              </a:defRPr>
            </a:pPr>
            <a:r>
              <a:t>Tingkat Penanganan: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434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STERILISASI</a:t>
            </a:r>
            <a:br/>
            <a:r>
              <a:t>(Wajib membunuh semua</a:t>
            </a:r>
            <a:br/>
            <a:r>
              <a:t>mikroba &amp; spora)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" y="5349240"/>
            <a:ext cx="2926080" cy="1828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440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0000"/>
                </a:solidFill>
                <a:latin typeface="Calibri"/>
              </a:defRPr>
            </a:pPr>
            <a:r>
              <a:t>Contoh Alat: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150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Instrumen bedah</a:t>
            </a:r>
            <a:br/>
            <a:r>
              <a:t>Kateter</a:t>
            </a:r>
            <a:br/>
            <a:r>
              <a:t>Implan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01168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2011680"/>
            <a:ext cx="3474720" cy="8229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21031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🟡  SEMI-KRITIS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971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Area Kontak: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2461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Selaput lendir (mukosa)</a:t>
            </a:r>
            <a:br/>
            <a:r>
              <a:t>atau kulit yang terluka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3977639"/>
            <a:ext cx="2926080" cy="1828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069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Tingkat Penanganan: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3434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DISINFEKSI</a:t>
            </a:r>
            <a:br/>
            <a:r>
              <a:t>TINGKAT TINGGI (DTT)</a:t>
            </a:r>
            <a:br/>
            <a:r>
              <a:t>(Membunuh semua mikroba,</a:t>
            </a:r>
            <a:br/>
            <a:r>
              <a:t>kecuali spora dalam jumlah besar)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5349240"/>
            <a:ext cx="2926080" cy="1828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5440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Contoh Alat: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7150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Endoskop</a:t>
            </a:r>
            <a:br/>
            <a:r>
              <a:t>Sirkuit ventilator</a:t>
            </a:r>
            <a:br/>
            <a:r>
              <a:t>Spekulum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201168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09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2011680"/>
            <a:ext cx="3474720" cy="822960"/>
          </a:xfrm>
          <a:prstGeom prst="rect">
            <a:avLst/>
          </a:prstGeom>
          <a:solidFill>
            <a:srgbClr val="009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21031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🟢  NON-KRITIS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971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4B"/>
                </a:solidFill>
                <a:latin typeface="Calibri"/>
              </a:defRPr>
            </a:pPr>
            <a:r>
              <a:t>Area Kontak: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2461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Kulit yang utuh/sehat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03920" y="3977639"/>
            <a:ext cx="2926080" cy="18288"/>
          </a:xfrm>
          <a:prstGeom prst="rect">
            <a:avLst/>
          </a:prstGeom>
          <a:solidFill>
            <a:srgbClr val="009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4069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4B"/>
                </a:solidFill>
                <a:latin typeface="Calibri"/>
              </a:defRPr>
            </a:pPr>
            <a:r>
              <a:t>Tingkat Penanganan: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3434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DISINFEKSI</a:t>
            </a:r>
            <a:br/>
            <a:r>
              <a:t>TINGKAT RENDAH/</a:t>
            </a:r>
            <a:br/>
            <a:r>
              <a:t>MENENGAH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03920" y="5349240"/>
            <a:ext cx="2926080" cy="18288"/>
          </a:xfrm>
          <a:prstGeom prst="rect">
            <a:avLst/>
          </a:prstGeom>
          <a:solidFill>
            <a:srgbClr val="009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5440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4B"/>
                </a:solidFill>
                <a:latin typeface="Calibri"/>
              </a:defRPr>
            </a:pPr>
            <a:r>
              <a:t>Contoh Alat: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57150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Stetoskop</a:t>
            </a:r>
            <a:br/>
            <a:r>
              <a:t>Manset tensimeter</a:t>
            </a:r>
            <a:br/>
            <a:r>
              <a:t>Permukaan bed pasien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03  TAHAPAN DEKONTAMINASI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Urutan dalam proses dekontaminasi bersifat mutlak. Anda tidak boleh langsung mensterilkan alat tanpa membersihkannya terlebih dahulu.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103120" cy="3200400"/>
          </a:xfrm>
          <a:prstGeom prst="roundRect">
            <a:avLst/>
          </a:prstGeom>
          <a:solidFill>
            <a:srgbClr val="F5FAFC"/>
          </a:solidFill>
          <a:ln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34440" y="2468880"/>
            <a:ext cx="548640" cy="548640"/>
          </a:xfrm>
          <a:prstGeom prst="ellipse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004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5B96"/>
                </a:solidFill>
                <a:latin typeface="Calibri"/>
              </a:defRPr>
            </a:pPr>
            <a:r>
              <a:t>Pre-Cleaning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Pembersihan Awal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06040" y="3474720"/>
            <a:ext cx="228600" cy="365760"/>
          </a:xfrm>
          <a:prstGeom prst="rightArrow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40" y="2286000"/>
            <a:ext cx="2103120" cy="3200400"/>
          </a:xfrm>
          <a:prstGeom prst="roundRect">
            <a:avLst/>
          </a:prstGeom>
          <a:solidFill>
            <a:srgbClr val="F5FAFC"/>
          </a:solidFill>
          <a:ln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11880" y="2468880"/>
            <a:ext cx="548640" cy="548640"/>
          </a:xfrm>
          <a:prstGeom prst="ellipse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32004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5B96"/>
                </a:solidFill>
                <a:latin typeface="Calibri"/>
              </a:defRPr>
            </a:pPr>
            <a:r>
              <a:t>Cleaning &amp;</a:t>
            </a:r>
            <a:br/>
            <a:r>
              <a:t>Scrubbing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Pembersihan Utama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983480" y="3474720"/>
            <a:ext cx="228600" cy="365760"/>
          </a:xfrm>
          <a:prstGeom prst="rightArrow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12080" y="2286000"/>
            <a:ext cx="2103120" cy="3200400"/>
          </a:xfrm>
          <a:prstGeom prst="roundRect">
            <a:avLst/>
          </a:prstGeom>
          <a:solidFill>
            <a:srgbClr val="F5FAFC"/>
          </a:solidFill>
          <a:ln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89320" y="2468880"/>
            <a:ext cx="548640" cy="548640"/>
          </a:xfrm>
          <a:prstGeom prst="ellipse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32004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5B96"/>
                </a:solidFill>
                <a:latin typeface="Calibri"/>
              </a:defRPr>
            </a:pPr>
            <a:r>
              <a:t>Pembilasan &amp;</a:t>
            </a:r>
            <a:br/>
            <a:r>
              <a:t>Pengeringan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Menghilangkan Residu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360920" y="3474720"/>
            <a:ext cx="228600" cy="365760"/>
          </a:xfrm>
          <a:prstGeom prst="rightArrow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89520" y="2286000"/>
            <a:ext cx="2103120" cy="3200400"/>
          </a:xfrm>
          <a:prstGeom prst="roundRect">
            <a:avLst/>
          </a:prstGeom>
          <a:solidFill>
            <a:srgbClr val="F5FAFC"/>
          </a:solidFill>
          <a:ln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66760" y="2468880"/>
            <a:ext cx="548640" cy="548640"/>
          </a:xfrm>
          <a:prstGeom prst="ellipse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80" y="32004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5B96"/>
                </a:solidFill>
                <a:latin typeface="Calibri"/>
              </a:defRPr>
            </a:pPr>
            <a:r>
              <a:t>Disinfeksi/</a:t>
            </a:r>
            <a:br/>
            <a:r>
              <a:t>Sterilisasi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Berdasarkan Spaulding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738360" y="3474720"/>
            <a:ext cx="228600" cy="365760"/>
          </a:xfrm>
          <a:prstGeom prst="rightArrow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966960" y="2286000"/>
            <a:ext cx="2103120" cy="3200400"/>
          </a:xfrm>
          <a:prstGeom prst="roundRect">
            <a:avLst/>
          </a:prstGeom>
          <a:solidFill>
            <a:srgbClr val="F5FAFC"/>
          </a:solidFill>
          <a:ln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44200" y="2468880"/>
            <a:ext cx="548640" cy="548640"/>
          </a:xfrm>
          <a:prstGeom prst="ellipse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32004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5B96"/>
                </a:solidFill>
                <a:latin typeface="Calibri"/>
              </a:defRPr>
            </a:pPr>
            <a:r>
              <a:t>Penyimpanan</a:t>
            </a:r>
            <a:br/>
            <a:r>
              <a:t>Bersih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Menjaga Sterilitas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760720"/>
            <a:ext cx="10728655" cy="731520"/>
          </a:xfrm>
          <a:prstGeom prst="roundRect">
            <a:avLst/>
          </a:prstGeom>
          <a:solidFill>
            <a:srgbClr val="FFF3E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8521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8C00"/>
                </a:solidFill>
                <a:latin typeface="Calibri"/>
              </a:defRPr>
            </a:pPr>
            <a:r>
              <a:t>⚠️  Kotoran yang mengering dapat membentuk biofilm yang sangat sulit dibersihkan!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04  PRE-CLEANING — PEMBERSIHAN AWAL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45720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LANGKAH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280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Segera setelah alat digunakan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6858000" cy="4389120"/>
          </a:xfrm>
          <a:prstGeom prst="roundRect">
            <a:avLst/>
          </a:prstGeom>
          <a:solidFill>
            <a:srgbClr val="E8F4F8"/>
          </a:solidFill>
          <a:ln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96"/>
                </a:solidFill>
                <a:latin typeface="Calibri"/>
              </a:defRPr>
            </a:pPr>
            <a:r>
              <a:t>Tujuan: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77439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Mencegah darah, cairan tubuh, atau jaringan mengering pada permukaan alat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26079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96"/>
                </a:solidFill>
                <a:latin typeface="Calibri"/>
              </a:defRPr>
            </a:pPr>
            <a:r>
              <a:t>Waktu: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00399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SEGERA setelah alat digunakan — jangan ditunda!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49039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96"/>
                </a:solidFill>
                <a:latin typeface="Calibri"/>
              </a:defRPr>
            </a:pPr>
            <a:r>
              <a:t>Metode: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023359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Bilas alat medis langsung di tempat penggunaan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57200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96"/>
                </a:solidFill>
                <a:latin typeface="Calibri"/>
              </a:defRPr>
            </a:pPr>
            <a:r>
              <a:t>Cairan: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463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Gunakan air mengalir atau semprotkan busa enzimatik khusus (enzymatic foam)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39496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96"/>
                </a:solidFill>
                <a:latin typeface="Calibri"/>
              </a:defRPr>
            </a:pPr>
            <a:r>
              <a:t>Bahaya: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6692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Kotoran yang mengering membentuk BIOFILM — lapisan lendir pelindung bakteri yang sangat sulit dibersihkan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920240"/>
            <a:ext cx="3383280" cy="4389120"/>
          </a:xfrm>
          <a:prstGeom prst="roundRect">
            <a:avLst/>
          </a:prstGeom>
          <a:solidFill>
            <a:srgbClr val="FFEBEE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C0000"/>
                </a:solidFill>
                <a:latin typeface="Calibri"/>
              </a:defRPr>
            </a:pPr>
            <a:r>
              <a:t>🔴 PENTING!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7432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0000"/>
                </a:solidFill>
                <a:latin typeface="Calibri"/>
              </a:defRPr>
            </a:pPr>
            <a:r>
              <a:t>Pre-Cleaning adalah langkah KRITIS yang sering terlupakan.</a:t>
            </a:r>
            <a:br/>
            <a:br/>
            <a:r>
              <a:t>Jika dilewatkan:</a:t>
            </a:r>
            <a:br/>
            <a:r>
              <a:t>• Biofilm terbentuk</a:t>
            </a:r>
            <a:br/>
            <a:r>
              <a:t>• Sterilisasi menjadi kurang efektif</a:t>
            </a:r>
            <a:br/>
            <a:r>
              <a:t>• Risiko infeksi meningkat</a:t>
            </a:r>
            <a:br/>
            <a:br/>
            <a:r>
              <a:t>Selalu lakukan pre-cleaning SEBELUM memindahkan alat ke CSSD!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05  PEMBERSIHAN UTAMA — CLEANING &amp; SCRUBBING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457200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LANGKAH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280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Menggunakan APD lengkap di ruang dekontaminasi (CSSD)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457200" cy="365760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74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CBA"/>
                </a:solidFill>
                <a:latin typeface="Calibri"/>
              </a:defRPr>
            </a:pPr>
            <a:r>
              <a:t>1. APD Lengkap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94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Gunakan APD sebelum memulai proses pembersihan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457200" cy="365760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51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CBA"/>
                </a:solidFill>
                <a:latin typeface="Calibri"/>
              </a:defRPr>
            </a:pPr>
            <a:r>
              <a:t>2. Perendaman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71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Rendam alat dalam larutan detergen enzimatik sesuai dosis penunjuk kemasan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457200" cy="365760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429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CBA"/>
                </a:solidFill>
                <a:latin typeface="Calibri"/>
              </a:defRPr>
            </a:pPr>
            <a:r>
              <a:t>3. Penyikatan Manual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749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Lakukan penyikatan menggunakan sikat lembut di bawah permukaan air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51960"/>
            <a:ext cx="457200" cy="365760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206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CBA"/>
                </a:solidFill>
                <a:latin typeface="Calibri"/>
              </a:defRPr>
            </a:pPr>
            <a:r>
              <a:t>4. Pencegahan Aerosol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526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Pastikan penyikatan dilakukan di bawah air untuk menghindari cipratan ke wajah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29200"/>
            <a:ext cx="457200" cy="365760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983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CBA"/>
                </a:solidFill>
                <a:latin typeface="Calibri"/>
              </a:defRPr>
            </a:pPr>
            <a:r>
              <a:t>5. Alat Berongga (Lumen)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303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Gunakan sikat tabung yang sesuai untuk membersihkan bagian dalam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1920240"/>
            <a:ext cx="4114800" cy="4389120"/>
          </a:xfrm>
          <a:prstGeom prst="roundRect">
            <a:avLst/>
          </a:prstGeom>
          <a:solidFill>
            <a:srgbClr val="FFF8E1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21031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Calibri"/>
              </a:defRPr>
            </a:pPr>
            <a:r>
              <a:t>⚠️ PERINGATAN KESELAMATAN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2743200"/>
            <a:ext cx="37490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Selalu kenakan APD lengkap:</a:t>
            </a:r>
            <a:br/>
            <a:r>
              <a:t>  - Faceshield</a:t>
            </a:r>
            <a:br/>
            <a:r>
              <a:t>  - Gaun kedap air</a:t>
            </a:r>
            <a:br/>
            <a:r>
              <a:t>  - Apron</a:t>
            </a:r>
            <a:br/>
            <a:r>
              <a:t>  - Sarung tangan tebal</a:t>
            </a:r>
            <a:br/>
            <a:br/>
            <a:r>
              <a:t>• Penyikatan HARUS di bawah permukaan air</a:t>
            </a:r>
            <a:br/>
            <a:br/>
            <a:r>
              <a:t>• Gunakan sikat yang sesuai dengan jenis alat</a:t>
            </a:r>
            <a:br/>
            <a:br/>
            <a:r>
              <a:t>• Periksa dosis detergen sesuai kemasan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06  PEMBILASAN &amp; PENGERINGAN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457200"/>
          </a:xfrm>
          <a:prstGeom prst="roundRect">
            <a:avLst/>
          </a:prstGeom>
          <a:solidFill>
            <a:srgbClr val="009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LANGKAH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280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Menghilangkan residu kimia dan mempersiapkan alat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303520" cy="4206240"/>
          </a:xfrm>
          <a:prstGeom prst="roundRect">
            <a:avLst/>
          </a:prstGeom>
          <a:solidFill>
            <a:srgbClr val="E8F4F8"/>
          </a:solidFill>
          <a:ln>
            <a:solidFill>
              <a:srgbClr val="009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4B"/>
                </a:solidFill>
                <a:latin typeface="Calibri"/>
              </a:defRPr>
            </a:pPr>
            <a:r>
              <a:t>💧 PEMBILASAN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346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Bilas seluruh alat dengan air bersih yang mengalir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3832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Diutamakan menggunakan air murni (demineralized) agar tidak meninggalkan kerak mineral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9319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Pastikan seluruh permukaan alat terbilas dengan sempurna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48055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Periksa bagian-bagian tersembunyi dan lipatan alat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11680"/>
            <a:ext cx="5029200" cy="4206240"/>
          </a:xfrm>
          <a:prstGeom prst="roundRect">
            <a:avLst/>
          </a:prstGeom>
          <a:solidFill>
            <a:srgbClr val="E8F5E9"/>
          </a:solidFill>
          <a:ln>
            <a:solidFill>
              <a:srgbClr val="009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1945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4B"/>
                </a:solidFill>
                <a:latin typeface="Calibri"/>
              </a:defRPr>
            </a:pPr>
            <a:r>
              <a:t>🌬️ PENGERINGAN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8346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Keringkan alat sepenuhnya menggunakan kain bersih bebas serat (lint-free cloth)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3832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Alternatif: gunakan udara bertekanan medis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931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Pastikan tidak ada area yang masih lembap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48055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Alat yang lembap dapat menurunkan efektivitas sterilisasi gas atau kimia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669280"/>
            <a:ext cx="10728655" cy="54864"/>
          </a:xfrm>
          <a:prstGeom prst="rect">
            <a:avLst/>
          </a:prstGeom>
          <a:solidFill>
            <a:srgbClr val="009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852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💡 Air demineralized sangat direkomendasikan karena tidak meninggalkan mineral deposit yang dapat mengganggu proses sterilisasi.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07  DISINFEKSI &amp; STERILISASI UTAMA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4572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LANGKAH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280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Metode berdasarkan Klasifikasi Spaulding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3566160" cy="7315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🔴  ALAT KRITIS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C0000"/>
                </a:solidFill>
                <a:latin typeface="Calibri"/>
              </a:defRPr>
            </a:pPr>
            <a:r>
              <a:t>STERILISASI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37560"/>
            <a:ext cx="3017520" cy="274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Autoklaf (sterilisasi uap panas bertekanan)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Suhu: 121°C atau 134°C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Sterilisasi plasma/suhu rendah untuk alat sensitif panas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Membunuh SEMUA mikroba &amp; spora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92024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920240"/>
            <a:ext cx="3566160" cy="7315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116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🟡  ALAT SEMI-KRITIS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Calibri"/>
              </a:defRPr>
            </a:pPr>
            <a:r>
              <a:t>DISINFEKSI TINGKAT TINGGI (DTT)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3337560"/>
            <a:ext cx="3017520" cy="274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474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Glutaraldehyde cair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931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Hydrogen peroxide cair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389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Waktu perendaman sesuai standar baku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846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Membunuh semua mikroba kecuali spora dalam jumlah besar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192024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09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920240"/>
            <a:ext cx="3566160" cy="731520"/>
          </a:xfrm>
          <a:prstGeom prst="rect">
            <a:avLst/>
          </a:prstGeom>
          <a:solidFill>
            <a:srgbClr val="009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20116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🟢  ALAT NON-KRITIS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4B"/>
                </a:solidFill>
                <a:latin typeface="Calibri"/>
              </a:defRPr>
            </a:pPr>
            <a:r>
              <a:t>DISINFEKSI TINGKAT RENDAH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3337560"/>
            <a:ext cx="3017520" cy="27432"/>
          </a:xfrm>
          <a:prstGeom prst="rect">
            <a:avLst/>
          </a:prstGeom>
          <a:solidFill>
            <a:srgbClr val="009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3474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Alkohol 70%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931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Cairan berbasis klorin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389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Cukup seka pada permukaan alat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846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Untuk alat yang kontak dengan kulit utuh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08  PENYIMPANAN BERSIH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45720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LANGKAH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280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Menjaga sterilitas setelah proses sterilisasi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1FA2"/>
                </a:solidFill>
                <a:latin typeface="Calibri"/>
              </a:defRPr>
            </a:pPr>
            <a:r>
              <a:t>Kemasan Khusus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860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Alat yang sudah disterilkan harus dikemas dalam pouch khusus sterilisasi yang sesuai standar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926080"/>
            <a:ext cx="548640" cy="54864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🗄️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880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1FA2"/>
                </a:solidFill>
                <a:latin typeface="Calibri"/>
              </a:defRPr>
            </a:pPr>
            <a:r>
              <a:t>Lemari Tertutup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004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Simpan di dalam lemari tertutup dengan suhu dan kelembapan terkontrol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840480"/>
            <a:ext cx="548640" cy="54864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794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1FA2"/>
                </a:solidFill>
                <a:latin typeface="Calibri"/>
              </a:defRPr>
            </a:pPr>
            <a:r>
              <a:t>Prinsip FIFO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114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First In, First Out — gunakan alat yang steril paling lama terlebih dahulu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754880"/>
            <a:ext cx="548640" cy="54864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709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1FA2"/>
                </a:solidFill>
                <a:latin typeface="Calibri"/>
              </a:defRPr>
            </a:pPr>
            <a:r>
              <a:t>Indikator Kimia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0292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Periksa indikator kimia pada kemasan untuk memastikan sterilisasi berhasil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5669280"/>
            <a:ext cx="548640" cy="54864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623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1FA2"/>
                </a:solidFill>
                <a:latin typeface="Calibri"/>
              </a:defRPr>
            </a:pPr>
            <a:r>
              <a:t>Dokumentasi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943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Catat tanggal, nomor batch, dan hasil indikator untuk tracing jika diperlukan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2011680"/>
            <a:ext cx="3657600" cy="4114800"/>
          </a:xfrm>
          <a:prstGeom prst="roundRect">
            <a:avLst/>
          </a:prstGeom>
          <a:solidFill>
            <a:srgbClr val="F5FAFC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2194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B1FA2"/>
                </a:solidFill>
                <a:latin typeface="Calibri"/>
              </a:defRPr>
            </a:pPr>
            <a:r>
              <a:t>🔄 PRINSIP FIFO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27432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First In, First Out</a:t>
            </a:r>
            <a:br/>
            <a:br/>
            <a:r>
              <a:t>Alat yang steril paling lama disimpan harus digunakan terlebih dahulu.</a:t>
            </a:r>
            <a:br/>
            <a:br/>
            <a:r>
              <a:t>Ini memastikan:</a:t>
            </a:r>
            <a:br/>
            <a:r>
              <a:t>• Tidak ada alat yang melewati masa kadaluarsa steril</a:t>
            </a:r>
            <a:br/>
            <a:r>
              <a:t>• Rotasi stok berjalan optimal</a:t>
            </a:r>
            <a:br/>
            <a:r>
              <a:t>• Kualitas sterilisasi tetap terjaga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09  KESELAMATAN KERJA — APD LENGKAP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0000"/>
                </a:solidFill>
                <a:latin typeface="Calibri"/>
              </a:defRPr>
            </a:pPr>
            <a:r>
              <a:t>Petugas wajib mengenakan Alat Pelindung Diri (APD) lengkap selama SELURUH proses dekontaminasi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26517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651760" cy="10972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Calibri"/>
              </a:defRPr>
            </a:pPr>
            <a:r>
              <a:t>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C0000"/>
                </a:solidFill>
                <a:latin typeface="Calibri"/>
              </a:defRPr>
            </a:pPr>
            <a:r>
              <a:t>Faceshield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Pelindung wajah dari cipratan dan aerosol berbahaya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03120"/>
            <a:ext cx="26517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03120"/>
            <a:ext cx="2651760" cy="10972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1945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Calibri"/>
              </a:defRPr>
            </a:pPr>
            <a:r>
              <a:t>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Calibri"/>
              </a:defRPr>
            </a:pPr>
            <a:r>
              <a:t>Gaun Kedap Air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8404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Mencegah kontaminasi cairan tubuh ke pakaian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103120"/>
            <a:ext cx="26517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103120"/>
            <a:ext cx="2651760" cy="109728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1945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Calibri"/>
              </a:defRPr>
            </a:pPr>
            <a:r>
              <a:t> apron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5B96"/>
                </a:solidFill>
                <a:latin typeface="Calibri"/>
              </a:defRPr>
            </a:pPr>
            <a:r>
              <a:t>Apron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8404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Lapisan pelindung tambahan untuk bagian depan tubuh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2103120"/>
            <a:ext cx="26517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008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2103120"/>
            <a:ext cx="2651760" cy="1097280"/>
          </a:xfrm>
          <a:prstGeom prst="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21945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Calibri"/>
              </a:defRPr>
            </a:pPr>
            <a:r>
              <a:t>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8CBA"/>
                </a:solidFill>
                <a:latin typeface="Calibri"/>
              </a:defRPr>
            </a:pPr>
            <a:r>
              <a:t>Sarung Tangan Tebal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38404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Utility gloves khusus dekontaminasi — melindungi dari tusukan jarum/instrumen tajam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852160"/>
            <a:ext cx="10728655" cy="640080"/>
          </a:xfrm>
          <a:prstGeom prst="roundRect">
            <a:avLst/>
          </a:prstGeom>
          <a:solidFill>
            <a:srgbClr val="FFEBEE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8978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C0000"/>
                </a:solidFill>
                <a:latin typeface="Calibri"/>
              </a:defRPr>
            </a:pPr>
            <a:r>
              <a:t>⚠️  RISIKO: Tusukan jarum, instrumen tajam, paparan cairan tubuh yang terkontaminasi!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B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RINGKASAN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1188720"/>
            <a:ext cx="3962095" cy="54864"/>
          </a:xfrm>
          <a:prstGeom prst="rect">
            <a:avLst/>
          </a:prstGeom>
          <a:solidFill>
            <a:srgbClr val="009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1645920"/>
            <a:ext cx="502920" cy="502920"/>
          </a:xfrm>
          <a:prstGeom prst="ellipse">
            <a:avLst/>
          </a:prstGeom>
          <a:solidFill>
            <a:srgbClr val="009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600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Pre-Cleaning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920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DEE"/>
                </a:solidFill>
                <a:latin typeface="Calibri"/>
              </a:defRPr>
            </a:pPr>
            <a:r>
              <a:t>Segera setelah alat digunakan, bilas untuk mencegah biofilm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2560320"/>
            <a:ext cx="502920" cy="502920"/>
          </a:xfrm>
          <a:prstGeom prst="ellipse">
            <a:avLst/>
          </a:prstGeom>
          <a:solidFill>
            <a:srgbClr val="009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514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Cleaning &amp; Scrubbing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83463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DEE"/>
                </a:solidFill>
                <a:latin typeface="Calibri"/>
              </a:defRPr>
            </a:pPr>
            <a:r>
              <a:t>Gunakan detergen enzimatik dengan APD lengkap di CSSD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3474720"/>
            <a:ext cx="502920" cy="502920"/>
          </a:xfrm>
          <a:prstGeom prst="ellipse">
            <a:avLst/>
          </a:prstGeom>
          <a:solidFill>
            <a:srgbClr val="009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429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Pembilasan &amp; Pengeringan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74903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DEE"/>
                </a:solidFill>
                <a:latin typeface="Calibri"/>
              </a:defRPr>
            </a:pPr>
            <a:r>
              <a:t>Hilangkan residu kimia, keringkan sepenuhnya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4389120"/>
            <a:ext cx="502920" cy="502920"/>
          </a:xfrm>
          <a:prstGeom prst="ellipse">
            <a:avLst/>
          </a:prstGeom>
          <a:solidFill>
            <a:srgbClr val="009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Disinfeksi/Sterilisasi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663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DEE"/>
                </a:solidFill>
                <a:latin typeface="Calibri"/>
              </a:defRPr>
            </a:pPr>
            <a:r>
              <a:t>Berdasarkan Klasifikasi Spaulding (Kritis/Semi-Kritis/Non-Kritis)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5303520"/>
            <a:ext cx="502920" cy="502920"/>
          </a:xfrm>
          <a:prstGeom prst="ellipse">
            <a:avLst/>
          </a:prstGeom>
          <a:solidFill>
            <a:srgbClr val="009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5257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Penyimpanan Bersih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5577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DEE"/>
                </a:solidFill>
                <a:latin typeface="Calibri"/>
              </a:defRPr>
            </a:pPr>
            <a:r>
              <a:t>Simpan dalam kemasan steril, prinsip FIFO, cek indikator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B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TERIMA KASIH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926080"/>
            <a:ext cx="3962095" cy="54864"/>
          </a:xfrm>
          <a:prstGeom prst="rect">
            <a:avLst/>
          </a:prstGeom>
          <a:solidFill>
            <a:srgbClr val="009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DDEE"/>
                </a:solidFill>
                <a:latin typeface="Calibri"/>
              </a:defRPr>
            </a:pPr>
            <a:r>
              <a:t>Memutus Rantai Penyebaran Infeksi</a:t>
            </a:r>
            <a:br/>
            <a:r>
              <a:t>Melalui Prosedur Dekontaminasi yang Tepat &amp; Konsisten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BBDD"/>
                </a:solidFill>
                <a:latin typeface="Calibri"/>
              </a:defRPr>
            </a:pPr>
            <a:r>
              <a:t>"Standar internasional WHO &amp; CDC — Klasifikasi Spaulding"</a:t>
            </a:r>
            <a:br/>
            <a:r>
              <a:t>Evidence-Based Practice untuk Keselamatan Pasien &amp; Petugas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0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0807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CCEE"/>
                </a:solidFill>
                <a:latin typeface="Calibri"/>
              </a:defRPr>
            </a:pPr>
            <a:r>
              <a:t> healthcare • infection prevention • quality assurance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