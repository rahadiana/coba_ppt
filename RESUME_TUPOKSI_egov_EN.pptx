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19695" y="-457200"/>
            <a:ext cx="5029200" cy="4572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16975" y="3200400"/>
            <a:ext cx="4114800" cy="41148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59" y="1371600"/>
            <a:ext cx="731520" cy="7315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30121"/>
            <a:ext cx="7315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  <a:latin typeface="Segoe UI Emoji"/>
              </a:defRPr>
            </a:pPr>
            <a: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463040"/>
            <a:ext cx="92656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Calibri"/>
              </a:defRPr>
            </a:pPr>
            <a:r>
              <a:t>RESUME OF MAIN TASKS</a:t>
            </a:r>
            <a:br/>
            <a:r>
              <a:t>&amp;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6F7F5"/>
                </a:solidFill>
                <a:latin typeface="Calibri"/>
              </a:defRPr>
            </a:pPr>
            <a:r>
              <a:t>e-Government Division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DISKOMINFOSTANDI Bekasi City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2286000" cy="348386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8136"/>
            <a:ext cx="12191695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08200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Three Strategic Pillars of e-Government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F7F5"/>
                </a:solidFill>
                <a:latin typeface="Calibri"/>
              </a:defRPr>
            </a:pPr>
            <a:r>
              <a:t>The e-Government Division drives 3 main pillars in Bekasi City's digital transformation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39" y="1417320"/>
            <a:ext cx="3484778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39" y="1417320"/>
            <a:ext cx="3484778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39" y="1691640"/>
            <a:ext cx="502920" cy="50292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39" y="1731873"/>
            <a:ext cx="502920" cy="4274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FFFFFF"/>
                </a:solidFill>
                <a:latin typeface="Segoe UI Emoji"/>
              </a:defRPr>
            </a:pPr>
            <a:r>
              <a:t>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17647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39" y="2423160"/>
            <a:ext cx="302757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628"/>
                </a:solidFill>
                <a:latin typeface="Calibri"/>
              </a:defRPr>
            </a:pPr>
            <a:r>
              <a:t>Application Development</a:t>
            </a:r>
            <a:br/>
            <a:r>
              <a:t>&amp; Information Systems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39" y="3291839"/>
            <a:ext cx="3027578" cy="174193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39" y="3474720"/>
            <a:ext cx="302757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Overseeing standards &amp; quality</a:t>
            </a:r>
            <a:br/>
            <a:r>
              <a:t>of application development and</a:t>
            </a:r>
            <a:br/>
            <a:r>
              <a:t>connecting regional services</a:t>
            </a:r>
            <a:br/>
            <a:r>
              <a:t>through SPLP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3458" y="1417320"/>
            <a:ext cx="3484778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3458" y="1417320"/>
            <a:ext cx="3484778" cy="73152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82058" y="1691640"/>
            <a:ext cx="502920" cy="502920"/>
          </a:xfrm>
          <a:prstGeom prst="round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2058" y="1731873"/>
            <a:ext cx="502920" cy="4274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FFFFFF"/>
                </a:solidFill>
                <a:latin typeface="Segoe UI Emoji"/>
              </a:defRPr>
            </a:pPr>
            <a:r>
              <a:t>⚙️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2138" y="17647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7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2058" y="2423160"/>
            <a:ext cx="302757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628"/>
                </a:solidFill>
                <a:latin typeface="Calibri"/>
              </a:defRPr>
            </a:pPr>
            <a:r>
              <a:t>SPBE Governance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82058" y="3291839"/>
            <a:ext cx="3027578" cy="174193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2058" y="3474720"/>
            <a:ext cx="302757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Designing roadmap, architecture</a:t>
            </a:r>
            <a:br/>
            <a:r>
              <a:t>&amp; SPBE policies while</a:t>
            </a:r>
            <a:br/>
            <a:r>
              <a:t>strengthening HR capacity and</a:t>
            </a:r>
            <a:br/>
            <a:r>
              <a:t>Government CIO roles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8276" y="1417320"/>
            <a:ext cx="3484778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58276" y="1417320"/>
            <a:ext cx="3484778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86876" y="1691640"/>
            <a:ext cx="5029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6876" y="1731873"/>
            <a:ext cx="502920" cy="4274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FFFFFF"/>
                </a:solidFill>
                <a:latin typeface="Segoe UI Emoji"/>
              </a:defRPr>
            </a:pPr>
            <a:r>
              <a:t>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6956" y="17647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6876" y="2423160"/>
            <a:ext cx="302757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628"/>
                </a:solidFill>
                <a:latin typeface="Calibri"/>
              </a:defRPr>
            </a:pPr>
            <a:r>
              <a:t>Smart City</a:t>
            </a:r>
            <a:br/>
            <a:r>
              <a:t>Development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86876" y="3291839"/>
            <a:ext cx="3027578" cy="174193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6876" y="3474720"/>
            <a:ext cx="302757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Developing masterplan, building</a:t>
            </a:r>
            <a:br/>
            <a:r>
              <a:t>cross-sector collaboration, and</a:t>
            </a:r>
            <a:br/>
            <a:r>
              <a:t>evaluating Smart City programs</a:t>
            </a:r>
            <a:br/>
            <a:r>
              <a:t>sustainably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446520"/>
            <a:ext cx="12191695" cy="174193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alibri"/>
              </a:defRPr>
            </a:pPr>
            <a:r>
              <a:t>Source: RESUME TUPOKSI egov.docx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7295" y="65105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8136"/>
            <a:ext cx="12191695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08200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Four Strategic Systems &amp;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F7F5"/>
                </a:solidFill>
                <a:latin typeface="Calibri"/>
              </a:defRPr>
            </a:pPr>
            <a:r>
              <a:t>Digital services operated and maintained by the e-Government Division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39" y="1417320"/>
            <a:ext cx="5364327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39" y="1691640"/>
            <a:ext cx="594360" cy="59436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39" y="1739188"/>
            <a:ext cx="594360" cy="5052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FFFFFF"/>
                </a:solidFill>
                <a:latin typeface="Segoe UI Emoji"/>
              </a:defRPr>
            </a:pPr>
            <a: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199" y="1691640"/>
            <a:ext cx="3992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628"/>
                </a:solidFill>
                <a:latin typeface="Calibri"/>
              </a:defRPr>
            </a:pPr>
            <a:r>
              <a:t>City Government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199" y="2194560"/>
            <a:ext cx="399272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Main city government portal</a:t>
            </a:r>
            <a:br/>
            <a:r>
              <a:t>as the center of public</a:t>
            </a:r>
            <a:br/>
            <a:r>
              <a:t>information &amp; services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1417320"/>
            <a:ext cx="5364327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07327" y="1691640"/>
            <a:ext cx="594360" cy="594360"/>
          </a:xfrm>
          <a:prstGeom prst="round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1739188"/>
            <a:ext cx="594360" cy="5052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FFFFFF"/>
                </a:solidFill>
                <a:latin typeface="Segoe UI Emoji"/>
              </a:defRPr>
            </a:pPr>
            <a:r>
              <a:t>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0287" y="1691640"/>
            <a:ext cx="3992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76"/>
                </a:solidFill>
                <a:latin typeface="Calibri"/>
              </a:defRPr>
            </a:pPr>
            <a:r>
              <a:t>Mobile App PSW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0287" y="2194560"/>
            <a:ext cx="399272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Pekan Smart City mobile app</a:t>
            </a:r>
            <a:br/>
            <a:r>
              <a:t>— integrated smart city services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39" y="3383280"/>
            <a:ext cx="5364327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39" y="3657600"/>
            <a:ext cx="594360" cy="5943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39" y="3705148"/>
            <a:ext cx="594360" cy="5052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FFFFFF"/>
                </a:solidFill>
                <a:latin typeface="Segoe UI Emoji"/>
              </a:defRPr>
            </a:pPr>
            <a:r>
              <a:t>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199" y="3657600"/>
            <a:ext cx="3992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Calibri"/>
              </a:defRPr>
            </a:pPr>
            <a:r>
              <a:t>Smart City Website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199" y="4160520"/>
            <a:ext cx="399272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Information &amp; service portal</a:t>
            </a:r>
            <a:br/>
            <a:r>
              <a:t>for Bekasi Smart City program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8727" y="3383280"/>
            <a:ext cx="5364327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07327" y="3657600"/>
            <a:ext cx="59436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327" y="3705148"/>
            <a:ext cx="594360" cy="5052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FFFFFF"/>
                </a:solidFill>
                <a:latin typeface="Segoe UI Emoji"/>
              </a:defRPr>
            </a:pPr>
            <a:r>
              <a:t>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0287" y="3657600"/>
            <a:ext cx="3992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SPLP 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0287" y="4160520"/>
            <a:ext cx="399272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Government Service Gateway</a:t>
            </a:r>
            <a:br/>
            <a:r>
              <a:t>System — integrated with</a:t>
            </a:r>
            <a:br/>
            <a:r>
              <a:t>Kemenkomdigi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91695" cy="174193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alibri"/>
              </a:defRPr>
            </a:pPr>
            <a:r>
              <a:t>Source: RESUME TUPOKSI egov.docx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295" y="65105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8136"/>
            <a:ext cx="12191695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08200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Supervision &amp; Application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F7F5"/>
                </a:solidFill>
                <a:latin typeface="Calibri"/>
              </a:defRPr>
            </a:pPr>
            <a:r>
              <a:t>Scope of work for information system and application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91440" cy="47548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645920"/>
            <a:ext cx="457200" cy="45720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82496"/>
            <a:ext cx="457200" cy="3886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✅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194560"/>
            <a:ext cx="1741932000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682496"/>
            <a:ext cx="97228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Supervision, analysis, and standardization</a:t>
            </a:r>
          </a:p>
          <a:p>
            <a:pPr>
              <a:spcAft>
                <a:spcPts val="1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of regional application development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697480"/>
            <a:ext cx="457200" cy="45720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34056"/>
            <a:ext cx="457200" cy="3886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246120"/>
            <a:ext cx="1741932000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2734056"/>
            <a:ext cx="97228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Managing &amp; developing SPLP as the</a:t>
            </a:r>
          </a:p>
          <a:p>
            <a:pPr>
              <a:spcAft>
                <a:spcPts val="1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backbone of service integration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749039"/>
            <a:ext cx="457200" cy="45720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85615"/>
            <a:ext cx="457200" cy="3886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297679"/>
            <a:ext cx="1741932000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785615"/>
            <a:ext cx="97228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Centralized management of regional</a:t>
            </a:r>
          </a:p>
          <a:p>
            <a:pPr>
              <a:spcAft>
                <a:spcPts val="1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government domains &amp; subdomains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800600"/>
            <a:ext cx="457200" cy="45720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37176"/>
            <a:ext cx="457200" cy="3886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837176"/>
            <a:ext cx="97228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Socialization &amp; capacity building</a:t>
            </a:r>
          </a:p>
          <a:p>
            <a:pPr>
              <a:spcAft>
                <a:spcPts val="1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for information system managers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91695" cy="174193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alibri"/>
              </a:defRPr>
            </a:pPr>
            <a:r>
              <a:t>Source: RESUME TUPOKSI egov.docx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5105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8136"/>
            <a:ext cx="12191695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08200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Smart City Program Acceleration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F7F5"/>
                </a:solidFill>
                <a:latin typeface="Calibri"/>
              </a:defRPr>
            </a:pPr>
            <a:r>
              <a:t>Strategy and collaboration toward an integrated Smart City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91440" cy="4754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645920"/>
            <a:ext cx="45720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82496"/>
            <a:ext cx="457200" cy="3886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⭐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194560"/>
            <a:ext cx="1741932000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682496"/>
            <a:ext cx="97228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Developing strategies, action plans,</a:t>
            </a:r>
          </a:p>
          <a:p>
            <a:pPr>
              <a:spcAft>
                <a:spcPts val="1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and Smart City masterplan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697480"/>
            <a:ext cx="45720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34056"/>
            <a:ext cx="457200" cy="3886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246120"/>
            <a:ext cx="1741932000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2734056"/>
            <a:ext cx="97228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Building collaboration with</a:t>
            </a:r>
          </a:p>
          <a:p>
            <a:pPr>
              <a:spcAft>
                <a:spcPts val="1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cross-sector stakeholders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749039"/>
            <a:ext cx="45720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85615"/>
            <a:ext cx="457200" cy="3886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297679"/>
            <a:ext cx="1741932000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785615"/>
            <a:ext cx="97228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Coordinating &amp; evaluating Smart City</a:t>
            </a:r>
          </a:p>
          <a:p>
            <a:pPr>
              <a:spcAft>
                <a:spcPts val="1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programs on a regular basis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800600"/>
            <a:ext cx="45720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37176"/>
            <a:ext cx="457200" cy="3886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837176"/>
            <a:ext cx="97228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Aligning Smart City masterplan with</a:t>
            </a:r>
          </a:p>
          <a:p>
            <a:pPr>
              <a:spcAft>
                <a:spcPts val="1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regional planning documents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91695" cy="174193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alibri"/>
              </a:defRPr>
            </a:pPr>
            <a:r>
              <a:t>Source: RESUME TUPOKSI egov.docx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5105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8136"/>
            <a:ext cx="12191695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08200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Strengthening SPBE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F7F5"/>
                </a:solidFill>
                <a:latin typeface="Calibri"/>
              </a:defRPr>
            </a:pPr>
            <a:r>
              <a:t>Framework toward a mature e-Government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91440" cy="47548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645920"/>
            <a:ext cx="457200" cy="457200"/>
          </a:xfrm>
          <a:prstGeom prst="round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82496"/>
            <a:ext cx="457200" cy="3886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⚙️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194560"/>
            <a:ext cx="1741932000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682496"/>
            <a:ext cx="97228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Developing SPBE strategy, roadmap,</a:t>
            </a:r>
          </a:p>
          <a:p>
            <a:pPr>
              <a:spcAft>
                <a:spcPts val="1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architecture, and master 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697480"/>
            <a:ext cx="457200" cy="457200"/>
          </a:xfrm>
          <a:prstGeom prst="round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34056"/>
            <a:ext cx="457200" cy="3886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246120"/>
            <a:ext cx="1741932000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2734056"/>
            <a:ext cx="97228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Implementing &amp; coordinating SPBE</a:t>
            </a:r>
          </a:p>
          <a:p>
            <a:pPr>
              <a:spcAft>
                <a:spcPts val="1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programs across regional agencies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749039"/>
            <a:ext cx="457200" cy="457200"/>
          </a:xfrm>
          <a:prstGeom prst="round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85615"/>
            <a:ext cx="457200" cy="3886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297679"/>
            <a:ext cx="1741932000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785615"/>
            <a:ext cx="97228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Developing adaptive SPBE policies</a:t>
            </a:r>
          </a:p>
          <a:p>
            <a:pPr>
              <a:spcAft>
                <a:spcPts val="1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and governance frameworks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800600"/>
            <a:ext cx="457200" cy="457200"/>
          </a:xfrm>
          <a:prstGeom prst="round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37176"/>
            <a:ext cx="457200" cy="3886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837176"/>
            <a:ext cx="97228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Monitoring, evaluation, and continuous</a:t>
            </a:r>
          </a:p>
          <a:p>
            <a:pPr>
              <a:spcAft>
                <a:spcPts val="1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improvement recommendations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91695" cy="174193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alibri"/>
              </a:defRPr>
            </a:pPr>
            <a:r>
              <a:t>Source: RESUME TUPOKSI egov.docx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5105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6895" y="-457200"/>
            <a:ext cx="4572000" cy="4572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30087" y="1097280"/>
            <a:ext cx="731520" cy="7315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0087" y="1155801"/>
            <a:ext cx="7315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  <a:latin typeface="Segoe UI Emoji"/>
              </a:defRPr>
            </a:pPr>
            <a:r>
              <a:t>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6F7F5"/>
                </a:solidFill>
                <a:latin typeface="Calibri"/>
              </a:defRPr>
            </a:pPr>
            <a:r>
              <a:t>e-Government Division DISKOMINFOSTANDI Bekasi City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1447" y="3931920"/>
            <a:ext cx="1828800" cy="2322576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2062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"Realizing smart, integrated, and</a:t>
            </a:r>
            <a:br/>
            <a:r>
              <a:t>sustainable government governance"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