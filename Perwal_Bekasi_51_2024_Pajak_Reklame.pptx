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0D1F3C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0D1F3C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-914400"/>
            <a:ext cx="2743200" cy="2743200"/>
          </a:xfrm>
          <a:prstGeom prst="ellipse">
            <a:avLst/>
          </a:prstGeom>
          <a:solidFill>
            <a:srgbClr val="0D1F3C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64592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82880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456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4" name="Shape 12"/>
          <p:cNvSpPr/>
          <p:nvPr/>
        </p:nvSpPr>
        <p:spPr>
          <a:xfrm>
            <a:off x="237744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5" name="Shape 13"/>
          <p:cNvSpPr/>
          <p:nvPr/>
        </p:nvSpPr>
        <p:spPr>
          <a:xfrm>
            <a:off x="256032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457200"/>
            <a:ext cx="182880" cy="18288"/>
          </a:xfrm>
          <a:prstGeom prst="rect">
            <a:avLst/>
          </a:prstGeom>
          <a:solidFill>
            <a:srgbClr val="B8860B">
              <a:alpha val="4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7280" y="457200"/>
            <a:ext cx="182880" cy="18288"/>
          </a:xfrm>
          <a:prstGeom prst="rect">
            <a:avLst/>
          </a:prstGeom>
          <a:solidFill>
            <a:srgbClr val="B8860B">
              <a:alpha val="4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63040" y="457200"/>
            <a:ext cx="182880" cy="18288"/>
          </a:xfrm>
          <a:prstGeom prst="rect">
            <a:avLst/>
          </a:prstGeom>
          <a:solidFill>
            <a:srgbClr val="B8860B">
              <a:alpha val="4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2286000"/>
            <a:ext cx="36576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822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BEKASI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1520" y="2011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51 TAHUN 2024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1520" y="29260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PAJAK REKLAME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731520" y="4846320"/>
            <a:ext cx="6400800" cy="914400"/>
          </a:xfrm>
          <a:prstGeom prst="roundRect">
            <a:avLst/>
          </a:prstGeom>
          <a:solidFill>
            <a:srgbClr val="0D1F3C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8920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Kota Bekasi  |  20 Desember 2024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sejak diundangkan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ISI RINGKAS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5800" y="47548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Bekasi No 51/2024 · Pengelolaan Pajak Reklame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09728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6928" y="1188720"/>
            <a:ext cx="457200" cy="4572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12115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5" dirty="0"/>
          </a:p>
        </p:txBody>
      </p:sp>
      <p:sp>
        <p:nvSpPr>
          <p:cNvPr id="18" name="Text 16"/>
          <p:cNvSpPr/>
          <p:nvPr/>
        </p:nvSpPr>
        <p:spPr>
          <a:xfrm>
            <a:off x="1143000" y="117043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Umum &amp; Definisi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192024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6928" y="20116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20345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5" dirty="0"/>
          </a:p>
        </p:txBody>
      </p:sp>
      <p:sp>
        <p:nvSpPr>
          <p:cNvPr id="22" name="Text 20"/>
          <p:cNvSpPr/>
          <p:nvPr/>
        </p:nvSpPr>
        <p:spPr>
          <a:xfrm>
            <a:off x="1143000" y="1993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Objek, Subjek &amp; Wajib Pajak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857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5" dirty="0"/>
          </a:p>
        </p:txBody>
      </p:sp>
      <p:sp>
        <p:nvSpPr>
          <p:cNvPr id="26" name="Text 24"/>
          <p:cNvSpPr/>
          <p:nvPr/>
        </p:nvSpPr>
        <p:spPr>
          <a:xfrm>
            <a:off x="1143000" y="281635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&amp; Tahun Pajak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" y="365760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5" dirty="0"/>
          </a:p>
        </p:txBody>
      </p:sp>
      <p:sp>
        <p:nvSpPr>
          <p:cNvPr id="30" name="Text 28"/>
          <p:cNvSpPr/>
          <p:nvPr/>
        </p:nvSpPr>
        <p:spPr>
          <a:xfrm>
            <a:off x="1143000" y="36393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 WP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66928" y="448056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5034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5</a:t>
            </a:r>
            <a:endParaRPr lang="en-US" sz="25" dirty="0"/>
          </a:p>
        </p:txBody>
      </p:sp>
      <p:sp>
        <p:nvSpPr>
          <p:cNvPr id="34" name="Text 32"/>
          <p:cNvSpPr/>
          <p:nvPr/>
        </p:nvSpPr>
        <p:spPr>
          <a:xfrm>
            <a:off x="1143000" y="44622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(NSR)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66928" y="5303520"/>
            <a:ext cx="457200" cy="4572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53263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6</a:t>
            </a:r>
            <a:endParaRPr lang="en-US" sz="25" dirty="0"/>
          </a:p>
        </p:txBody>
      </p:sp>
      <p:sp>
        <p:nvSpPr>
          <p:cNvPr id="38" name="Text 36"/>
          <p:cNvSpPr/>
          <p:nvPr/>
        </p:nvSpPr>
        <p:spPr>
          <a:xfrm>
            <a:off x="1143000" y="528523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&amp; Tarif Pajak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217920" y="109728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327648" y="118872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6327648" y="12115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7</a:t>
            </a:r>
            <a:endParaRPr lang="en-US" sz="25" dirty="0"/>
          </a:p>
        </p:txBody>
      </p:sp>
      <p:sp>
        <p:nvSpPr>
          <p:cNvPr id="42" name="Text 40"/>
          <p:cNvSpPr/>
          <p:nvPr/>
        </p:nvSpPr>
        <p:spPr>
          <a:xfrm>
            <a:off x="6903720" y="117043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&amp; Pembayaran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217920" y="192024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327648" y="2011680"/>
            <a:ext cx="457200" cy="45720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345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8</a:t>
            </a:r>
            <a:endParaRPr lang="en-US" sz="25" dirty="0"/>
          </a:p>
        </p:txBody>
      </p:sp>
      <p:sp>
        <p:nvSpPr>
          <p:cNvPr id="46" name="Text 44"/>
          <p:cNvSpPr/>
          <p:nvPr/>
        </p:nvSpPr>
        <p:spPr>
          <a:xfrm>
            <a:off x="6903720" y="1993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Pembetulan, Keberatan &amp; Banding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17920" y="274320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327648" y="2834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49" name="Text 47"/>
          <p:cNvSpPr/>
          <p:nvPr/>
        </p:nvSpPr>
        <p:spPr>
          <a:xfrm>
            <a:off x="6327648" y="2857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9</a:t>
            </a:r>
            <a:endParaRPr lang="en-US" sz="25" dirty="0"/>
          </a:p>
        </p:txBody>
      </p:sp>
      <p:sp>
        <p:nvSpPr>
          <p:cNvPr id="50" name="Text 48"/>
          <p:cNvSpPr/>
          <p:nvPr/>
        </p:nvSpPr>
        <p:spPr>
          <a:xfrm>
            <a:off x="6903720" y="281635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Pemeriksaan, Penagihan &amp; Penghapusan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217920" y="356616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327648" y="3657600"/>
            <a:ext cx="457200" cy="4572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53" name="Text 51"/>
          <p:cNvSpPr/>
          <p:nvPr/>
        </p:nvSpPr>
        <p:spPr>
          <a:xfrm>
            <a:off x="6327648" y="36804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10</a:t>
            </a:r>
            <a:endParaRPr lang="en-US" sz="25" dirty="0"/>
          </a:p>
        </p:txBody>
      </p:sp>
      <p:sp>
        <p:nvSpPr>
          <p:cNvPr id="54" name="Text 52"/>
          <p:cNvSpPr/>
          <p:nvPr/>
        </p:nvSpPr>
        <p:spPr>
          <a:xfrm>
            <a:off x="6903720" y="36393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Keringanan, Kemudahan &amp; Penghargaan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0" y="4389120"/>
            <a:ext cx="530352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327648" y="448056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7" name="Text 55"/>
          <p:cNvSpPr/>
          <p:nvPr/>
        </p:nvSpPr>
        <p:spPr>
          <a:xfrm>
            <a:off x="6327648" y="45034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11</a:t>
            </a:r>
            <a:endParaRPr lang="en-US" sz="25" dirty="0"/>
          </a:p>
        </p:txBody>
      </p:sp>
      <p:sp>
        <p:nvSpPr>
          <p:cNvPr id="58" name="Text 56"/>
          <p:cNvSpPr/>
          <p:nvPr/>
        </p:nvSpPr>
        <p:spPr>
          <a:xfrm>
            <a:off x="6903720" y="44622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Penutup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0" name="Shape 58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1" name="Shape 59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2" name="Shape 60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3" name="Shape 61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4" name="Shape 62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5" name="Text 6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I: KETENTUAN UMUM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 — Definisi Kunci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 Penting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1051560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1124712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11475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🏛️</a:t>
            </a:r>
            <a:endParaRPr lang="en-US" sz="25" dirty="0"/>
          </a:p>
        </p:txBody>
      </p:sp>
      <p:sp>
        <p:nvSpPr>
          <p:cNvPr id="17" name="Text 15"/>
          <p:cNvSpPr/>
          <p:nvPr/>
        </p:nvSpPr>
        <p:spPr>
          <a:xfrm>
            <a:off x="1280160" y="1088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Daerah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1344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Bekasi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1764792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1837944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18608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endParaRPr lang="en-US" sz="25" dirty="0"/>
          </a:p>
        </p:txBody>
      </p:sp>
      <p:sp>
        <p:nvSpPr>
          <p:cNvPr id="22" name="Text 20"/>
          <p:cNvSpPr/>
          <p:nvPr/>
        </p:nvSpPr>
        <p:spPr>
          <a:xfrm>
            <a:off x="1280160" y="18013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2057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Badan Pendapatan Daerah Kota Bekasi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478024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" y="2551176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25740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📢</a:t>
            </a:r>
            <a:endParaRPr lang="en-US" sz="25" dirty="0"/>
          </a:p>
        </p:txBody>
      </p:sp>
      <p:sp>
        <p:nvSpPr>
          <p:cNvPr id="27" name="Text 25"/>
          <p:cNvSpPr/>
          <p:nvPr/>
        </p:nvSpPr>
        <p:spPr>
          <a:xfrm>
            <a:off x="1280160" y="2514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80160" y="27706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komersial untuk promosi &amp; pengenalan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191256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2872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💰</a:t>
            </a:r>
            <a:endParaRPr lang="en-US" sz="25" dirty="0"/>
          </a:p>
        </p:txBody>
      </p:sp>
      <p:sp>
        <p:nvSpPr>
          <p:cNvPr id="32" name="Text 30"/>
          <p:cNvSpPr/>
          <p:nvPr/>
        </p:nvSpPr>
        <p:spPr>
          <a:xfrm>
            <a:off x="1280160" y="32278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Reklame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80160" y="34838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atas penyelenggaraan reklame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3904488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5800" y="3977640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000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📐</a:t>
            </a:r>
            <a:endParaRPr lang="en-US" sz="25" dirty="0"/>
          </a:p>
        </p:txBody>
      </p:sp>
      <p:sp>
        <p:nvSpPr>
          <p:cNvPr id="37" name="Text 35"/>
          <p:cNvSpPr/>
          <p:nvPr/>
        </p:nvSpPr>
        <p:spPr>
          <a:xfrm>
            <a:off x="1280160" y="3941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280160" y="41970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(dasar pengenaan pajak)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4617720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" y="47137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🆔</a:t>
            </a:r>
            <a:endParaRPr lang="en-US" sz="25" dirty="0"/>
          </a:p>
        </p:txBody>
      </p:sp>
      <p:sp>
        <p:nvSpPr>
          <p:cNvPr id="42" name="Text 40"/>
          <p:cNvSpPr/>
          <p:nvPr/>
        </p:nvSpPr>
        <p:spPr>
          <a:xfrm>
            <a:off x="1280160" y="465429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NPWPD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280160" y="49103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Pokok Wajib Pajak Daerah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5330952"/>
            <a:ext cx="10972800" cy="594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6350" dir="8100000">
              <a:srgbClr val="000000">
                <a:alpha val="4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5800" y="5404104"/>
            <a:ext cx="457200" cy="457200"/>
          </a:xfrm>
          <a:prstGeom prst="ellipse">
            <a:avLst/>
          </a:prstGeom>
          <a:solidFill>
            <a:srgbClr val="E8EDF5"/>
          </a:solidFill>
          <a:ln/>
        </p:spPr>
      </p:sp>
      <p:sp>
        <p:nvSpPr>
          <p:cNvPr id="46" name="Text 44"/>
          <p:cNvSpPr/>
          <p:nvPr/>
        </p:nvSpPr>
        <p:spPr>
          <a:xfrm>
            <a:off x="685800" y="54269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👤</a:t>
            </a:r>
            <a:endParaRPr lang="en-US" sz="25" dirty="0"/>
          </a:p>
        </p:txBody>
      </p:sp>
      <p:sp>
        <p:nvSpPr>
          <p:cNvPr id="47" name="Text 45"/>
          <p:cNvSpPr/>
          <p:nvPr/>
        </p:nvSpPr>
        <p:spPr>
          <a:xfrm>
            <a:off x="1280160" y="53675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280160" y="5623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pribadi/badan dgn hak &amp; kewajiban pajak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0" name="Shape 48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1" name="Shape 49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2" name="Shape 50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3" name="Shape 51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4" name="Shape 52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5" name="Text 53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II: OBJEK, SUBJEK &amp; WAJIB PAJAK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2–4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📝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Pajak Reklame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55168" y="1097280"/>
            <a:ext cx="53035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5168" y="109728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838048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83804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838048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Jenis Reklame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8048" y="214884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Papan/Billboard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Videotron/Megatron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Kain (Spanduk/Umbul/Baliho)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Melekat/Stiker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Selebaran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 (Kendaraan)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(Balon Gas)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Film/Slide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Peragaan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33008" y="1097280"/>
            <a:ext cx="53035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3008" y="109728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15888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41588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🚫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6415888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Dikecualikan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15888" y="214884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Internet, TV, radio, media cetak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Label/merek produk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usaha ≤ 1 m² di tempat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Pemerintah/Pemda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ibadah &amp; panti asuhan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Kegiatan sosial/keagamaan ≤ 30 hr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Kegiatan politik (masa kampanye)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Olahraga KONI ≤ 30 hari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7" name="Shape 25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9" name="Shape 27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0" name="Shape 28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&amp; Wajib Pajak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55168" y="1097280"/>
            <a:ext cx="53035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5168" y="109728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838048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83804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👤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838048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Pajak (Pasal 3)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8048" y="214884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 atau Badan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menggunakan Reklame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33008" y="1097280"/>
            <a:ext cx="53035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3008" y="109728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15888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41588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✋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6415888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 (Pasal 4)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15888" y="214884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 atau Badan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menyelenggarakan Reklame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pihak ketiga → pihak ketiga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Wajib Pajak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7" name="Shape 25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9" name="Shape 27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0" name="Shape 28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III: MASA PAJAK &amp; TAHUN PAJAK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💳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Reklame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6372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3728" y="1188720"/>
            <a:ext cx="25603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56372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0088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(Permanen)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9836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398368" y="118872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339836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53552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(Insidentil)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300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3008" y="1188720"/>
            <a:ext cx="25603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4" name="Text 22"/>
          <p:cNvSpPr/>
          <p:nvPr/>
        </p:nvSpPr>
        <p:spPr>
          <a:xfrm>
            <a:off x="623300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37016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Pajak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6764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067648" y="1188720"/>
            <a:ext cx="2560320" cy="54864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8" name="Text 26"/>
          <p:cNvSpPr/>
          <p:nvPr/>
        </p:nvSpPr>
        <p:spPr>
          <a:xfrm>
            <a:off x="906764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0480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(Bagian Tahun)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347472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Permanen: 12 bulan atau sesuai masa penayangan.  ·  Masa Pajak Insidentil: per hari, maks. 30 hari.  ·  Tahun Pajak: 1 tahun kalender (atau sesuai tahun buku WP).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2" name="Shape 30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3" name="Shape 31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5" name="Shape 33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Shape 34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IV: PENDAFTARAN &amp; PENDATAAN WP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6–8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 WP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105156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PENDAFTARAN (Pasal 6)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wajib daftarkan diri &amp; objek pajak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ambil/online/dikirim petugas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Lampirkan: KTP, NPWP, Akta, NIB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terbitkan NPWPD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tak daftar → NPWPD jabatan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Juga: NOPD &amp; nomor registrasi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5156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PENDATAAN &amp; NONAKTIF (Pasal 7–8)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Pendataan: Bapenda data WP &amp; objek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data geografis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kerjasama dgn instansi lain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Penonaktifan: WP tak penuhi syarat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maks. 3 bulan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Syarat: tanpa tunggakan &amp; keberatan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4" name="Shape 22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5" name="Shape 23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V: NILAI SEWA REKLAME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9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🔚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Faktor Penentu NSR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10972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13053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8" dirty="0"/>
          </a:p>
        </p:txBody>
      </p:sp>
      <p:sp>
        <p:nvSpPr>
          <p:cNvPr id="17" name="Text 15"/>
          <p:cNvSpPr/>
          <p:nvPr/>
        </p:nvSpPr>
        <p:spPr>
          <a:xfrm>
            <a:off x="128016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Reklame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83280" y="10972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20440" y="12801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3520440" y="13053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8" dirty="0"/>
          </a:p>
        </p:txBody>
      </p:sp>
      <p:sp>
        <p:nvSpPr>
          <p:cNvPr id="21" name="Text 19"/>
          <p:cNvSpPr/>
          <p:nvPr/>
        </p:nvSpPr>
        <p:spPr>
          <a:xfrm>
            <a:off x="411480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55080" y="1280160"/>
            <a:ext cx="502920" cy="50292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13053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8" dirty="0"/>
          </a:p>
        </p:txBody>
      </p:sp>
      <p:sp>
        <p:nvSpPr>
          <p:cNvPr id="25" name="Text 23"/>
          <p:cNvSpPr/>
          <p:nvPr/>
        </p:nvSpPr>
        <p:spPr>
          <a:xfrm>
            <a:off x="69494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(Kelas Jalan)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52560" y="10972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89720" y="128016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3053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8" dirty="0"/>
          </a:p>
        </p:txBody>
      </p:sp>
      <p:sp>
        <p:nvSpPr>
          <p:cNvPr id="29" name="Text 27"/>
          <p:cNvSpPr/>
          <p:nvPr/>
        </p:nvSpPr>
        <p:spPr>
          <a:xfrm>
            <a:off x="978408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(detik)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24688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2651760"/>
            <a:ext cx="502920" cy="50292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26769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5</a:t>
            </a:r>
            <a:endParaRPr lang="en-US" sz="28" dirty="0"/>
          </a:p>
        </p:txBody>
      </p:sp>
      <p:sp>
        <p:nvSpPr>
          <p:cNvPr id="33" name="Text 31"/>
          <p:cNvSpPr/>
          <p:nvPr/>
        </p:nvSpPr>
        <p:spPr>
          <a:xfrm>
            <a:off x="1280160" y="26517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 (hari)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383280" y="24688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520440" y="26517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3520440" y="26769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6</a:t>
            </a:r>
            <a:endParaRPr lang="en-US" sz="28" dirty="0"/>
          </a:p>
        </p:txBody>
      </p:sp>
      <p:sp>
        <p:nvSpPr>
          <p:cNvPr id="37" name="Text 35"/>
          <p:cNvSpPr/>
          <p:nvPr/>
        </p:nvSpPr>
        <p:spPr>
          <a:xfrm>
            <a:off x="4114800" y="26517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Media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17920" y="2468880"/>
            <a:ext cx="2560320" cy="10972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55080" y="2651760"/>
            <a:ext cx="502920" cy="50292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40" name="Text 38"/>
          <p:cNvSpPr/>
          <p:nvPr/>
        </p:nvSpPr>
        <p:spPr>
          <a:xfrm>
            <a:off x="6355080" y="267690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7</a:t>
            </a:r>
            <a:endParaRPr lang="en-US" sz="28" dirty="0"/>
          </a:p>
        </p:txBody>
      </p:sp>
      <p:sp>
        <p:nvSpPr>
          <p:cNvPr id="41" name="Text 39"/>
          <p:cNvSpPr/>
          <p:nvPr/>
        </p:nvSpPr>
        <p:spPr>
          <a:xfrm>
            <a:off x="6949440" y="26517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(m²)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3840480"/>
            <a:ext cx="10972800" cy="1645920"/>
          </a:xfrm>
          <a:prstGeom prst="roundRect">
            <a:avLst/>
          </a:prstGeom>
          <a:solidFill>
            <a:srgbClr val="F0F2F5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3931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Kelas Jalan: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31520" y="4251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Kelas Jalan Khusus: Tol | Premium 1 (Jl. A. Yani, Juanda, Sudirman, dll) | Premium 2 (Jl. Narogong, Jatiwaringin, dll)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Kelas Jalan I (Kendali Ketat): Lebar &gt; 3 m, pusat pelayanan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🏡 Kelas Jalan II (Kendali Sedang): Lebar ≤ 3 m, jalan lingkungan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1" name="Shape 49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2" name="Shape 50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3" name="Text 51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VI: PERHITUNGAN &amp; TARIF PAJAK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Dasar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5800" y="47548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· Ketentuan: Tembakau/Miras +50% | Perubahan naskah dikecualikan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372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3728" y="1188720"/>
            <a:ext cx="25603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56372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088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= Tarif × NSR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9836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98368" y="118872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339836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53552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= Nilai × Ukuran × Jml × Waktu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300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3008" y="1188720"/>
            <a:ext cx="25603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23300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7016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= 50% NSR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6764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7648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906764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20480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 &gt;15m = +20%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2" name="Shape 30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3" name="Shape 31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5" name="Shape 33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Shape 34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Papan/Billboard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Shape 13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7" name="Shape 14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0" name="Shape 17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1" name="Text 18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Megatron/Videotron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246888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(/30 dtk)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(/m²/thn)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17,25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13.599.900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13,80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10.879.920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9,20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7.253.280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8,05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6.346.620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5,75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4.533.300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Shape 13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7" name="Shape 14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0" name="Shape 17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1" name="Text 18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Kain (Spanduk/Umbul/Baliho)</a:t>
            </a:r>
            <a:endParaRPr lang="en-US" sz="2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5156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Shape 13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7" name="Shape 14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0" name="Shape 17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1" name="Text 18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Lainnya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-15895472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-15895472" y="1097280"/>
            <a:ext cx="107899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-15712592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-15712592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🏷️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-15712592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Stiker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-15712592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7,5/cm²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750.000/kali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-4831232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-4831232" y="1097280"/>
            <a:ext cx="10789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-4648352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-4648352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🧱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-4648352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Melekat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-4648352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750.000/m²/tahun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33008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33008" y="1097280"/>
            <a:ext cx="107899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8" name="Shape 26"/>
          <p:cNvSpPr/>
          <p:nvPr/>
        </p:nvSpPr>
        <p:spPr>
          <a:xfrm>
            <a:off x="6415888" y="1280160"/>
            <a:ext cx="411480" cy="41148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641588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📄</a:t>
            </a:r>
            <a:endParaRPr lang="en-US" sz="23" dirty="0"/>
          </a:p>
        </p:txBody>
      </p:sp>
      <p:sp>
        <p:nvSpPr>
          <p:cNvPr id="30" name="Text 28"/>
          <p:cNvSpPr/>
          <p:nvPr/>
        </p:nvSpPr>
        <p:spPr>
          <a:xfrm>
            <a:off x="6415888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Selebaran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15888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600/lembar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6.000.000/kali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7297248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7297248" y="1097280"/>
            <a:ext cx="107899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Shape 32"/>
          <p:cNvSpPr/>
          <p:nvPr/>
        </p:nvSpPr>
        <p:spPr>
          <a:xfrm>
            <a:off x="17480128" y="1280160"/>
            <a:ext cx="411480" cy="41148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748012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🚌</a:t>
            </a:r>
            <a:endParaRPr lang="en-US" sz="23" dirty="0"/>
          </a:p>
        </p:txBody>
      </p:sp>
      <p:sp>
        <p:nvSpPr>
          <p:cNvPr id="36" name="Text 34"/>
          <p:cNvSpPr/>
          <p:nvPr/>
        </p:nvSpPr>
        <p:spPr>
          <a:xfrm>
            <a:off x="17480128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7480128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6.000/m²/hari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kendaraan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9" name="Shape 37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2" name="Shape 40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3" name="Shape 41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4" name="Text 42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Lainnya (lanjutan)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-15895472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-15895472" y="1097280"/>
            <a:ext cx="107899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-15712592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-15712592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🎈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-15712592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-15712592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2.400.000/sekali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-4831232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-4831232" y="1097280"/>
            <a:ext cx="10789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-4648352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-4648352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🌊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-4648352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-4648352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600.000/sekali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33008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33008" y="1097280"/>
            <a:ext cx="107899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8" name="Shape 26"/>
          <p:cNvSpPr/>
          <p:nvPr/>
        </p:nvSpPr>
        <p:spPr>
          <a:xfrm>
            <a:off x="6415888" y="1280160"/>
            <a:ext cx="411480" cy="41148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641588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🎬</a:t>
            </a:r>
            <a:endParaRPr lang="en-US" sz="23" dirty="0"/>
          </a:p>
        </p:txBody>
      </p:sp>
      <p:sp>
        <p:nvSpPr>
          <p:cNvPr id="30" name="Text 28"/>
          <p:cNvSpPr/>
          <p:nvPr/>
        </p:nvSpPr>
        <p:spPr>
          <a:xfrm>
            <a:off x="6415888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Film/Slide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15888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12.000/15 detik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7297248" y="1097280"/>
            <a:ext cx="107899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7297248" y="1097280"/>
            <a:ext cx="107899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Shape 32"/>
          <p:cNvSpPr/>
          <p:nvPr/>
        </p:nvSpPr>
        <p:spPr>
          <a:xfrm>
            <a:off x="17480128" y="1280160"/>
            <a:ext cx="411480" cy="41148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748012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🎭</a:t>
            </a:r>
            <a:endParaRPr lang="en-US" sz="23" dirty="0"/>
          </a:p>
        </p:txBody>
      </p:sp>
      <p:sp>
        <p:nvSpPr>
          <p:cNvPr id="36" name="Text 34"/>
          <p:cNvSpPr/>
          <p:nvPr/>
        </p:nvSpPr>
        <p:spPr>
          <a:xfrm>
            <a:off x="17480128" y="17830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Peragaan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7480128" y="214884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480.000/penyelenggaraan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9" name="Shape 37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0" name="Shape 38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2" name="Shape 40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3" name="Shape 41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4" name="Text 42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VII: PENETAPAN, TAGIHAN &amp; PEMBAYARAN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11–14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&amp; Pembayaran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5800" y="47548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11–14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372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3728" y="1188720"/>
            <a:ext cx="25603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56372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088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(batas penetapan)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9836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98368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339836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53552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Bunga/bln (keterlambatan)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300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3008" y="1188720"/>
            <a:ext cx="25603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23300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7016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bulan bunga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67648" y="1188720"/>
            <a:ext cx="256032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67648" y="118872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9067648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204808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(lunas STPD)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2" name="Shape 30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3" name="Shape 31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5" name="Shape 33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Shape 34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Text 35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Penetapan → Pembayaran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1280160"/>
            <a:ext cx="256032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5920" y="1463040"/>
            <a:ext cx="548640" cy="54864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1645920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30" dirty="0"/>
          </a:p>
        </p:txBody>
      </p:sp>
      <p:sp>
        <p:nvSpPr>
          <p:cNvPr id="18" name="Text 16"/>
          <p:cNvSpPr/>
          <p:nvPr/>
        </p:nvSpPr>
        <p:spPr>
          <a:xfrm>
            <a:off x="731520" y="2194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2560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tahun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19202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566160" y="1280160"/>
            <a:ext cx="256032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80560" y="146304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30" dirty="0"/>
          </a:p>
        </p:txBody>
      </p:sp>
      <p:sp>
        <p:nvSpPr>
          <p:cNvPr id="25" name="Text 23"/>
          <p:cNvSpPr/>
          <p:nvPr/>
        </p:nvSpPr>
        <p:spPr>
          <a:xfrm>
            <a:off x="3566160" y="2194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657600" y="2560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bulan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SKPD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19202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400800" y="1280160"/>
            <a:ext cx="256032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0" y="1463040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30" dirty="0"/>
          </a:p>
        </p:txBody>
      </p:sp>
      <p:sp>
        <p:nvSpPr>
          <p:cNvPr id="32" name="Text 30"/>
          <p:cNvSpPr/>
          <p:nvPr/>
        </p:nvSpPr>
        <p:spPr>
          <a:xfrm>
            <a:off x="6400800" y="2194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Telat?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92240" y="2560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 1%/bln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STPD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61120" y="19202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235440" y="1280160"/>
            <a:ext cx="256032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35440" y="128016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149840" y="1463040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10149840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30" dirty="0"/>
          </a:p>
        </p:txBody>
      </p:sp>
      <p:sp>
        <p:nvSpPr>
          <p:cNvPr id="39" name="Text 37"/>
          <p:cNvSpPr/>
          <p:nvPr/>
        </p:nvSpPr>
        <p:spPr>
          <a:xfrm>
            <a:off x="9235440" y="2194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326880" y="2560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30 hari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31520" y="3931920"/>
            <a:ext cx="10698480" cy="1371600"/>
          </a:xfrm>
          <a:prstGeom prst="roundRect">
            <a:avLst/>
          </a:prstGeom>
          <a:solidFill>
            <a:srgbClr val="E8EDF5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402336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Jatuh tempo pembayaran: 1 bulan sejak tanggal pengiriman SKPD. Pembayaran via Bank Persepsi atau tempat lain yang ditunjuk. Stiker sebagai tanda bukti pembayaran.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4" name="Shape 42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5" name="Shape 43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6" name="Shape 44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7" name="Shape 45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8" name="Shape 46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9" name="Text 4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VIII: PEMBETULAN, KEBERATAN &amp; BANDING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15–20, 29–33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 (Pasal 15–20)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105156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PEMBETULAN KETETAPAN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tulis (nama, alamat, NPWPD)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hitung (jumlah, tarif)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Kekeliruan penerapan aturan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permohonan = 1 ketetapan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maks. 6 bulan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6 bulan tanpa putusan → dikabulkan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5156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DAPAT DILAKUKAN BERULANG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19: jabatan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20: berulang jika masih salah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keputusan: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(tambah/kurang/hapus)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| tolak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4" name="Shape 22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5" name="Shape 23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 &amp; Banding (Pasal 29–33)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105156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KEBERATAN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Objek: SKPD, SKPDKB, SKPDKBT, dll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 bulan sejak SKPD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bayar min. yg disetujui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maks. 12 bulan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30%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dikabulkan: + bunga 0,6%/bln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5156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BANDING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Objek: SK Keberatan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badan peradilan pajak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 bulan sejak keputusan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Menangguhkan kewajiban bayar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60%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dikabulkan: + bunga 0,6%/bln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4" name="Shape 22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5" name="Shape 23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IX: PEMERIKSAAN, PENAGIHAN &amp; PENGHAPUSAN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22–26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📝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&amp; Penagihan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0944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9448" y="109728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792328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79232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79232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(Psl 22–23)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32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Bapenda berwenang periksa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kepatuhan WP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wajib: buka buku/dokumen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akses tempat &amp; keterangan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→ pajak ditetapkan jabatan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48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58488" y="109728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41368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454136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📬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454136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Penagihan (Psl 24)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4136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Dasar: SKPD, SKPDKB, SKPDKBT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STPD, SK Pembetulan/Keberatan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 Banding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0752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07528" y="109728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90408" y="1280160"/>
            <a:ext cx="411480" cy="41148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829040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⏳</a:t>
            </a:r>
            <a:endParaRPr lang="en-US" sz="23" dirty="0"/>
          </a:p>
        </p:txBody>
      </p:sp>
      <p:sp>
        <p:nvSpPr>
          <p:cNvPr id="30" name="Text 28"/>
          <p:cNvSpPr/>
          <p:nvPr/>
        </p:nvSpPr>
        <p:spPr>
          <a:xfrm>
            <a:off x="829040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(Psl 25)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9040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tahun sejak pajak terutang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Tertangguh jika ada: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Teguran/Paksa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Pengakuan utang dari WP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3" name="Shape 31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Shape 32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Shape 35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Penghapusan Piutang Pajak (Pasal 26)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1371600"/>
            <a:ext cx="2560320" cy="18288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371600"/>
            <a:ext cx="25603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1463040" y="1554480"/>
            <a:ext cx="457200" cy="4572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1463040" y="15773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1</a:t>
            </a:r>
            <a:endParaRPr lang="en-US" sz="25" dirty="0"/>
          </a:p>
        </p:txBody>
      </p:sp>
      <p:sp>
        <p:nvSpPr>
          <p:cNvPr id="18" name="Text 16"/>
          <p:cNvSpPr/>
          <p:nvPr/>
        </p:nvSpPr>
        <p:spPr>
          <a:xfrm>
            <a:off x="54864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Penelitian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2423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18288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429000" y="1371600"/>
            <a:ext cx="2560320" cy="18288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29000" y="137160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4343400" y="15773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2</a:t>
            </a:r>
            <a:endParaRPr lang="en-US" sz="25" dirty="0"/>
          </a:p>
        </p:txBody>
      </p:sp>
      <p:sp>
        <p:nvSpPr>
          <p:cNvPr id="25" name="Text 23"/>
          <p:cNvSpPr/>
          <p:nvPr/>
        </p:nvSpPr>
        <p:spPr>
          <a:xfrm>
            <a:off x="342900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Peneliti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20440" y="2423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Wali Kota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09360" y="1371600"/>
            <a:ext cx="2560320" cy="18288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1371600"/>
            <a:ext cx="25603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0" name="Shape 28"/>
          <p:cNvSpPr/>
          <p:nvPr/>
        </p:nvSpPr>
        <p:spPr>
          <a:xfrm>
            <a:off x="7223760" y="1554480"/>
            <a:ext cx="457200" cy="45720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15773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3</a:t>
            </a:r>
            <a:endParaRPr lang="en-US" sz="25" dirty="0"/>
          </a:p>
        </p:txBody>
      </p:sp>
      <p:sp>
        <p:nvSpPr>
          <p:cNvPr id="32" name="Text 30"/>
          <p:cNvSpPr/>
          <p:nvPr/>
        </p:nvSpPr>
        <p:spPr>
          <a:xfrm>
            <a:off x="630936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Usulan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2423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Bapenda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18288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189720" y="1371600"/>
            <a:ext cx="2560320" cy="18288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89720" y="1371600"/>
            <a:ext cx="2560320" cy="54864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7" name="Shape 35"/>
          <p:cNvSpPr/>
          <p:nvPr/>
        </p:nvSpPr>
        <p:spPr>
          <a:xfrm>
            <a:off x="10104120" y="15544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8" name="Text 36"/>
          <p:cNvSpPr/>
          <p:nvPr/>
        </p:nvSpPr>
        <p:spPr>
          <a:xfrm>
            <a:off x="10104120" y="15773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4</a:t>
            </a:r>
            <a:endParaRPr lang="en-US" sz="25" dirty="0"/>
          </a:p>
        </p:txBody>
      </p:sp>
      <p:sp>
        <p:nvSpPr>
          <p:cNvPr id="39" name="Text 37"/>
          <p:cNvSpPr/>
          <p:nvPr/>
        </p:nvSpPr>
        <p:spPr>
          <a:xfrm>
            <a:off x="918972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281160" y="2423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Wali Kota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3474720"/>
            <a:ext cx="10972800" cy="1645920"/>
          </a:xfrm>
          <a:prstGeom prst="roundRect">
            <a:avLst/>
          </a:prstGeom>
          <a:solidFill>
            <a:srgbClr val="F0F2F5"/>
          </a:solidFill>
          <a:ln/>
        </p:spPr>
      </p:sp>
      <p:sp>
        <p:nvSpPr>
          <p:cNvPr id="42" name="Text 40"/>
          <p:cNvSpPr/>
          <p:nvPr/>
        </p:nvSpPr>
        <p:spPr>
          <a:xfrm>
            <a:off x="73152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Syarat Penghapusan: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" y="3840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Piutang tidak mungkin ditagih lagi karena kedaluwarsa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31520" y="4114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Ada koordinasi dengan Inspektorat Daerah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4389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Dibuktikan dengan dokumen pelaksanaan penagihan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7" name="Shape 45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8" name="Shape 46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9" name="Shape 47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0" name="Shape 48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1" name="Shape 49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2" name="Text 50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X: KERINGANAN, KEMUDAHAN &amp; PENGHARGAAN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27–28, 34–35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💳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 &amp; Penghargaan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0944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9448" y="109728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Shape 14"/>
          <p:cNvSpPr/>
          <p:nvPr/>
        </p:nvSpPr>
        <p:spPr>
          <a:xfrm>
            <a:off x="792328" y="1280160"/>
            <a:ext cx="411480" cy="41148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79232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endParaRPr lang="en-US" sz="23" dirty="0"/>
          </a:p>
        </p:txBody>
      </p:sp>
      <p:sp>
        <p:nvSpPr>
          <p:cNvPr id="18" name="Text 16"/>
          <p:cNvSpPr/>
          <p:nvPr/>
        </p:nvSpPr>
        <p:spPr>
          <a:xfrm>
            <a:off x="79232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 (Psl 27)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232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Keringanan/Pengurangan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Pembebasan/Penundaan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 pokok &amp;/ sanksi pajak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WP: likuiditas rendah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Objek: bencana/kebakaran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48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58488" y="109728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41368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454136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🤝</a:t>
            </a:r>
            <a:endParaRPr lang="en-US" sz="23" dirty="0"/>
          </a:p>
        </p:txBody>
      </p:sp>
      <p:sp>
        <p:nvSpPr>
          <p:cNvPr id="24" name="Text 22"/>
          <p:cNvSpPr/>
          <p:nvPr/>
        </p:nvSpPr>
        <p:spPr>
          <a:xfrm>
            <a:off x="454136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Kemudahan (Psl 28)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4136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Perpanjangan waktu bayar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Angsuran (maks. 24 bln)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 0,6%/bln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Keadaan kahar: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bencana, kebakaran, wabah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kerusuhan, dll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07528" y="1097280"/>
            <a:ext cx="3474720" cy="4846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07528" y="109728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90408" y="1280160"/>
            <a:ext cx="411480" cy="41148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8290408" y="130073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🏆</a:t>
            </a:r>
            <a:endParaRPr lang="en-US" sz="23" dirty="0"/>
          </a:p>
        </p:txBody>
      </p:sp>
      <p:sp>
        <p:nvSpPr>
          <p:cNvPr id="30" name="Text 28"/>
          <p:cNvSpPr/>
          <p:nvPr/>
        </p:nvSpPr>
        <p:spPr>
          <a:xfrm>
            <a:off x="8290408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Penghargaan (Psl 34–35)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90408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Taat Pajak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 tepat waktu ≥ 1 thn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tunggakan 3 thn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signifikan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Piagam/Hadiah (APBD)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3" name="Shape 31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Shape 32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7" name="Shape 35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1155680" y="59436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59436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611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2529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8988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1907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8366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4825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7744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203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0662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7121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3580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64992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94176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58768" y="621792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-914400" y="914400"/>
            <a:ext cx="4572000" cy="45720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0" y="-914400"/>
            <a:ext cx="4114800" cy="4114800"/>
          </a:xfrm>
          <a:prstGeom prst="ellipse">
            <a:avLst/>
          </a:prstGeom>
          <a:solidFill>
            <a:srgbClr val="0D1F3C">
              <a:alpha val="4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1645920"/>
            <a:ext cx="2286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1828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XI: KETENTUAN PENUTUP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73152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36–37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0" y="460400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" dirty="0">
                <a:solidFill>
                  <a:srgbClr val="0A162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endParaRPr lang="en-US" sz="35" dirty="0"/>
          </a:p>
        </p:txBody>
      </p:sp>
      <p:sp>
        <p:nvSpPr>
          <p:cNvPr id="37" name="Shape 3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51206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243584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1389888" y="18288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65760"/>
            <a:ext cx="73152" cy="3657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097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Pencabutan &amp; Mulai Berlaku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1051560"/>
            <a:ext cx="53035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PERATURAN DICABUT (Pasal 36)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No. 48/2012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Petunjuk Pelaksanaan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No. 14/2012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Perwal No. 52/2013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Perwal 48/2012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051560"/>
            <a:ext cx="530352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51560"/>
            <a:ext cx="53035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23444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MULAI BERLAKU (Pasal 37)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diundangkan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Desember 2024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━━━━━━━━━━━━━━━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Pj. WALI KOTA BEKASI,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GANI MUHAMAD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776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4" name="Shape 22"/>
          <p:cNvSpPr/>
          <p:nvPr/>
        </p:nvSpPr>
        <p:spPr>
          <a:xfrm>
            <a:off x="749808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5" name="Shape 23"/>
          <p:cNvSpPr/>
          <p:nvPr/>
        </p:nvSpPr>
        <p:spPr>
          <a:xfrm>
            <a:off x="877824" y="6675120"/>
            <a:ext cx="36576" cy="3657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0D1F3C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0D1F3C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Shape 7"/>
          <p:cNvSpPr/>
          <p:nvPr/>
        </p:nvSpPr>
        <p:spPr>
          <a:xfrm>
            <a:off x="164592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0" name="Shape 8"/>
          <p:cNvSpPr/>
          <p:nvPr/>
        </p:nvSpPr>
        <p:spPr>
          <a:xfrm>
            <a:off x="182880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456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3" name="Shape 11"/>
          <p:cNvSpPr/>
          <p:nvPr/>
        </p:nvSpPr>
        <p:spPr>
          <a:xfrm>
            <a:off x="2377440" y="274320"/>
            <a:ext cx="54864" cy="54864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55680" y="457200"/>
            <a:ext cx="54864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36576" cy="5486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00400"/>
            <a:ext cx="32004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 KOTA BEKASI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21031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731520" y="3657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 Nomor 51 Tahun 2024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 Pengelolaan Pajak Reklame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https://jdih.bekasikota.go.id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96112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60704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25296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389888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54480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719072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883664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048256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212848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77440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2032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06624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871216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035808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0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364992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529584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694176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858768" y="6126480"/>
            <a:ext cx="45720" cy="45720"/>
          </a:xfrm>
          <a:prstGeom prst="ellipse">
            <a:avLst/>
          </a:prstGeom>
          <a:solidFill>
            <a:srgbClr val="D4A017">
              <a:alpha val="5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Perwal Bekasi No 51/2024 - Pajak Reklame</dc:title>
  <dc:subject>PptxGenJS Presentation</dc:subject>
  <dc:creator>Pemerintah Kota Bekasi</dc:creator>
  <cp:lastModifiedBy>Pemerintah Kota Bekasi</cp:lastModifiedBy>
  <cp:revision>1</cp:revision>
  <dcterms:created xsi:type="dcterms:W3CDTF">2026-06-20T11:43:41Z</dcterms:created>
  <dcterms:modified xsi:type="dcterms:W3CDTF">2026-06-20T11:43:41Z</dcterms:modified>
</cp:coreProperties>
</file>