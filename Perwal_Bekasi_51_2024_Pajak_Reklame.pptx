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371600"/>
            <a:ext cx="4114800" cy="4114800"/>
          </a:xfrm>
          <a:prstGeom prst="ellipse">
            <a:avLst/>
          </a:prstGeom>
          <a:solidFill>
            <a:srgbClr val="0D1F3C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1828800"/>
            <a:ext cx="6400800" cy="6400800"/>
          </a:xfrm>
          <a:prstGeom prst="ellipse">
            <a:avLst/>
          </a:prstGeom>
          <a:solidFill>
            <a:srgbClr val="0D1F3C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0" y="4114800"/>
            <a:ext cx="4572000" cy="4572000"/>
          </a:xfrm>
          <a:prstGeom prst="ellipse">
            <a:avLst/>
          </a:prstGeom>
          <a:solidFill>
            <a:srgbClr val="0D1F3C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74320"/>
            <a:ext cx="45720" cy="45720"/>
          </a:xfrm>
          <a:prstGeom prst="ellipse">
            <a:avLst/>
          </a:prstGeom>
          <a:solidFill>
            <a:srgbClr val="C8962E"/>
          </a:solidFill>
          <a:ln/>
        </p:spPr>
      </p:sp>
      <p:sp>
        <p:nvSpPr>
          <p:cNvPr id="6" name="Shape 4"/>
          <p:cNvSpPr/>
          <p:nvPr/>
        </p:nvSpPr>
        <p:spPr>
          <a:xfrm>
            <a:off x="896112" y="274320"/>
            <a:ext cx="45720" cy="45720"/>
          </a:xfrm>
          <a:prstGeom prst="ellipse">
            <a:avLst/>
          </a:prstGeom>
          <a:solidFill>
            <a:srgbClr val="C8962E"/>
          </a:solidFill>
          <a:ln/>
        </p:spPr>
      </p:sp>
      <p:sp>
        <p:nvSpPr>
          <p:cNvPr id="7" name="Shape 5"/>
          <p:cNvSpPr/>
          <p:nvPr/>
        </p:nvSpPr>
        <p:spPr>
          <a:xfrm>
            <a:off x="1060704" y="274320"/>
            <a:ext cx="45720" cy="45720"/>
          </a:xfrm>
          <a:prstGeom prst="ellipse">
            <a:avLst/>
          </a:prstGeom>
          <a:solidFill>
            <a:srgbClr val="C8962E"/>
          </a:solidFill>
          <a:ln/>
        </p:spPr>
      </p:sp>
      <p:sp>
        <p:nvSpPr>
          <p:cNvPr id="8" name="Shape 6"/>
          <p:cNvSpPr/>
          <p:nvPr/>
        </p:nvSpPr>
        <p:spPr>
          <a:xfrm>
            <a:off x="1225296" y="274320"/>
            <a:ext cx="45720" cy="45720"/>
          </a:xfrm>
          <a:prstGeom prst="ellipse">
            <a:avLst/>
          </a:prstGeom>
          <a:solidFill>
            <a:srgbClr val="C8962E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274320"/>
            <a:ext cx="45720" cy="45720"/>
          </a:xfrm>
          <a:prstGeom prst="ellipse">
            <a:avLst/>
          </a:prstGeom>
          <a:solidFill>
            <a:srgbClr val="C8962E"/>
          </a:solidFill>
          <a:ln/>
        </p:spPr>
      </p:sp>
      <p:sp>
        <p:nvSpPr>
          <p:cNvPr id="10" name="Shape 8"/>
          <p:cNvSpPr/>
          <p:nvPr/>
        </p:nvSpPr>
        <p:spPr>
          <a:xfrm>
            <a:off x="1554480" y="274320"/>
            <a:ext cx="45720" cy="45720"/>
          </a:xfrm>
          <a:prstGeom prst="ellipse">
            <a:avLst/>
          </a:prstGeom>
          <a:solidFill>
            <a:srgbClr val="C8962E"/>
          </a:solidFill>
          <a:ln/>
        </p:spPr>
      </p:sp>
      <p:sp>
        <p:nvSpPr>
          <p:cNvPr id="11" name="Shape 9"/>
          <p:cNvSpPr/>
          <p:nvPr/>
        </p:nvSpPr>
        <p:spPr>
          <a:xfrm>
            <a:off x="1719072" y="274320"/>
            <a:ext cx="45720" cy="45720"/>
          </a:xfrm>
          <a:prstGeom prst="ellipse">
            <a:avLst/>
          </a:prstGeom>
          <a:solidFill>
            <a:srgbClr val="C8962E"/>
          </a:solidFill>
          <a:ln/>
        </p:spPr>
      </p:sp>
      <p:sp>
        <p:nvSpPr>
          <p:cNvPr id="12" name="Shape 10"/>
          <p:cNvSpPr/>
          <p:nvPr/>
        </p:nvSpPr>
        <p:spPr>
          <a:xfrm>
            <a:off x="1883664" y="274320"/>
            <a:ext cx="45720" cy="45720"/>
          </a:xfrm>
          <a:prstGeom prst="ellipse">
            <a:avLst/>
          </a:prstGeom>
          <a:solidFill>
            <a:srgbClr val="C8962E"/>
          </a:solidFill>
          <a:ln/>
        </p:spPr>
      </p:sp>
      <p:sp>
        <p:nvSpPr>
          <p:cNvPr id="13" name="Shape 11"/>
          <p:cNvSpPr/>
          <p:nvPr/>
        </p:nvSpPr>
        <p:spPr>
          <a:xfrm>
            <a:off x="2048256" y="274320"/>
            <a:ext cx="45720" cy="45720"/>
          </a:xfrm>
          <a:prstGeom prst="ellipse">
            <a:avLst/>
          </a:prstGeom>
          <a:solidFill>
            <a:srgbClr val="C8962E"/>
          </a:solidFill>
          <a:ln/>
        </p:spPr>
      </p:sp>
      <p:sp>
        <p:nvSpPr>
          <p:cNvPr id="14" name="Shape 12"/>
          <p:cNvSpPr/>
          <p:nvPr/>
        </p:nvSpPr>
        <p:spPr>
          <a:xfrm>
            <a:off x="2212848" y="274320"/>
            <a:ext cx="45720" cy="45720"/>
          </a:xfrm>
          <a:prstGeom prst="ellipse">
            <a:avLst/>
          </a:prstGeom>
          <a:solidFill>
            <a:srgbClr val="C8962E"/>
          </a:solidFill>
          <a:ln/>
        </p:spPr>
      </p:sp>
      <p:sp>
        <p:nvSpPr>
          <p:cNvPr id="15" name="Shape 13"/>
          <p:cNvSpPr/>
          <p:nvPr/>
        </p:nvSpPr>
        <p:spPr>
          <a:xfrm>
            <a:off x="2377440" y="274320"/>
            <a:ext cx="45720" cy="45720"/>
          </a:xfrm>
          <a:prstGeom prst="ellipse">
            <a:avLst/>
          </a:prstGeom>
          <a:solidFill>
            <a:srgbClr val="C8962E"/>
          </a:solidFill>
          <a:ln/>
        </p:spPr>
      </p:sp>
      <p:sp>
        <p:nvSpPr>
          <p:cNvPr id="16" name="Shape 14"/>
          <p:cNvSpPr/>
          <p:nvPr/>
        </p:nvSpPr>
        <p:spPr>
          <a:xfrm>
            <a:off x="2542032" y="274320"/>
            <a:ext cx="45720" cy="45720"/>
          </a:xfrm>
          <a:prstGeom prst="ellipse">
            <a:avLst/>
          </a:prstGeom>
          <a:solidFill>
            <a:srgbClr val="C8962E"/>
          </a:solidFill>
          <a:ln/>
        </p:spPr>
      </p:sp>
      <p:sp>
        <p:nvSpPr>
          <p:cNvPr id="17" name="Shape 15"/>
          <p:cNvSpPr/>
          <p:nvPr/>
        </p:nvSpPr>
        <p:spPr>
          <a:xfrm>
            <a:off x="2706624" y="274320"/>
            <a:ext cx="45720" cy="45720"/>
          </a:xfrm>
          <a:prstGeom prst="ellipse">
            <a:avLst/>
          </a:prstGeom>
          <a:solidFill>
            <a:srgbClr val="C8962E"/>
          </a:solidFill>
          <a:ln/>
        </p:spPr>
      </p:sp>
      <p:sp>
        <p:nvSpPr>
          <p:cNvPr id="18" name="Shape 16"/>
          <p:cNvSpPr/>
          <p:nvPr/>
        </p:nvSpPr>
        <p:spPr>
          <a:xfrm>
            <a:off x="2871216" y="274320"/>
            <a:ext cx="45720" cy="45720"/>
          </a:xfrm>
          <a:prstGeom prst="ellipse">
            <a:avLst/>
          </a:prstGeom>
          <a:solidFill>
            <a:srgbClr val="C8962E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2377440"/>
            <a:ext cx="3657600" cy="36576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57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BERITA DAERAH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777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KOTA BEKASI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1645920"/>
            <a:ext cx="112772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PERATURAN WALI KOTA BEKASI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57200" y="196596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NOMOR 51 TAHUN 2024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" y="2834640"/>
            <a:ext cx="11277295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TENTANG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PENGELOLAAN PAJAK REKLAME</a:t>
            </a:r>
            <a:endParaRPr lang="en-US" sz="4000" dirty="0"/>
          </a:p>
        </p:txBody>
      </p:sp>
      <p:sp>
        <p:nvSpPr>
          <p:cNvPr id="25" name="Shape 23"/>
          <p:cNvSpPr/>
          <p:nvPr/>
        </p:nvSpPr>
        <p:spPr>
          <a:xfrm>
            <a:off x="457200" y="4937760"/>
            <a:ext cx="6858000" cy="822960"/>
          </a:xfrm>
          <a:prstGeom prst="roundRect">
            <a:avLst/>
          </a:prstGeom>
          <a:solidFill>
            <a:srgbClr val="0D1F3C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9834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Pemerintah Kota Bekasi  ·  20 Desember 2024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52578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Berlaku sejak diundangkan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C8962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"/>
            <a:ext cx="12191695" cy="7772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"/>
            <a:ext cx="64008" cy="50292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"/>
            <a:ext cx="103628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ISI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75488"/>
            <a:ext cx="10362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Perwal Bekasi No 51/2024 · Pengelolaan Pajak Reklame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06628" y="1051560"/>
            <a:ext cx="5029200" cy="59436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98068" y="1124712"/>
            <a:ext cx="457200" cy="457200"/>
          </a:xfrm>
          <a:prstGeom prst="round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998068" y="11430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92428" y="112471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Ketentuan Umum &amp; Definisi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06628" y="1828800"/>
            <a:ext cx="5029200" cy="59436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98068" y="1901952"/>
            <a:ext cx="457200" cy="457200"/>
          </a:xfrm>
          <a:prstGeom prst="round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998068" y="19202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92428" y="190195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Objek, Subjek &amp; Wajib Pajak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06628" y="2606040"/>
            <a:ext cx="5029200" cy="59436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98068" y="2679192"/>
            <a:ext cx="457200" cy="457200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17" name="Text 15"/>
          <p:cNvSpPr/>
          <p:nvPr/>
        </p:nvSpPr>
        <p:spPr>
          <a:xfrm>
            <a:off x="998068" y="26974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92428" y="26791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 Pajak &amp; Tahun Pajak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06628" y="3383280"/>
            <a:ext cx="5029200" cy="59436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98068" y="3456432"/>
            <a:ext cx="457200" cy="457200"/>
          </a:xfrm>
          <a:prstGeom prst="roundRect">
            <a:avLst/>
          </a:prstGeom>
          <a:solidFill>
            <a:srgbClr val="1B3A6B"/>
          </a:solidFill>
          <a:ln/>
        </p:spPr>
      </p:sp>
      <p:sp>
        <p:nvSpPr>
          <p:cNvPr id="21" name="Text 19"/>
          <p:cNvSpPr/>
          <p:nvPr/>
        </p:nvSpPr>
        <p:spPr>
          <a:xfrm>
            <a:off x="998068" y="34747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592428" y="34564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Pendaftaran &amp; Pendataan WP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06628" y="4160520"/>
            <a:ext cx="5029200" cy="59436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98068" y="4233672"/>
            <a:ext cx="457200" cy="457200"/>
          </a:xfrm>
          <a:prstGeom prst="roundRect">
            <a:avLst/>
          </a:prstGeom>
          <a:solidFill>
            <a:srgbClr val="DC2626"/>
          </a:solidFill>
          <a:ln/>
        </p:spPr>
      </p:sp>
      <p:sp>
        <p:nvSpPr>
          <p:cNvPr id="25" name="Text 23"/>
          <p:cNvSpPr/>
          <p:nvPr/>
        </p:nvSpPr>
        <p:spPr>
          <a:xfrm>
            <a:off x="998068" y="42519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592428" y="42336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Sewa Reklame (NSR)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06628" y="4937760"/>
            <a:ext cx="5029200" cy="59436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98068" y="5010912"/>
            <a:ext cx="457200" cy="457200"/>
          </a:xfrm>
          <a:prstGeom prst="roundRect">
            <a:avLst/>
          </a:prstGeom>
          <a:solidFill>
            <a:srgbClr val="2563EB"/>
          </a:solidFill>
          <a:ln/>
        </p:spPr>
      </p:sp>
      <p:sp>
        <p:nvSpPr>
          <p:cNvPr id="29" name="Text 27"/>
          <p:cNvSpPr/>
          <p:nvPr/>
        </p:nvSpPr>
        <p:spPr>
          <a:xfrm>
            <a:off x="998068" y="50292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592428" y="501091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Perhitungan &amp; Tarif Pajak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255868" y="1051560"/>
            <a:ext cx="5029200" cy="59436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47308" y="1124712"/>
            <a:ext cx="457200" cy="457200"/>
          </a:xfrm>
          <a:prstGeom prst="roundRect">
            <a:avLst/>
          </a:prstGeom>
          <a:solidFill>
            <a:srgbClr val="0D9488"/>
          </a:solidFill>
          <a:ln/>
        </p:spPr>
      </p:sp>
      <p:sp>
        <p:nvSpPr>
          <p:cNvPr id="33" name="Text 31"/>
          <p:cNvSpPr/>
          <p:nvPr/>
        </p:nvSpPr>
        <p:spPr>
          <a:xfrm>
            <a:off x="6347308" y="11430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941668" y="112471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Penetapan, Tagihan &amp; Pembayaran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255868" y="1828800"/>
            <a:ext cx="5029200" cy="59436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347308" y="1901952"/>
            <a:ext cx="457200" cy="457200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37" name="Text 35"/>
          <p:cNvSpPr/>
          <p:nvPr/>
        </p:nvSpPr>
        <p:spPr>
          <a:xfrm>
            <a:off x="6347308" y="19202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941668" y="190195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Pembetulan, Keberatan &amp; Banding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255868" y="2606040"/>
            <a:ext cx="5029200" cy="59436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347308" y="2679192"/>
            <a:ext cx="457200" cy="457200"/>
          </a:xfrm>
          <a:prstGeom prst="roundRect">
            <a:avLst/>
          </a:prstGeom>
          <a:solidFill>
            <a:srgbClr val="1B3A6B"/>
          </a:solidFill>
          <a:ln/>
        </p:spPr>
      </p:sp>
      <p:sp>
        <p:nvSpPr>
          <p:cNvPr id="41" name="Text 39"/>
          <p:cNvSpPr/>
          <p:nvPr/>
        </p:nvSpPr>
        <p:spPr>
          <a:xfrm>
            <a:off x="6347308" y="26974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941668" y="26791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Pemeriksaan, Penagihan &amp; Penghapusan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255868" y="3383280"/>
            <a:ext cx="5029200" cy="59436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347308" y="3456432"/>
            <a:ext cx="457200" cy="457200"/>
          </a:xfrm>
          <a:prstGeom prst="roundRect">
            <a:avLst/>
          </a:prstGeom>
          <a:solidFill>
            <a:srgbClr val="2563EB"/>
          </a:solidFill>
          <a:ln/>
        </p:spPr>
      </p:sp>
      <p:sp>
        <p:nvSpPr>
          <p:cNvPr id="45" name="Text 43"/>
          <p:cNvSpPr/>
          <p:nvPr/>
        </p:nvSpPr>
        <p:spPr>
          <a:xfrm>
            <a:off x="6347308" y="34747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941668" y="34564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Keringanan, Kemudahan &amp; Penghargaan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6255868" y="4160520"/>
            <a:ext cx="5029200" cy="59436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347308" y="4233672"/>
            <a:ext cx="457200" cy="457200"/>
          </a:xfrm>
          <a:prstGeom prst="roundRect">
            <a:avLst/>
          </a:prstGeom>
          <a:solidFill>
            <a:srgbClr val="0D9488"/>
          </a:solidFill>
          <a:ln/>
        </p:spPr>
      </p:sp>
      <p:sp>
        <p:nvSpPr>
          <p:cNvPr id="49" name="Text 47"/>
          <p:cNvSpPr/>
          <p:nvPr/>
        </p:nvSpPr>
        <p:spPr>
          <a:xfrm>
            <a:off x="6347308" y="42519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6941668" y="42336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Ketentuan Penutup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0" y="6629400"/>
            <a:ext cx="12191695" cy="3200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2" name="Text 50"/>
          <p:cNvSpPr/>
          <p:nvPr/>
        </p:nvSpPr>
        <p:spPr>
          <a:xfrm>
            <a:off x="11368735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D1F3C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3657600"/>
            <a:ext cx="4572000" cy="4572000"/>
          </a:xfrm>
          <a:prstGeom prst="ellipse">
            <a:avLst/>
          </a:prstGeom>
          <a:solidFill>
            <a:srgbClr val="0D1F3C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457200" cy="27432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457200"/>
            <a:ext cx="27432" cy="457200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277295" y="457200"/>
            <a:ext cx="457200" cy="27432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277295" y="457200"/>
            <a:ext cx="27432" cy="457200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5943600"/>
            <a:ext cx="457200" cy="27432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5943600"/>
            <a:ext cx="27432" cy="457200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277295" y="5943600"/>
            <a:ext cx="457200" cy="27432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277295" y="5943600"/>
            <a:ext cx="27432" cy="457200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96112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60704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225296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389888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554480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719072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883664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048256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212848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377440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542032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706624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871216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035808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200400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364992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529584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57200" y="2011680"/>
            <a:ext cx="1828800" cy="36576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2286000"/>
            <a:ext cx="1127729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KETENTUAN UMUM</a:t>
            </a:r>
            <a:endParaRPr lang="en-US" sz="3400" dirty="0"/>
          </a:p>
        </p:txBody>
      </p:sp>
      <p:sp>
        <p:nvSpPr>
          <p:cNvPr id="32" name="Text 30"/>
          <p:cNvSpPr/>
          <p:nvPr/>
        </p:nvSpPr>
        <p:spPr>
          <a:xfrm>
            <a:off x="457200" y="374904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Pasal 1 — Definisi Kunci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0" y="6629400"/>
            <a:ext cx="12191695" cy="36576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34" name="Text 32"/>
          <p:cNvSpPr/>
          <p:nvPr/>
        </p:nvSpPr>
        <p:spPr>
          <a:xfrm>
            <a:off x="11368735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"/>
            <a:ext cx="12191695" cy="7772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"/>
            <a:ext cx="64008" cy="50292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"/>
            <a:ext cx="103628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Definisi Penting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11277295" cy="59436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124712"/>
            <a:ext cx="457200" cy="457200"/>
          </a:xfrm>
          <a:prstGeom prst="ellipse">
            <a:avLst/>
          </a:prstGeom>
          <a:solidFill>
            <a:srgbClr val="E8EDF5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14757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" dirty="0">
                <a:solidFill>
                  <a:srgbClr val="0A162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🏛️</a:t>
            </a:r>
            <a:endParaRPr lang="en-US" sz="24" dirty="0"/>
          </a:p>
        </p:txBody>
      </p:sp>
      <p:sp>
        <p:nvSpPr>
          <p:cNvPr id="9" name="Text 7"/>
          <p:cNvSpPr/>
          <p:nvPr/>
        </p:nvSpPr>
        <p:spPr>
          <a:xfrm>
            <a:off x="1143000" y="108813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Daerah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1344168"/>
            <a:ext cx="10362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Kota Bekasi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764792"/>
            <a:ext cx="11277295" cy="59436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6928" y="1837944"/>
            <a:ext cx="457200" cy="457200"/>
          </a:xfrm>
          <a:prstGeom prst="ellipse">
            <a:avLst/>
          </a:prstGeom>
          <a:solidFill>
            <a:srgbClr val="E8EDF5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1860804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" dirty="0">
                <a:solidFill>
                  <a:srgbClr val="0A162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📊</a:t>
            </a:r>
            <a:endParaRPr lang="en-US" sz="24" dirty="0"/>
          </a:p>
        </p:txBody>
      </p:sp>
      <p:sp>
        <p:nvSpPr>
          <p:cNvPr id="14" name="Text 12"/>
          <p:cNvSpPr/>
          <p:nvPr/>
        </p:nvSpPr>
        <p:spPr>
          <a:xfrm>
            <a:off x="1143000" y="18013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Bapenda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2057400"/>
            <a:ext cx="10362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Badan Pendapatan Daerah Kota Bekasi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478024"/>
            <a:ext cx="11277295" cy="59436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6928" y="2551176"/>
            <a:ext cx="457200" cy="457200"/>
          </a:xfrm>
          <a:prstGeom prst="ellipse">
            <a:avLst/>
          </a:prstGeom>
          <a:solidFill>
            <a:srgbClr val="E8EDF5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2574036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" dirty="0">
                <a:solidFill>
                  <a:srgbClr val="0A162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📢</a:t>
            </a:r>
            <a:endParaRPr lang="en-US" sz="24" dirty="0"/>
          </a:p>
        </p:txBody>
      </p:sp>
      <p:sp>
        <p:nvSpPr>
          <p:cNvPr id="19" name="Text 17"/>
          <p:cNvSpPr/>
          <p:nvPr/>
        </p:nvSpPr>
        <p:spPr>
          <a:xfrm>
            <a:off x="1143000" y="2514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Reklame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2770632"/>
            <a:ext cx="10362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Benda/alat/media untuk promosi &amp; pengenalan secara komersial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191256"/>
            <a:ext cx="11277295" cy="59436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66928" y="3264408"/>
            <a:ext cx="457200" cy="457200"/>
          </a:xfrm>
          <a:prstGeom prst="ellipse">
            <a:avLst/>
          </a:prstGeom>
          <a:solidFill>
            <a:srgbClr val="E8EDF5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328726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" dirty="0">
                <a:solidFill>
                  <a:srgbClr val="0A162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💰</a:t>
            </a:r>
            <a:endParaRPr lang="en-US" sz="24" dirty="0"/>
          </a:p>
        </p:txBody>
      </p:sp>
      <p:sp>
        <p:nvSpPr>
          <p:cNvPr id="24" name="Text 22"/>
          <p:cNvSpPr/>
          <p:nvPr/>
        </p:nvSpPr>
        <p:spPr>
          <a:xfrm>
            <a:off x="1143000" y="32278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Pajak Reklame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43000" y="3483864"/>
            <a:ext cx="10362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Pajak atas penyelenggaraan reklame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904488"/>
            <a:ext cx="11277295" cy="59436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66928" y="3977640"/>
            <a:ext cx="457200" cy="457200"/>
          </a:xfrm>
          <a:prstGeom prst="ellipse">
            <a:avLst/>
          </a:prstGeom>
          <a:solidFill>
            <a:srgbClr val="E8EDF5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" y="40005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" dirty="0">
                <a:solidFill>
                  <a:srgbClr val="0A162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📐</a:t>
            </a:r>
            <a:endParaRPr lang="en-US" sz="24" dirty="0"/>
          </a:p>
        </p:txBody>
      </p:sp>
      <p:sp>
        <p:nvSpPr>
          <p:cNvPr id="29" name="Text 27"/>
          <p:cNvSpPr/>
          <p:nvPr/>
        </p:nvSpPr>
        <p:spPr>
          <a:xfrm>
            <a:off x="1143000" y="394106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43000" y="4197096"/>
            <a:ext cx="10362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Sewa Reklame — dasar pengenaan pajak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617720"/>
            <a:ext cx="11277295" cy="59436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66928" y="4690872"/>
            <a:ext cx="457200" cy="457200"/>
          </a:xfrm>
          <a:prstGeom prst="ellipse">
            <a:avLst/>
          </a:prstGeom>
          <a:solidFill>
            <a:srgbClr val="E8EDF5"/>
          </a:solidFill>
          <a:ln/>
        </p:spPr>
      </p:sp>
      <p:sp>
        <p:nvSpPr>
          <p:cNvPr id="33" name="Text 31"/>
          <p:cNvSpPr/>
          <p:nvPr/>
        </p:nvSpPr>
        <p:spPr>
          <a:xfrm>
            <a:off x="566928" y="471373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" dirty="0">
                <a:solidFill>
                  <a:srgbClr val="0A162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🆔</a:t>
            </a:r>
            <a:endParaRPr lang="en-US" sz="24" dirty="0"/>
          </a:p>
        </p:txBody>
      </p:sp>
      <p:sp>
        <p:nvSpPr>
          <p:cNvPr id="34" name="Text 32"/>
          <p:cNvSpPr/>
          <p:nvPr/>
        </p:nvSpPr>
        <p:spPr>
          <a:xfrm>
            <a:off x="1143000" y="465429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NPWPD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143000" y="4910328"/>
            <a:ext cx="10362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Nomor Pokok Wajib Pajak Daerah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5330952"/>
            <a:ext cx="11277295" cy="59436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66928" y="5404104"/>
            <a:ext cx="457200" cy="457200"/>
          </a:xfrm>
          <a:prstGeom prst="ellipse">
            <a:avLst/>
          </a:prstGeom>
          <a:solidFill>
            <a:srgbClr val="E8EDF5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5426964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" dirty="0">
                <a:solidFill>
                  <a:srgbClr val="0A162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👤</a:t>
            </a:r>
            <a:endParaRPr lang="en-US" sz="24" dirty="0"/>
          </a:p>
        </p:txBody>
      </p:sp>
      <p:sp>
        <p:nvSpPr>
          <p:cNvPr id="39" name="Text 37"/>
          <p:cNvSpPr/>
          <p:nvPr/>
        </p:nvSpPr>
        <p:spPr>
          <a:xfrm>
            <a:off x="1143000" y="53675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Wajib Pajak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143000" y="5623560"/>
            <a:ext cx="10362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 pribadi/badan dengan hak &amp; kewajiban perpajakan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0" y="6629400"/>
            <a:ext cx="12191695" cy="3200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2" name="Text 40"/>
          <p:cNvSpPr/>
          <p:nvPr/>
        </p:nvSpPr>
        <p:spPr>
          <a:xfrm>
            <a:off x="11368735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D1F3C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3657600"/>
            <a:ext cx="4572000" cy="4572000"/>
          </a:xfrm>
          <a:prstGeom prst="ellipse">
            <a:avLst/>
          </a:prstGeom>
          <a:solidFill>
            <a:srgbClr val="0D1F3C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457200" cy="27432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457200"/>
            <a:ext cx="27432" cy="457200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277295" y="457200"/>
            <a:ext cx="457200" cy="27432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277295" y="457200"/>
            <a:ext cx="27432" cy="457200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5943600"/>
            <a:ext cx="457200" cy="27432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5943600"/>
            <a:ext cx="27432" cy="457200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277295" y="5943600"/>
            <a:ext cx="457200" cy="27432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277295" y="5943600"/>
            <a:ext cx="27432" cy="457200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96112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60704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225296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389888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554480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719072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883664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048256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212848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377440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542032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706624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871216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035808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200400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364992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529584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57200" y="2011680"/>
            <a:ext cx="1828800" cy="36576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2286000"/>
            <a:ext cx="1127729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II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OBJEK, SUBJEK &amp; WAJIB PAJAK</a:t>
            </a:r>
            <a:endParaRPr lang="en-US" sz="3400" dirty="0"/>
          </a:p>
        </p:txBody>
      </p:sp>
      <p:sp>
        <p:nvSpPr>
          <p:cNvPr id="32" name="Text 30"/>
          <p:cNvSpPr/>
          <p:nvPr/>
        </p:nvSpPr>
        <p:spPr>
          <a:xfrm>
            <a:off x="457200" y="374904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Pasal 2–4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0" y="6629400"/>
            <a:ext cx="12191695" cy="36576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34" name="Text 32"/>
          <p:cNvSpPr/>
          <p:nvPr/>
        </p:nvSpPr>
        <p:spPr>
          <a:xfrm>
            <a:off x="11368735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"/>
            <a:ext cx="12191695" cy="7772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"/>
            <a:ext cx="64008" cy="50292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"/>
            <a:ext cx="103628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Objek Pajak Reklame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09448" y="1051560"/>
            <a:ext cx="5349240" cy="484632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09448" y="1051560"/>
            <a:ext cx="54864" cy="4846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792328" y="118872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792328" y="1209294"/>
            <a:ext cx="41148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📋</a:t>
            </a:r>
            <a:endParaRPr lang="en-US" sz="22" dirty="0"/>
          </a:p>
        </p:txBody>
      </p:sp>
      <p:sp>
        <p:nvSpPr>
          <p:cNvPr id="10" name="Text 8"/>
          <p:cNvSpPr/>
          <p:nvPr/>
        </p:nvSpPr>
        <p:spPr>
          <a:xfrm>
            <a:off x="792328" y="169164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Jenis Reklame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92328" y="2057400"/>
            <a:ext cx="4983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Papan / Billboard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Videotron / Megatron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Kain (Spanduk, Umbul, Baliho)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Melekat / Stiker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Selebaran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Berjalan (Kendaraan)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Udara (Balon Gas)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Apung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/ Slide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Peragaan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33008" y="1051560"/>
            <a:ext cx="5349240" cy="484632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33008" y="1051560"/>
            <a:ext cx="54864" cy="4846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Shape 12"/>
          <p:cNvSpPr/>
          <p:nvPr/>
        </p:nvSpPr>
        <p:spPr>
          <a:xfrm>
            <a:off x="6415888" y="118872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6415888" y="1209294"/>
            <a:ext cx="41148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🚫</a:t>
            </a:r>
            <a:endParaRPr lang="en-US" sz="22" dirty="0"/>
          </a:p>
        </p:txBody>
      </p:sp>
      <p:sp>
        <p:nvSpPr>
          <p:cNvPr id="16" name="Text 14"/>
          <p:cNvSpPr/>
          <p:nvPr/>
        </p:nvSpPr>
        <p:spPr>
          <a:xfrm>
            <a:off x="6415888" y="169164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Dikecualikan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15888" y="2057400"/>
            <a:ext cx="4983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Internet, TV, radio, media cetak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/ merek produk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usaha ≤ 1 m² di tempat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Reklame Pemerintah / Pemda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Tempat ibadah &amp; panti asuhan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Sosial &amp; keagamaan ≤ 30 hari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Kegiatan politik (masa kampanye)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Olahraga KONI ≤ 30 hari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6629400"/>
            <a:ext cx="12191695" cy="3200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9" name="Text 17"/>
          <p:cNvSpPr/>
          <p:nvPr/>
        </p:nvSpPr>
        <p:spPr>
          <a:xfrm>
            <a:off x="11368735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"/>
            <a:ext cx="12191695" cy="7772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"/>
            <a:ext cx="64008" cy="50292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"/>
            <a:ext cx="103628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Subjek &amp; Wajib Pajak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09448" y="1051560"/>
            <a:ext cx="5349240" cy="484632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09448" y="1051560"/>
            <a:ext cx="54864" cy="4846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792328" y="118872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792328" y="1209294"/>
            <a:ext cx="41148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👤</a:t>
            </a:r>
            <a:endParaRPr lang="en-US" sz="22" dirty="0"/>
          </a:p>
        </p:txBody>
      </p:sp>
      <p:sp>
        <p:nvSpPr>
          <p:cNvPr id="10" name="Text 8"/>
          <p:cNvSpPr/>
          <p:nvPr/>
        </p:nvSpPr>
        <p:spPr>
          <a:xfrm>
            <a:off x="792328" y="169164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Subjek Pajak (Ps 3)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92328" y="2057400"/>
            <a:ext cx="4983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 pribadi atau Badan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menggunakan Reklame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33008" y="1051560"/>
            <a:ext cx="5349240" cy="484632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33008" y="1051560"/>
            <a:ext cx="54864" cy="4846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Shape 12"/>
          <p:cNvSpPr/>
          <p:nvPr/>
        </p:nvSpPr>
        <p:spPr>
          <a:xfrm>
            <a:off x="6415888" y="118872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6415888" y="1209294"/>
            <a:ext cx="41148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✋</a:t>
            </a:r>
            <a:endParaRPr lang="en-US" sz="22" dirty="0"/>
          </a:p>
        </p:txBody>
      </p:sp>
      <p:sp>
        <p:nvSpPr>
          <p:cNvPr id="16" name="Text 14"/>
          <p:cNvSpPr/>
          <p:nvPr/>
        </p:nvSpPr>
        <p:spPr>
          <a:xfrm>
            <a:off x="6415888" y="169164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Wajib Pajak (Ps 4)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15888" y="2057400"/>
            <a:ext cx="4983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 pribadi atau Badan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menyelenggarakan Reklame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Jika pihak ketiga → menjadi WP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6629400"/>
            <a:ext cx="12191695" cy="3200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9" name="Text 17"/>
          <p:cNvSpPr/>
          <p:nvPr/>
        </p:nvSpPr>
        <p:spPr>
          <a:xfrm>
            <a:off x="11368735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D1F3C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3657600"/>
            <a:ext cx="4572000" cy="4572000"/>
          </a:xfrm>
          <a:prstGeom prst="ellipse">
            <a:avLst/>
          </a:prstGeom>
          <a:solidFill>
            <a:srgbClr val="0D1F3C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457200" cy="27432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457200"/>
            <a:ext cx="27432" cy="457200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277295" y="457200"/>
            <a:ext cx="457200" cy="27432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277295" y="457200"/>
            <a:ext cx="27432" cy="457200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5943600"/>
            <a:ext cx="457200" cy="27432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5943600"/>
            <a:ext cx="27432" cy="457200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277295" y="5943600"/>
            <a:ext cx="457200" cy="27432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277295" y="5943600"/>
            <a:ext cx="27432" cy="457200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96112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60704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225296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389888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554480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719072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883664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048256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212848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377440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542032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706624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871216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035808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200400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364992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529584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57200" y="2011680"/>
            <a:ext cx="1828800" cy="36576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2286000"/>
            <a:ext cx="1127729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III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 PAJAK &amp; TAHUN PAJAK</a:t>
            </a:r>
            <a:endParaRPr lang="en-US" sz="3400" dirty="0"/>
          </a:p>
        </p:txBody>
      </p:sp>
      <p:sp>
        <p:nvSpPr>
          <p:cNvPr id="32" name="Text 30"/>
          <p:cNvSpPr/>
          <p:nvPr/>
        </p:nvSpPr>
        <p:spPr>
          <a:xfrm>
            <a:off x="457200" y="374904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Pasal 5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0" y="6629400"/>
            <a:ext cx="12191695" cy="36576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34" name="Text 32"/>
          <p:cNvSpPr/>
          <p:nvPr/>
        </p:nvSpPr>
        <p:spPr>
          <a:xfrm>
            <a:off x="11368735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"/>
            <a:ext cx="12191695" cy="7772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"/>
            <a:ext cx="64008" cy="50292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"/>
            <a:ext cx="103628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 &amp; Tahun Pajak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75488"/>
            <a:ext cx="10362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Pasal 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95148" y="1188720"/>
            <a:ext cx="2560320" cy="19202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5148" y="1188720"/>
            <a:ext cx="256032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495148" y="14630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86588" y="21488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Bulan masa permanen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75508" y="1188720"/>
            <a:ext cx="2560320" cy="19202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75508" y="1188720"/>
            <a:ext cx="256032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3375508" y="14630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466948" y="21488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maks. insidentil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55868" y="1188720"/>
            <a:ext cx="2560320" cy="19202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55868" y="1188720"/>
            <a:ext cx="256032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7" name="Text 15"/>
          <p:cNvSpPr/>
          <p:nvPr/>
        </p:nvSpPr>
        <p:spPr>
          <a:xfrm>
            <a:off x="6255868" y="14630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347308" y="21488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Tahun pajak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36228" y="1188720"/>
            <a:ext cx="2560320" cy="19202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36228" y="1188720"/>
            <a:ext cx="2560320" cy="457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1" name="Text 19"/>
          <p:cNvSpPr/>
          <p:nvPr/>
        </p:nvSpPr>
        <p:spPr>
          <a:xfrm>
            <a:off x="9136228" y="14630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9227668" y="21488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Bulan (bagian tahun)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474720"/>
            <a:ext cx="11277295" cy="2286000"/>
          </a:xfrm>
          <a:prstGeom prst="roundRect">
            <a:avLst/>
          </a:prstGeom>
          <a:solidFill>
            <a:srgbClr val="E8EDF5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3566160"/>
            <a:ext cx="10820095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Masa Pajak Permanen: 12 bulan atau sesuai jangka waktu penayangan reklame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Masa Pajak Insidentil: dihitung per hari, maksimal 30 hari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Tahun Pajak: 1 tahun kalender atau sesuai tahun buku wajib pajak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Bagian Tahun Pajak: 1 bulan penuh (jika tidak mencakup satu tahun penuh)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6629400"/>
            <a:ext cx="12191695" cy="3200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6" name="Text 24"/>
          <p:cNvSpPr/>
          <p:nvPr/>
        </p:nvSpPr>
        <p:spPr>
          <a:xfrm>
            <a:off x="11368735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D1F3C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3657600"/>
            <a:ext cx="4572000" cy="4572000"/>
          </a:xfrm>
          <a:prstGeom prst="ellipse">
            <a:avLst/>
          </a:prstGeom>
          <a:solidFill>
            <a:srgbClr val="0D1F3C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457200" cy="27432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457200"/>
            <a:ext cx="27432" cy="457200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277295" y="457200"/>
            <a:ext cx="457200" cy="27432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277295" y="457200"/>
            <a:ext cx="27432" cy="457200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5943600"/>
            <a:ext cx="457200" cy="27432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5943600"/>
            <a:ext cx="27432" cy="457200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277295" y="5943600"/>
            <a:ext cx="457200" cy="27432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277295" y="5943600"/>
            <a:ext cx="27432" cy="457200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96112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60704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225296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389888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554480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719072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883664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048256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212848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377440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542032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706624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871216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035808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200400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364992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529584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57200" y="2011680"/>
            <a:ext cx="1828800" cy="36576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2286000"/>
            <a:ext cx="1127729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IV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PENDAFTARAN &amp; PENDATAAN WP</a:t>
            </a:r>
            <a:endParaRPr lang="en-US" sz="3400" dirty="0"/>
          </a:p>
        </p:txBody>
      </p:sp>
      <p:sp>
        <p:nvSpPr>
          <p:cNvPr id="32" name="Text 30"/>
          <p:cNvSpPr/>
          <p:nvPr/>
        </p:nvSpPr>
        <p:spPr>
          <a:xfrm>
            <a:off x="457200" y="374904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Pasal 6–8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0" y="6629400"/>
            <a:ext cx="12191695" cy="36576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34" name="Text 32"/>
          <p:cNvSpPr/>
          <p:nvPr/>
        </p:nvSpPr>
        <p:spPr>
          <a:xfrm>
            <a:off x="11368735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"/>
            <a:ext cx="12191695" cy="7772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"/>
            <a:ext cx="64008" cy="50292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"/>
            <a:ext cx="103628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Pendaftaran &amp; Pendataan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5303520" cy="49834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51560"/>
            <a:ext cx="54864" cy="4983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234440"/>
            <a:ext cx="48920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PENDAFTARAN (Pasal 6)</a:t>
            </a:r>
            <a:endParaRPr lang="en-US" sz="13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 wajib mendaftarkan diri &amp; objek pajak</a:t>
            </a:r>
            <a:endParaRPr lang="en-US" sz="13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Formulir: ambil langsung / online / dikirim petugas</a:t>
            </a:r>
            <a:endParaRPr lang="en-US" sz="13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Lampirkan: KTP, NPWP, Akta, NIB</a:t>
            </a:r>
            <a:endParaRPr lang="en-US" sz="13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Bapenda terbitkan NPWPD</a:t>
            </a:r>
            <a:endParaRPr lang="en-US" sz="13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Jika tidak mendaftar → NPWPD jabatan</a:t>
            </a:r>
            <a:endParaRPr lang="en-US" sz="13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Diterbitkan juga NOPD &amp; nomor registrasi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80760" y="1051560"/>
            <a:ext cx="5303520" cy="49834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080760" y="1051560"/>
            <a:ext cx="54864" cy="4983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1234440"/>
            <a:ext cx="48920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PENDATAAN &amp; NONAKTIF (Pasal 7–8)</a:t>
            </a:r>
            <a:endParaRPr lang="en-US" sz="13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Bapenda mendata WP &amp; objek pajak</a:t>
            </a:r>
            <a:endParaRPr lang="en-US" sz="13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Termasuk data geografis</a:t>
            </a:r>
            <a:endParaRPr lang="en-US" sz="13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Dapat kerjasama dengan instansi lain</a:t>
            </a:r>
            <a:endParaRPr lang="en-US" sz="13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Penonaktifan: WP tak penuhi syarat</a:t>
            </a:r>
            <a:endParaRPr lang="en-US" sz="13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Keputusan maksimal 3 bulan</a:t>
            </a:r>
            <a:endParaRPr lang="en-US" sz="13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Syarat: tanpa tunggakan &amp; keberatan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6629400"/>
            <a:ext cx="12191695" cy="3200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3" name="Text 11"/>
          <p:cNvSpPr/>
          <p:nvPr/>
        </p:nvSpPr>
        <p:spPr>
          <a:xfrm>
            <a:off x="11368735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D1F3C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3657600"/>
            <a:ext cx="4572000" cy="4572000"/>
          </a:xfrm>
          <a:prstGeom prst="ellipse">
            <a:avLst/>
          </a:prstGeom>
          <a:solidFill>
            <a:srgbClr val="0D1F3C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457200" cy="27432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457200"/>
            <a:ext cx="27432" cy="457200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277295" y="457200"/>
            <a:ext cx="457200" cy="27432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277295" y="457200"/>
            <a:ext cx="27432" cy="457200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5943600"/>
            <a:ext cx="457200" cy="27432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5943600"/>
            <a:ext cx="27432" cy="457200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277295" y="5943600"/>
            <a:ext cx="457200" cy="27432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277295" y="5943600"/>
            <a:ext cx="27432" cy="457200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96112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60704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225296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389888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554480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719072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883664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048256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212848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377440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542032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706624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871216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035808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200400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364992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529584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57200" y="2011680"/>
            <a:ext cx="1828800" cy="36576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2286000"/>
            <a:ext cx="1127729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V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SEWA REKLAME</a:t>
            </a:r>
            <a:endParaRPr lang="en-US" sz="3400" dirty="0"/>
          </a:p>
        </p:txBody>
      </p:sp>
      <p:sp>
        <p:nvSpPr>
          <p:cNvPr id="32" name="Text 30"/>
          <p:cNvSpPr/>
          <p:nvPr/>
        </p:nvSpPr>
        <p:spPr>
          <a:xfrm>
            <a:off x="457200" y="374904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Pasal 9 — Dasar Pengenaan Pajak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0" y="6629400"/>
            <a:ext cx="12191695" cy="36576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34" name="Text 32"/>
          <p:cNvSpPr/>
          <p:nvPr/>
        </p:nvSpPr>
        <p:spPr>
          <a:xfrm>
            <a:off x="11368735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"/>
            <a:ext cx="12191695" cy="7772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"/>
            <a:ext cx="64008" cy="50292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"/>
            <a:ext cx="103628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Faktor Penentu NSR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63728" y="1097280"/>
            <a:ext cx="2560320" cy="118872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00888" y="132588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700888" y="1351026"/>
            <a:ext cx="50292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1</a:t>
            </a:r>
            <a:endParaRPr lang="en-US" sz="26" dirty="0"/>
          </a:p>
        </p:txBody>
      </p:sp>
      <p:sp>
        <p:nvSpPr>
          <p:cNvPr id="9" name="Text 7"/>
          <p:cNvSpPr/>
          <p:nvPr/>
        </p:nvSpPr>
        <p:spPr>
          <a:xfrm>
            <a:off x="1295248" y="128016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Jenis Reklame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98368" y="1097280"/>
            <a:ext cx="2560320" cy="118872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35528" y="132588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3535528" y="1351026"/>
            <a:ext cx="50292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2</a:t>
            </a:r>
            <a:endParaRPr lang="en-US" sz="26" dirty="0"/>
          </a:p>
        </p:txBody>
      </p:sp>
      <p:sp>
        <p:nvSpPr>
          <p:cNvPr id="13" name="Text 11"/>
          <p:cNvSpPr/>
          <p:nvPr/>
        </p:nvSpPr>
        <p:spPr>
          <a:xfrm>
            <a:off x="4129888" y="128016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33008" y="1097280"/>
            <a:ext cx="2560320" cy="118872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70168" y="1325880"/>
            <a:ext cx="502920" cy="502920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6" name="Text 14"/>
          <p:cNvSpPr/>
          <p:nvPr/>
        </p:nvSpPr>
        <p:spPr>
          <a:xfrm>
            <a:off x="6370168" y="1351026"/>
            <a:ext cx="50292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3</a:t>
            </a:r>
            <a:endParaRPr lang="en-US" sz="26" dirty="0"/>
          </a:p>
        </p:txBody>
      </p:sp>
      <p:sp>
        <p:nvSpPr>
          <p:cNvPr id="17" name="Text 15"/>
          <p:cNvSpPr/>
          <p:nvPr/>
        </p:nvSpPr>
        <p:spPr>
          <a:xfrm>
            <a:off x="6964528" y="128016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Lokasi (Kelas Jalan)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067648" y="1097280"/>
            <a:ext cx="2560320" cy="118872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204808" y="1325880"/>
            <a:ext cx="502920" cy="50292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20" name="Text 18"/>
          <p:cNvSpPr/>
          <p:nvPr/>
        </p:nvSpPr>
        <p:spPr>
          <a:xfrm>
            <a:off x="9204808" y="1351026"/>
            <a:ext cx="50292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4</a:t>
            </a:r>
            <a:endParaRPr lang="en-US" sz="26" dirty="0"/>
          </a:p>
        </p:txBody>
      </p:sp>
      <p:sp>
        <p:nvSpPr>
          <p:cNvPr id="21" name="Text 19"/>
          <p:cNvSpPr/>
          <p:nvPr/>
        </p:nvSpPr>
        <p:spPr>
          <a:xfrm>
            <a:off x="9799168" y="128016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Waktu Tayang (detik)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63728" y="2560320"/>
            <a:ext cx="2560320" cy="118872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00888" y="278892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700888" y="2814066"/>
            <a:ext cx="50292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5</a:t>
            </a:r>
            <a:endParaRPr lang="en-US" sz="26" dirty="0"/>
          </a:p>
        </p:txBody>
      </p:sp>
      <p:sp>
        <p:nvSpPr>
          <p:cNvPr id="25" name="Text 23"/>
          <p:cNvSpPr/>
          <p:nvPr/>
        </p:nvSpPr>
        <p:spPr>
          <a:xfrm>
            <a:off x="1295248" y="274320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Jangka Waktu (hari)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398368" y="2560320"/>
            <a:ext cx="2560320" cy="118872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535528" y="278892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3535528" y="2814066"/>
            <a:ext cx="50292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6</a:t>
            </a:r>
            <a:endParaRPr lang="en-US" sz="26" dirty="0"/>
          </a:p>
        </p:txBody>
      </p:sp>
      <p:sp>
        <p:nvSpPr>
          <p:cNvPr id="29" name="Text 27"/>
          <p:cNvSpPr/>
          <p:nvPr/>
        </p:nvSpPr>
        <p:spPr>
          <a:xfrm>
            <a:off x="4129888" y="274320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 Media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233008" y="2560320"/>
            <a:ext cx="2560320" cy="118872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70168" y="2788920"/>
            <a:ext cx="502920" cy="502920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2" name="Text 30"/>
          <p:cNvSpPr/>
          <p:nvPr/>
        </p:nvSpPr>
        <p:spPr>
          <a:xfrm>
            <a:off x="6370168" y="2814066"/>
            <a:ext cx="50292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7</a:t>
            </a:r>
            <a:endParaRPr lang="en-US" sz="26" dirty="0"/>
          </a:p>
        </p:txBody>
      </p:sp>
      <p:sp>
        <p:nvSpPr>
          <p:cNvPr id="33" name="Text 31"/>
          <p:cNvSpPr/>
          <p:nvPr/>
        </p:nvSpPr>
        <p:spPr>
          <a:xfrm>
            <a:off x="6964528" y="274320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Ukuran (m²)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57200" y="4114800"/>
            <a:ext cx="11277295" cy="1463040"/>
          </a:xfrm>
          <a:prstGeom prst="roundRect">
            <a:avLst/>
          </a:prstGeom>
          <a:solidFill>
            <a:srgbClr val="E8EDF5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4160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KLASIFIKASI KELAS JALAN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0080" y="448056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 Kelas Jalan Khusus — Tol | Premium 1 (A. Yani, Sudirman, dll) | Premium 2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080" y="480060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 Kelas Jalan I (Kendali Ketat) — Lebar &gt; 3 m, pusat pelayanan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0080" y="51206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🏡  Kelas Jalan II (Kendali Sedang) — Lebar ≤ 3 m, jalan lingkungan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0" y="6629400"/>
            <a:ext cx="12191695" cy="3200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0" name="Text 38"/>
          <p:cNvSpPr/>
          <p:nvPr/>
        </p:nvSpPr>
        <p:spPr>
          <a:xfrm>
            <a:off x="11368735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D1F3C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3657600"/>
            <a:ext cx="4572000" cy="4572000"/>
          </a:xfrm>
          <a:prstGeom prst="ellipse">
            <a:avLst/>
          </a:prstGeom>
          <a:solidFill>
            <a:srgbClr val="0D1F3C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457200" cy="27432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457200"/>
            <a:ext cx="27432" cy="457200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277295" y="457200"/>
            <a:ext cx="457200" cy="27432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277295" y="457200"/>
            <a:ext cx="27432" cy="457200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5943600"/>
            <a:ext cx="457200" cy="27432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5943600"/>
            <a:ext cx="27432" cy="457200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277295" y="5943600"/>
            <a:ext cx="457200" cy="27432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277295" y="5943600"/>
            <a:ext cx="27432" cy="457200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96112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60704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225296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389888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554480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719072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883664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048256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212848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377440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542032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706624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871216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035808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200400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364992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529584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57200" y="2011680"/>
            <a:ext cx="1828800" cy="36576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2286000"/>
            <a:ext cx="1127729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VI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PERHITUNGAN &amp; TARIF PAJAK</a:t>
            </a:r>
            <a:endParaRPr lang="en-US" sz="3400" dirty="0"/>
          </a:p>
        </p:txBody>
      </p:sp>
      <p:sp>
        <p:nvSpPr>
          <p:cNvPr id="32" name="Text 30"/>
          <p:cNvSpPr/>
          <p:nvPr/>
        </p:nvSpPr>
        <p:spPr>
          <a:xfrm>
            <a:off x="457200" y="374904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Pasal 10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0" y="6629400"/>
            <a:ext cx="12191695" cy="36576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34" name="Text 32"/>
          <p:cNvSpPr/>
          <p:nvPr/>
        </p:nvSpPr>
        <p:spPr>
          <a:xfrm>
            <a:off x="11368735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"/>
            <a:ext cx="12191695" cy="7772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"/>
            <a:ext cx="64008" cy="50292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"/>
            <a:ext cx="103628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Rumus Dasar Perhitungan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75488"/>
            <a:ext cx="10362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Pasal 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95148" y="1188720"/>
            <a:ext cx="2560320" cy="19202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5148" y="1188720"/>
            <a:ext cx="256032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495148" y="14630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86588" y="21488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Pajak = Tarif × NSR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75508" y="1188720"/>
            <a:ext cx="2560320" cy="19202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75508" y="1188720"/>
            <a:ext cx="256032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3375508" y="14630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466948" y="21488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Indoor = 50% NSR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55868" y="1188720"/>
            <a:ext cx="2560320" cy="19202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55868" y="1188720"/>
            <a:ext cx="256032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7" name="Text 15"/>
          <p:cNvSpPr/>
          <p:nvPr/>
        </p:nvSpPr>
        <p:spPr>
          <a:xfrm>
            <a:off x="6255868" y="14630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+20%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347308" y="21488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Tinggi &gt; 15 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36228" y="1188720"/>
            <a:ext cx="2560320" cy="19202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36228" y="1188720"/>
            <a:ext cx="256032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9136228" y="14630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+50%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9227668" y="21488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Tembakau &amp; Miras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474720"/>
            <a:ext cx="11277295" cy="2286000"/>
          </a:xfrm>
          <a:prstGeom prst="roundRect">
            <a:avLst/>
          </a:prstGeom>
          <a:solidFill>
            <a:srgbClr val="E8EDF5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3566160"/>
            <a:ext cx="10820095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Rumus: Pajak Reklame = Tarif Pajak × NSR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NSR = Nilai Kelas Jalan × Ukuran (m²) × Jumlah × Jangka Waktu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Ketentuan Khusus: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Reklame indoor: NSR 50% dari NSR normal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Ketinggian &gt; 15 meter: tambahan 20%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Produk tembakau &amp; minuman beralkohol: tambahan 50%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Perubahan naskah/revisi isi reklame: dikecualikan dari tambahan biaya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6629400"/>
            <a:ext cx="12191695" cy="3200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6" name="Text 24"/>
          <p:cNvSpPr/>
          <p:nvPr/>
        </p:nvSpPr>
        <p:spPr>
          <a:xfrm>
            <a:off x="11368735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"/>
            <a:ext cx="12191695" cy="7772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"/>
            <a:ext cx="64008" cy="50292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"/>
            <a:ext cx="103628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NSR — Papan / Billboard</a:t>
            </a:r>
            <a:endParaRPr lang="en-US" sz="2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11277295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5029200"/>
                <a:gridCol w="24688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Kelas Jalan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NSR (Rp/m²/hari)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Kelas Jalan Khusus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Jalan Tol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23.575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Kelas Jalan Khusus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Kelas Jalan Khusus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14.950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Kelas Jalan 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Kendali Ketat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13.225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Kelas Jalan II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Kendali Sedang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0" y="6629400"/>
            <a:ext cx="12191695" cy="3200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8" name="Text 5"/>
          <p:cNvSpPr/>
          <p:nvPr/>
        </p:nvSpPr>
        <p:spPr>
          <a:xfrm>
            <a:off x="11368735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"/>
            <a:ext cx="12191695" cy="7772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"/>
            <a:ext cx="64008" cy="50292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"/>
            <a:ext cx="103628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NSR — Megatron / Videotron</a:t>
            </a:r>
            <a:endParaRPr lang="en-US" sz="2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11277295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657600"/>
                <a:gridCol w="2286000"/>
                <a:gridCol w="24688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Kelas Jalan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NSR (/30 dtk)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NSR (/m²/thn)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Kelas Jalan Khusus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Jalan Tol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17,25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13.599.900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Kelas Jalan Khusus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13,80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10.879.920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Kelas Jalan Khusus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9,20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7.253.280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Kelas Jalan 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Kendali Ketat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8,05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6.346.620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Kelas Jalan II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Kendali Sedang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5,75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4.533.300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0" y="6629400"/>
            <a:ext cx="12191695" cy="3200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8" name="Text 5"/>
          <p:cNvSpPr/>
          <p:nvPr/>
        </p:nvSpPr>
        <p:spPr>
          <a:xfrm>
            <a:off x="11368735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"/>
            <a:ext cx="12191695" cy="7772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"/>
            <a:ext cx="64008" cy="50292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"/>
            <a:ext cx="103628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NSR — Kain (Spanduk / Umbul / Baliho)</a:t>
            </a:r>
            <a:endParaRPr lang="en-US" sz="2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11277295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5029200"/>
                <a:gridCol w="24688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Kelas Jalan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NSR (Rp/m²/hari)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Kelas Jalan Khusus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Jalan Tol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Kelas Jalan Khusus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Kelas Jalan Khusus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Kelas Jalan 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Kendali Ketat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Kelas Jalan II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Kendali Sedang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0" y="6629400"/>
            <a:ext cx="12191695" cy="3200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8" name="Text 5"/>
          <p:cNvSpPr/>
          <p:nvPr/>
        </p:nvSpPr>
        <p:spPr>
          <a:xfrm>
            <a:off x="11368735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"/>
            <a:ext cx="12191695" cy="7772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"/>
            <a:ext cx="64008" cy="50292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"/>
            <a:ext cx="103628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NSR — Jenis Reklame Lainnya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72288" y="1051560"/>
            <a:ext cx="2606040" cy="484632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2288" y="1051560"/>
            <a:ext cx="54864" cy="4846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655168" y="118872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655168" y="1209294"/>
            <a:ext cx="41148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🏷️</a:t>
            </a:r>
            <a:endParaRPr lang="en-US" sz="22" dirty="0"/>
          </a:p>
        </p:txBody>
      </p:sp>
      <p:sp>
        <p:nvSpPr>
          <p:cNvPr id="10" name="Text 8"/>
          <p:cNvSpPr/>
          <p:nvPr/>
        </p:nvSpPr>
        <p:spPr>
          <a:xfrm>
            <a:off x="655168" y="16916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Stiker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5168" y="2057400"/>
            <a:ext cx="2240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7,5/cm²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Min. Rp 750.000/kali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52648" y="1051560"/>
            <a:ext cx="2606040" cy="484632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52648" y="1051560"/>
            <a:ext cx="54864" cy="4846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Shape 12"/>
          <p:cNvSpPr/>
          <p:nvPr/>
        </p:nvSpPr>
        <p:spPr>
          <a:xfrm>
            <a:off x="3535528" y="118872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3535528" y="1209294"/>
            <a:ext cx="41148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🧱</a:t>
            </a:r>
            <a:endParaRPr lang="en-US" sz="22" dirty="0"/>
          </a:p>
        </p:txBody>
      </p:sp>
      <p:sp>
        <p:nvSpPr>
          <p:cNvPr id="16" name="Text 14"/>
          <p:cNvSpPr/>
          <p:nvPr/>
        </p:nvSpPr>
        <p:spPr>
          <a:xfrm>
            <a:off x="3535528" y="16916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Melekat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35528" y="2057400"/>
            <a:ext cx="2240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750.000/m²/tahun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33008" y="1051560"/>
            <a:ext cx="2606040" cy="484632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33008" y="1051560"/>
            <a:ext cx="54864" cy="48463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20" name="Shape 18"/>
          <p:cNvSpPr/>
          <p:nvPr/>
        </p:nvSpPr>
        <p:spPr>
          <a:xfrm>
            <a:off x="6415888" y="1188720"/>
            <a:ext cx="411480" cy="411480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1" name="Text 19"/>
          <p:cNvSpPr/>
          <p:nvPr/>
        </p:nvSpPr>
        <p:spPr>
          <a:xfrm>
            <a:off x="6415888" y="1209294"/>
            <a:ext cx="41148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📄</a:t>
            </a:r>
            <a:endParaRPr lang="en-US" sz="22" dirty="0"/>
          </a:p>
        </p:txBody>
      </p:sp>
      <p:sp>
        <p:nvSpPr>
          <p:cNvPr id="22" name="Text 20"/>
          <p:cNvSpPr/>
          <p:nvPr/>
        </p:nvSpPr>
        <p:spPr>
          <a:xfrm>
            <a:off x="6415888" y="16916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Selebaran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15888" y="2057400"/>
            <a:ext cx="2240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600/lembar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Min. Rp 6.000.000/kali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113368" y="1051560"/>
            <a:ext cx="2606040" cy="484632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113368" y="1051560"/>
            <a:ext cx="54864" cy="48463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6" name="Shape 24"/>
          <p:cNvSpPr/>
          <p:nvPr/>
        </p:nvSpPr>
        <p:spPr>
          <a:xfrm>
            <a:off x="9296248" y="1188720"/>
            <a:ext cx="411480" cy="41148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9296248" y="1209294"/>
            <a:ext cx="41148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🚌</a:t>
            </a:r>
            <a:endParaRPr lang="en-US" sz="22" dirty="0"/>
          </a:p>
        </p:txBody>
      </p:sp>
      <p:sp>
        <p:nvSpPr>
          <p:cNvPr id="28" name="Text 26"/>
          <p:cNvSpPr/>
          <p:nvPr/>
        </p:nvSpPr>
        <p:spPr>
          <a:xfrm>
            <a:off x="9296248" y="16916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Berjalan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296248" y="2057400"/>
            <a:ext cx="2240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6.000/m²/hari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Termasuk kendaraan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6629400"/>
            <a:ext cx="12191695" cy="3200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1" name="Text 29"/>
          <p:cNvSpPr/>
          <p:nvPr/>
        </p:nvSpPr>
        <p:spPr>
          <a:xfrm>
            <a:off x="11368735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"/>
            <a:ext cx="12191695" cy="7772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"/>
            <a:ext cx="64008" cy="50292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"/>
            <a:ext cx="103628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NSR — Jenis Lainnya (lanjutan)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72288" y="1051560"/>
            <a:ext cx="2606040" cy="484632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2288" y="1051560"/>
            <a:ext cx="54864" cy="4846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655168" y="118872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655168" y="1209294"/>
            <a:ext cx="41148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🎈</a:t>
            </a:r>
            <a:endParaRPr lang="en-US" sz="22" dirty="0"/>
          </a:p>
        </p:txBody>
      </p:sp>
      <p:sp>
        <p:nvSpPr>
          <p:cNvPr id="10" name="Text 8"/>
          <p:cNvSpPr/>
          <p:nvPr/>
        </p:nvSpPr>
        <p:spPr>
          <a:xfrm>
            <a:off x="655168" y="16916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Udara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5168" y="2057400"/>
            <a:ext cx="2240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2.400.000/sekali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Maks. 1 bulan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52648" y="1051560"/>
            <a:ext cx="2606040" cy="484632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52648" y="1051560"/>
            <a:ext cx="54864" cy="4846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Shape 12"/>
          <p:cNvSpPr/>
          <p:nvPr/>
        </p:nvSpPr>
        <p:spPr>
          <a:xfrm>
            <a:off x="3535528" y="118872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3535528" y="1209294"/>
            <a:ext cx="41148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🌊</a:t>
            </a:r>
            <a:endParaRPr lang="en-US" sz="22" dirty="0"/>
          </a:p>
        </p:txBody>
      </p:sp>
      <p:sp>
        <p:nvSpPr>
          <p:cNvPr id="16" name="Text 14"/>
          <p:cNvSpPr/>
          <p:nvPr/>
        </p:nvSpPr>
        <p:spPr>
          <a:xfrm>
            <a:off x="3535528" y="16916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Apung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35528" y="2057400"/>
            <a:ext cx="2240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600.000/sekali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Maks. 1 bulan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33008" y="1051560"/>
            <a:ext cx="2606040" cy="484632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33008" y="1051560"/>
            <a:ext cx="54864" cy="48463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20" name="Shape 18"/>
          <p:cNvSpPr/>
          <p:nvPr/>
        </p:nvSpPr>
        <p:spPr>
          <a:xfrm>
            <a:off x="6415888" y="1188720"/>
            <a:ext cx="411480" cy="411480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1" name="Text 19"/>
          <p:cNvSpPr/>
          <p:nvPr/>
        </p:nvSpPr>
        <p:spPr>
          <a:xfrm>
            <a:off x="6415888" y="1209294"/>
            <a:ext cx="41148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🎬</a:t>
            </a:r>
            <a:endParaRPr lang="en-US" sz="22" dirty="0"/>
          </a:p>
        </p:txBody>
      </p:sp>
      <p:sp>
        <p:nvSpPr>
          <p:cNvPr id="22" name="Text 20"/>
          <p:cNvSpPr/>
          <p:nvPr/>
        </p:nvSpPr>
        <p:spPr>
          <a:xfrm>
            <a:off x="6415888" y="16916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/ Slide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15888" y="2057400"/>
            <a:ext cx="2240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12.000/15 detik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113368" y="1051560"/>
            <a:ext cx="2606040" cy="484632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113368" y="1051560"/>
            <a:ext cx="54864" cy="48463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6" name="Shape 24"/>
          <p:cNvSpPr/>
          <p:nvPr/>
        </p:nvSpPr>
        <p:spPr>
          <a:xfrm>
            <a:off x="9296248" y="1188720"/>
            <a:ext cx="411480" cy="41148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9296248" y="1209294"/>
            <a:ext cx="41148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🎭</a:t>
            </a:r>
            <a:endParaRPr lang="en-US" sz="22" dirty="0"/>
          </a:p>
        </p:txBody>
      </p:sp>
      <p:sp>
        <p:nvSpPr>
          <p:cNvPr id="28" name="Text 26"/>
          <p:cNvSpPr/>
          <p:nvPr/>
        </p:nvSpPr>
        <p:spPr>
          <a:xfrm>
            <a:off x="9296248" y="16916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Peragaan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296248" y="2057400"/>
            <a:ext cx="2240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480.000/penyelenggaraan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6629400"/>
            <a:ext cx="12191695" cy="3200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1" name="Text 29"/>
          <p:cNvSpPr/>
          <p:nvPr/>
        </p:nvSpPr>
        <p:spPr>
          <a:xfrm>
            <a:off x="11368735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D1F3C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3657600"/>
            <a:ext cx="4572000" cy="4572000"/>
          </a:xfrm>
          <a:prstGeom prst="ellipse">
            <a:avLst/>
          </a:prstGeom>
          <a:solidFill>
            <a:srgbClr val="0D1F3C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457200" cy="27432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457200"/>
            <a:ext cx="27432" cy="457200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277295" y="457200"/>
            <a:ext cx="457200" cy="27432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277295" y="457200"/>
            <a:ext cx="27432" cy="457200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5943600"/>
            <a:ext cx="457200" cy="27432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5943600"/>
            <a:ext cx="27432" cy="457200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277295" y="5943600"/>
            <a:ext cx="457200" cy="27432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277295" y="5943600"/>
            <a:ext cx="27432" cy="457200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96112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60704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225296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389888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554480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719072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883664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048256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212848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377440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542032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706624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871216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035808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200400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364992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529584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57200" y="2011680"/>
            <a:ext cx="1828800" cy="36576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2286000"/>
            <a:ext cx="1127729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VII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PENETAPAN, TAGIHAN &amp; PEMBAYARAN</a:t>
            </a:r>
            <a:endParaRPr lang="en-US" sz="3400" dirty="0"/>
          </a:p>
        </p:txBody>
      </p:sp>
      <p:sp>
        <p:nvSpPr>
          <p:cNvPr id="32" name="Text 30"/>
          <p:cNvSpPr/>
          <p:nvPr/>
        </p:nvSpPr>
        <p:spPr>
          <a:xfrm>
            <a:off x="457200" y="374904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Pasal 11–14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0" y="6629400"/>
            <a:ext cx="12191695" cy="36576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34" name="Text 32"/>
          <p:cNvSpPr/>
          <p:nvPr/>
        </p:nvSpPr>
        <p:spPr>
          <a:xfrm>
            <a:off x="11368735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"/>
            <a:ext cx="12191695" cy="7772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"/>
            <a:ext cx="64008" cy="50292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"/>
            <a:ext cx="103628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Penetapan → Tagihan → Pembayaran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75488"/>
            <a:ext cx="10362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Pasal 11–14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5168" y="1645920"/>
            <a:ext cx="2377440" cy="182880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5168" y="1645920"/>
            <a:ext cx="237744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Shape 7"/>
          <p:cNvSpPr/>
          <p:nvPr/>
        </p:nvSpPr>
        <p:spPr>
          <a:xfrm>
            <a:off x="1615288" y="178308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1615288" y="18059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1</a:t>
            </a:r>
            <a:endParaRPr lang="en-US" sz="24" dirty="0"/>
          </a:p>
        </p:txBody>
      </p:sp>
      <p:sp>
        <p:nvSpPr>
          <p:cNvPr id="11" name="Text 9"/>
          <p:cNvSpPr/>
          <p:nvPr/>
        </p:nvSpPr>
        <p:spPr>
          <a:xfrm>
            <a:off x="746608" y="23317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SKPD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46608" y="26517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Diterbitkan Bapenda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 berlaku 5 tahun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032608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8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3489808" y="1645920"/>
            <a:ext cx="2377440" cy="182880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89808" y="1645920"/>
            <a:ext cx="237744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Shape 14"/>
          <p:cNvSpPr/>
          <p:nvPr/>
        </p:nvSpPr>
        <p:spPr>
          <a:xfrm>
            <a:off x="4449928" y="178308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4449928" y="18059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2</a:t>
            </a:r>
            <a:endParaRPr lang="en-US" sz="24" dirty="0"/>
          </a:p>
        </p:txBody>
      </p:sp>
      <p:sp>
        <p:nvSpPr>
          <p:cNvPr id="18" name="Text 16"/>
          <p:cNvSpPr/>
          <p:nvPr/>
        </p:nvSpPr>
        <p:spPr>
          <a:xfrm>
            <a:off x="3581248" y="23317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Pembayaran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81248" y="26517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Lunas 1 bulan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sejak SKPD diterima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867248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8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6324448" y="1645920"/>
            <a:ext cx="2377440" cy="182880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24448" y="1645920"/>
            <a:ext cx="237744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23" name="Shape 21"/>
          <p:cNvSpPr/>
          <p:nvPr/>
        </p:nvSpPr>
        <p:spPr>
          <a:xfrm>
            <a:off x="7284568" y="1783080"/>
            <a:ext cx="457200" cy="457200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4" name="Text 22"/>
          <p:cNvSpPr/>
          <p:nvPr/>
        </p:nvSpPr>
        <p:spPr>
          <a:xfrm>
            <a:off x="7284568" y="18059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3</a:t>
            </a:r>
            <a:endParaRPr lang="en-US" sz="24" dirty="0"/>
          </a:p>
        </p:txBody>
      </p:sp>
      <p:sp>
        <p:nvSpPr>
          <p:cNvPr id="25" name="Text 23"/>
          <p:cNvSpPr/>
          <p:nvPr/>
        </p:nvSpPr>
        <p:spPr>
          <a:xfrm>
            <a:off x="6415888" y="23317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Keterlambatan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15888" y="26517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Bunga 1%/bln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Diterbitkan STPD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701888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8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9159088" y="1645920"/>
            <a:ext cx="2377440" cy="182880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159088" y="1645920"/>
            <a:ext cx="237744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Shape 28"/>
          <p:cNvSpPr/>
          <p:nvPr/>
        </p:nvSpPr>
        <p:spPr>
          <a:xfrm>
            <a:off x="10119208" y="1783080"/>
            <a:ext cx="457200" cy="45720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1" name="Text 29"/>
          <p:cNvSpPr/>
          <p:nvPr/>
        </p:nvSpPr>
        <p:spPr>
          <a:xfrm>
            <a:off x="10119208" y="18059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4</a:t>
            </a:r>
            <a:endParaRPr lang="en-US" sz="24" dirty="0"/>
          </a:p>
        </p:txBody>
      </p:sp>
      <p:sp>
        <p:nvSpPr>
          <p:cNvPr id="32" name="Text 30"/>
          <p:cNvSpPr/>
          <p:nvPr/>
        </p:nvSpPr>
        <p:spPr>
          <a:xfrm>
            <a:off x="9250528" y="23317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STPD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250528" y="26517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Harus lunas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30 hari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3931920"/>
            <a:ext cx="11277295" cy="1554480"/>
          </a:xfrm>
          <a:prstGeom prst="roundRect">
            <a:avLst/>
          </a:prstGeom>
          <a:solidFill>
            <a:srgbClr val="E8EDF5"/>
          </a:solidFill>
          <a:ln/>
        </p:spPr>
      </p:sp>
      <p:sp>
        <p:nvSpPr>
          <p:cNvPr id="35" name="Text 33"/>
          <p:cNvSpPr/>
          <p:nvPr/>
        </p:nvSpPr>
        <p:spPr>
          <a:xfrm>
            <a:off x="685800" y="3977640"/>
            <a:ext cx="108200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Jatuh tempo: 1 bulan sejak tanggal pengiriman SKPD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Pembayaran: Kas Daerah / Bank Persepsi / tempat lain yang ditunjuk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Stiker sebagai tanda bukti pembayaran reklame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STPD dikenakan bunga 1%/bulan (maks. 24 bulan)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0" y="6629400"/>
            <a:ext cx="12191695" cy="3200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7" name="Text 35"/>
          <p:cNvSpPr/>
          <p:nvPr/>
        </p:nvSpPr>
        <p:spPr>
          <a:xfrm>
            <a:off x="11368735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D1F3C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3657600"/>
            <a:ext cx="4572000" cy="4572000"/>
          </a:xfrm>
          <a:prstGeom prst="ellipse">
            <a:avLst/>
          </a:prstGeom>
          <a:solidFill>
            <a:srgbClr val="0D1F3C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457200" cy="27432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457200"/>
            <a:ext cx="27432" cy="457200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277295" y="457200"/>
            <a:ext cx="457200" cy="27432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277295" y="457200"/>
            <a:ext cx="27432" cy="457200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5943600"/>
            <a:ext cx="457200" cy="27432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5943600"/>
            <a:ext cx="27432" cy="457200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277295" y="5943600"/>
            <a:ext cx="457200" cy="27432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277295" y="5943600"/>
            <a:ext cx="27432" cy="457200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96112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60704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225296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389888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554480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719072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883664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048256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212848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377440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542032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706624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871216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035808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200400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364992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529584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57200" y="2011680"/>
            <a:ext cx="1828800" cy="36576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2286000"/>
            <a:ext cx="1127729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VIII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PEMBETULAN, KEBERATAN &amp; BANDING</a:t>
            </a:r>
            <a:endParaRPr lang="en-US" sz="3400" dirty="0"/>
          </a:p>
        </p:txBody>
      </p:sp>
      <p:sp>
        <p:nvSpPr>
          <p:cNvPr id="32" name="Text 30"/>
          <p:cNvSpPr/>
          <p:nvPr/>
        </p:nvSpPr>
        <p:spPr>
          <a:xfrm>
            <a:off x="457200" y="374904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Pasal 15–20, 29–33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0" y="6629400"/>
            <a:ext cx="12191695" cy="36576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34" name="Text 32"/>
          <p:cNvSpPr/>
          <p:nvPr/>
        </p:nvSpPr>
        <p:spPr>
          <a:xfrm>
            <a:off x="11368735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"/>
            <a:ext cx="12191695" cy="7772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"/>
            <a:ext cx="64008" cy="50292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"/>
            <a:ext cx="103628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Pembetulan Ketetapan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5303520" cy="49834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51560"/>
            <a:ext cx="54864" cy="4983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234440"/>
            <a:ext cx="48920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PEMBETULAN (Pasal 15–20)</a:t>
            </a:r>
            <a:endParaRPr lang="en-US" sz="13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Kesalahan tulis: nama, alamat, NPWPD</a:t>
            </a:r>
            <a:endParaRPr lang="en-US" sz="13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Kesalahan hitung: jumlah, tarif</a:t>
            </a:r>
            <a:endParaRPr lang="en-US" sz="13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Kekeliruan penerapan aturan</a:t>
            </a:r>
            <a:endParaRPr lang="en-US" sz="13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permohonan = 1 ketetapan</a:t>
            </a:r>
            <a:endParaRPr lang="en-US" sz="13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Keputusan maksimal 6 bulan</a:t>
            </a:r>
            <a:endParaRPr lang="en-US" sz="13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6 bulan tanpa putusan → dikabulkan</a:t>
            </a:r>
            <a:endParaRPr lang="en-US" sz="13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Dapat dilakukan berulang (Ps 20)</a:t>
            </a:r>
            <a:endParaRPr lang="en-US" sz="13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Jenis keputusan: kabul / batal / tolak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80760" y="1051560"/>
            <a:ext cx="5303520" cy="49834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080760" y="1051560"/>
            <a:ext cx="54864" cy="498348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1234440"/>
            <a:ext cx="48920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JANGKA WAKTU &amp; SANKSI</a:t>
            </a:r>
            <a:endParaRPr lang="en-US" sz="13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Permohonan diajukan ke Bapenda</a:t>
            </a:r>
            <a:endParaRPr lang="en-US" sz="13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Keputusan: kabul (tambah/kurang/hapus)</a:t>
            </a:r>
            <a:endParaRPr lang="en-US" sz="13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Keputusan: batal | tolak</a:t>
            </a:r>
            <a:endParaRPr lang="en-US" sz="13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Pasal 19: pembetulan jabatan</a:t>
            </a:r>
            <a:endParaRPr lang="en-US" sz="13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Pasal 20: berulang jika masih salah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6629400"/>
            <a:ext cx="12191695" cy="3200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3" name="Text 11"/>
          <p:cNvSpPr/>
          <p:nvPr/>
        </p:nvSpPr>
        <p:spPr>
          <a:xfrm>
            <a:off x="11368735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"/>
            <a:ext cx="12191695" cy="7772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"/>
            <a:ext cx="64008" cy="50292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"/>
            <a:ext cx="103628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Keberatan &amp; Banding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5303520" cy="49834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51560"/>
            <a:ext cx="54864" cy="4983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234440"/>
            <a:ext cx="48920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KEBERATAN (Pasal 29–31)</a:t>
            </a:r>
            <a:endParaRPr lang="en-US" sz="13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Objek: SKPD, SKPDKB, SKPDKBT, dll</a:t>
            </a:r>
            <a:endParaRPr lang="en-US" sz="13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Diajukan maks. 3 bulan sejak SKPD</a:t>
            </a:r>
            <a:endParaRPr lang="en-US" sz="13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Sudah bayar min. yang disetujui</a:t>
            </a:r>
            <a:endParaRPr lang="en-US" sz="13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Keputusan maks. 12 bulan</a:t>
            </a:r>
            <a:endParaRPr lang="en-US" sz="13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Jika ditolak: denda 30%</a:t>
            </a:r>
            <a:endParaRPr lang="en-US" sz="13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Jika dikabulkan: + bunga 0,6%/bulan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80760" y="1051560"/>
            <a:ext cx="5303520" cy="49834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080760" y="1051560"/>
            <a:ext cx="54864" cy="4983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1234440"/>
            <a:ext cx="48920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BANDING (Pasal 32–33)</a:t>
            </a:r>
            <a:endParaRPr lang="en-US" sz="13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Objek: Surat Keputusan Keberatan</a:t>
            </a:r>
            <a:endParaRPr lang="en-US" sz="13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 badan peradilan pajak</a:t>
            </a:r>
            <a:endParaRPr lang="en-US" sz="13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Maks. 3 bulan sejak keputusan</a:t>
            </a:r>
            <a:endParaRPr lang="en-US" sz="13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Menangguhkan kewajiban bayar</a:t>
            </a:r>
            <a:endParaRPr lang="en-US" sz="13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Jika ditolak: denda 60%</a:t>
            </a:r>
            <a:endParaRPr lang="en-US" sz="13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Jika dikabulkan: + bunga 0,6%/bulan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6629400"/>
            <a:ext cx="12191695" cy="3200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3" name="Text 11"/>
          <p:cNvSpPr/>
          <p:nvPr/>
        </p:nvSpPr>
        <p:spPr>
          <a:xfrm>
            <a:off x="11368735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D1F3C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3657600"/>
            <a:ext cx="4572000" cy="4572000"/>
          </a:xfrm>
          <a:prstGeom prst="ellipse">
            <a:avLst/>
          </a:prstGeom>
          <a:solidFill>
            <a:srgbClr val="0D1F3C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457200" cy="27432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457200"/>
            <a:ext cx="27432" cy="457200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277295" y="457200"/>
            <a:ext cx="457200" cy="27432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277295" y="457200"/>
            <a:ext cx="27432" cy="457200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5943600"/>
            <a:ext cx="457200" cy="27432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5943600"/>
            <a:ext cx="27432" cy="457200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277295" y="5943600"/>
            <a:ext cx="457200" cy="27432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277295" y="5943600"/>
            <a:ext cx="27432" cy="457200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96112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60704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225296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389888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554480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719072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883664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048256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212848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377440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542032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706624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871216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035808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200400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364992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529584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57200" y="2011680"/>
            <a:ext cx="1828800" cy="36576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2286000"/>
            <a:ext cx="1127729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IX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PEMERIKSAAN, PENAGIHAN &amp; PENGHAPUSAN</a:t>
            </a:r>
            <a:endParaRPr lang="en-US" sz="3400" dirty="0"/>
          </a:p>
        </p:txBody>
      </p:sp>
      <p:sp>
        <p:nvSpPr>
          <p:cNvPr id="32" name="Text 30"/>
          <p:cNvSpPr/>
          <p:nvPr/>
        </p:nvSpPr>
        <p:spPr>
          <a:xfrm>
            <a:off x="457200" y="374904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Pasal 22–26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0" y="6629400"/>
            <a:ext cx="12191695" cy="36576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34" name="Text 32"/>
          <p:cNvSpPr/>
          <p:nvPr/>
        </p:nvSpPr>
        <p:spPr>
          <a:xfrm>
            <a:off x="11368735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"/>
            <a:ext cx="12191695" cy="7772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"/>
            <a:ext cx="64008" cy="50292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"/>
            <a:ext cx="103628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Pemeriksaan &amp; Penagihan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0868" y="1051560"/>
            <a:ext cx="3520440" cy="484632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0868" y="1051560"/>
            <a:ext cx="54864" cy="4846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723748" y="118872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723748" y="1209294"/>
            <a:ext cx="41148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🔍</a:t>
            </a:r>
            <a:endParaRPr lang="en-US" sz="22" dirty="0"/>
          </a:p>
        </p:txBody>
      </p:sp>
      <p:sp>
        <p:nvSpPr>
          <p:cNvPr id="10" name="Text 8"/>
          <p:cNvSpPr/>
          <p:nvPr/>
        </p:nvSpPr>
        <p:spPr>
          <a:xfrm>
            <a:off x="723748" y="169164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Pemeriksaan (Ps 22–23)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23748" y="2057400"/>
            <a:ext cx="31546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Kepala Bapenda berwenang periksa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Menguji kepatuhan WP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 wajib: buka buku/dokumen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 akses tempat &amp; keterangan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Jika tidak → pajak ditetapkan jabatan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35628" y="1051560"/>
            <a:ext cx="3520440" cy="484632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35628" y="1051560"/>
            <a:ext cx="54864" cy="4846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Shape 12"/>
          <p:cNvSpPr/>
          <p:nvPr/>
        </p:nvSpPr>
        <p:spPr>
          <a:xfrm>
            <a:off x="4518508" y="118872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4518508" y="1209294"/>
            <a:ext cx="41148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📬</a:t>
            </a:r>
            <a:endParaRPr lang="en-US" sz="22" dirty="0"/>
          </a:p>
        </p:txBody>
      </p:sp>
      <p:sp>
        <p:nvSpPr>
          <p:cNvPr id="16" name="Text 14"/>
          <p:cNvSpPr/>
          <p:nvPr/>
        </p:nvSpPr>
        <p:spPr>
          <a:xfrm>
            <a:off x="4518508" y="169164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Penagihan (Ps 24)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18508" y="2057400"/>
            <a:ext cx="31546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Dasar: SKPD, SKPDKB, SKPDKBT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STPD, SK Pembetulan/Keberatan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Putusan Banding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30388" y="1051560"/>
            <a:ext cx="3520440" cy="484632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30388" y="1051560"/>
            <a:ext cx="54864" cy="48463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20" name="Shape 18"/>
          <p:cNvSpPr/>
          <p:nvPr/>
        </p:nvSpPr>
        <p:spPr>
          <a:xfrm>
            <a:off x="8313268" y="1188720"/>
            <a:ext cx="411480" cy="411480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1" name="Text 19"/>
          <p:cNvSpPr/>
          <p:nvPr/>
        </p:nvSpPr>
        <p:spPr>
          <a:xfrm>
            <a:off x="8313268" y="1209294"/>
            <a:ext cx="41148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⏳</a:t>
            </a:r>
            <a:endParaRPr lang="en-US" sz="22" dirty="0"/>
          </a:p>
        </p:txBody>
      </p:sp>
      <p:sp>
        <p:nvSpPr>
          <p:cNvPr id="22" name="Text 20"/>
          <p:cNvSpPr/>
          <p:nvPr/>
        </p:nvSpPr>
        <p:spPr>
          <a:xfrm>
            <a:off x="8313268" y="169164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Kedaluwarsa (Ps 25)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313268" y="2057400"/>
            <a:ext cx="31546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tahun sejak pajak terutang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Tertangguh jika ada: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Surat Teguran / Paksa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Pengakuan utang dari WP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6629400"/>
            <a:ext cx="12191695" cy="3200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5" name="Text 23"/>
          <p:cNvSpPr/>
          <p:nvPr/>
        </p:nvSpPr>
        <p:spPr>
          <a:xfrm>
            <a:off x="11368735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"/>
            <a:ext cx="12191695" cy="7772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"/>
            <a:ext cx="64008" cy="50292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"/>
            <a:ext cx="103628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Penghapusan Piutang Pajak (Pasal 26)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55168" y="1645920"/>
            <a:ext cx="2377440" cy="182880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55168" y="1645920"/>
            <a:ext cx="237744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1615288" y="178308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1615288" y="18059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1</a:t>
            </a:r>
            <a:endParaRPr lang="en-US" sz="24" dirty="0"/>
          </a:p>
        </p:txBody>
      </p:sp>
      <p:sp>
        <p:nvSpPr>
          <p:cNvPr id="10" name="Text 8"/>
          <p:cNvSpPr/>
          <p:nvPr/>
        </p:nvSpPr>
        <p:spPr>
          <a:xfrm>
            <a:off x="746608" y="23317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Penelitian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46608" y="26517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Dilakukan Bapenda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032608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8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3489808" y="1645920"/>
            <a:ext cx="2377440" cy="182880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89808" y="1645920"/>
            <a:ext cx="237744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Shape 13"/>
          <p:cNvSpPr/>
          <p:nvPr/>
        </p:nvSpPr>
        <p:spPr>
          <a:xfrm>
            <a:off x="4449928" y="178308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4449928" y="18059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2</a:t>
            </a:r>
            <a:endParaRPr lang="en-US" sz="24" dirty="0"/>
          </a:p>
        </p:txBody>
      </p:sp>
      <p:sp>
        <p:nvSpPr>
          <p:cNvPr id="17" name="Text 15"/>
          <p:cNvSpPr/>
          <p:nvPr/>
        </p:nvSpPr>
        <p:spPr>
          <a:xfrm>
            <a:off x="3581248" y="23317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Penetapan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81248" y="26517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Keputusan Wali Kota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867248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8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6324448" y="1645920"/>
            <a:ext cx="2377440" cy="182880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24448" y="1645920"/>
            <a:ext cx="237744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22" name="Shape 20"/>
          <p:cNvSpPr/>
          <p:nvPr/>
        </p:nvSpPr>
        <p:spPr>
          <a:xfrm>
            <a:off x="7284568" y="1783080"/>
            <a:ext cx="457200" cy="457200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3" name="Text 21"/>
          <p:cNvSpPr/>
          <p:nvPr/>
        </p:nvSpPr>
        <p:spPr>
          <a:xfrm>
            <a:off x="7284568" y="18059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3</a:t>
            </a:r>
            <a:endParaRPr lang="en-US" sz="24" dirty="0"/>
          </a:p>
        </p:txBody>
      </p:sp>
      <p:sp>
        <p:nvSpPr>
          <p:cNvPr id="24" name="Text 22"/>
          <p:cNvSpPr/>
          <p:nvPr/>
        </p:nvSpPr>
        <p:spPr>
          <a:xfrm>
            <a:off x="6415888" y="23317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Koordinasi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15888" y="26517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 Inspektorat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701888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8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9159088" y="1645920"/>
            <a:ext cx="2377440" cy="182880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159088" y="1645920"/>
            <a:ext cx="2377440" cy="457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9" name="Shape 27"/>
          <p:cNvSpPr/>
          <p:nvPr/>
        </p:nvSpPr>
        <p:spPr>
          <a:xfrm>
            <a:off x="10119208" y="178308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30" name="Text 28"/>
          <p:cNvSpPr/>
          <p:nvPr/>
        </p:nvSpPr>
        <p:spPr>
          <a:xfrm>
            <a:off x="10119208" y="18059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4</a:t>
            </a:r>
            <a:endParaRPr lang="en-US" sz="24" dirty="0"/>
          </a:p>
        </p:txBody>
      </p:sp>
      <p:sp>
        <p:nvSpPr>
          <p:cNvPr id="31" name="Text 29"/>
          <p:cNvSpPr/>
          <p:nvPr/>
        </p:nvSpPr>
        <p:spPr>
          <a:xfrm>
            <a:off x="9250528" y="23317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 Penghapusan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250528" y="26517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Diterbitkan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3931920"/>
            <a:ext cx="11277295" cy="1554480"/>
          </a:xfrm>
          <a:prstGeom prst="roundRect">
            <a:avLst/>
          </a:prstGeom>
          <a:solidFill>
            <a:srgbClr val="E8EDF5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" y="3977640"/>
            <a:ext cx="108200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Syarat penghapusan piutang pajak: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Piutang tidak mungkin ditagih lagi karena kedaluwarsa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Ada koordinasi dengan Inspektorat Daerah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Dibuktikan dengan dokumen pelaksanaan penagihan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6629400"/>
            <a:ext cx="12191695" cy="3200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6" name="Text 34"/>
          <p:cNvSpPr/>
          <p:nvPr/>
        </p:nvSpPr>
        <p:spPr>
          <a:xfrm>
            <a:off x="11368735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D1F3C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3657600"/>
            <a:ext cx="4572000" cy="4572000"/>
          </a:xfrm>
          <a:prstGeom prst="ellipse">
            <a:avLst/>
          </a:prstGeom>
          <a:solidFill>
            <a:srgbClr val="0D1F3C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457200" cy="27432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457200"/>
            <a:ext cx="27432" cy="457200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277295" y="457200"/>
            <a:ext cx="457200" cy="27432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277295" y="457200"/>
            <a:ext cx="27432" cy="457200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5943600"/>
            <a:ext cx="457200" cy="27432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5943600"/>
            <a:ext cx="27432" cy="457200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277295" y="5943600"/>
            <a:ext cx="457200" cy="27432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277295" y="5943600"/>
            <a:ext cx="27432" cy="457200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96112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60704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225296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389888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554480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719072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883664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048256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212848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377440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542032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706624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871216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035808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200400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364992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529584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57200" y="2011680"/>
            <a:ext cx="1828800" cy="36576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2286000"/>
            <a:ext cx="1127729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X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KERINGANAN, KEMUDAHAN &amp; PENGHARGAAN</a:t>
            </a:r>
            <a:endParaRPr lang="en-US" sz="3400" dirty="0"/>
          </a:p>
        </p:txBody>
      </p:sp>
      <p:sp>
        <p:nvSpPr>
          <p:cNvPr id="32" name="Text 30"/>
          <p:cNvSpPr/>
          <p:nvPr/>
        </p:nvSpPr>
        <p:spPr>
          <a:xfrm>
            <a:off x="457200" y="374904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Pasal 27–28, 34–35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0" y="6629400"/>
            <a:ext cx="12191695" cy="36576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34" name="Text 32"/>
          <p:cNvSpPr/>
          <p:nvPr/>
        </p:nvSpPr>
        <p:spPr>
          <a:xfrm>
            <a:off x="11368735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"/>
            <a:ext cx="12191695" cy="7772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"/>
            <a:ext cx="64008" cy="50292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"/>
            <a:ext cx="103628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Fasilitas &amp; Penghargaan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0868" y="1051560"/>
            <a:ext cx="3520440" cy="484632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0868" y="1051560"/>
            <a:ext cx="54864" cy="4846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723748" y="118872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723748" y="1209294"/>
            <a:ext cx="41148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🎯</a:t>
            </a:r>
            <a:endParaRPr lang="en-US" sz="22" dirty="0"/>
          </a:p>
        </p:txBody>
      </p:sp>
      <p:sp>
        <p:nvSpPr>
          <p:cNvPr id="10" name="Text 8"/>
          <p:cNvSpPr/>
          <p:nvPr/>
        </p:nvSpPr>
        <p:spPr>
          <a:xfrm>
            <a:off x="723748" y="169164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Keringanan (Ps 27)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23748" y="2057400"/>
            <a:ext cx="31546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Keringanan / Pengurangan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Pembebasan / Penundaan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Atas pokok &amp; sanksi pajak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 dengan likuiditas rendah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Objek terdampak bencana/kebakaran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35628" y="1051560"/>
            <a:ext cx="3520440" cy="484632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35628" y="1051560"/>
            <a:ext cx="54864" cy="4846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Shape 12"/>
          <p:cNvSpPr/>
          <p:nvPr/>
        </p:nvSpPr>
        <p:spPr>
          <a:xfrm>
            <a:off x="4518508" y="118872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4518508" y="1209294"/>
            <a:ext cx="41148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🤝</a:t>
            </a:r>
            <a:endParaRPr lang="en-US" sz="22" dirty="0"/>
          </a:p>
        </p:txBody>
      </p:sp>
      <p:sp>
        <p:nvSpPr>
          <p:cNvPr id="16" name="Text 14"/>
          <p:cNvSpPr/>
          <p:nvPr/>
        </p:nvSpPr>
        <p:spPr>
          <a:xfrm>
            <a:off x="4518508" y="169164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Kemudahan (Ps 28)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18508" y="2057400"/>
            <a:ext cx="31546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Perpanjangan waktu bayar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Angsuran maks. 24 bulan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Bunga 0,6%/bulan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Keadaan kahar: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bencana, kebakaran, wabah, kerusuhan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30388" y="1051560"/>
            <a:ext cx="3520440" cy="484632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30388" y="1051560"/>
            <a:ext cx="54864" cy="48463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20" name="Shape 18"/>
          <p:cNvSpPr/>
          <p:nvPr/>
        </p:nvSpPr>
        <p:spPr>
          <a:xfrm>
            <a:off x="8313268" y="1188720"/>
            <a:ext cx="411480" cy="411480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1" name="Text 19"/>
          <p:cNvSpPr/>
          <p:nvPr/>
        </p:nvSpPr>
        <p:spPr>
          <a:xfrm>
            <a:off x="8313268" y="1209294"/>
            <a:ext cx="41148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🏆</a:t>
            </a:r>
            <a:endParaRPr lang="en-US" sz="22" dirty="0"/>
          </a:p>
        </p:txBody>
      </p:sp>
      <p:sp>
        <p:nvSpPr>
          <p:cNvPr id="22" name="Text 20"/>
          <p:cNvSpPr/>
          <p:nvPr/>
        </p:nvSpPr>
        <p:spPr>
          <a:xfrm>
            <a:off x="8313268" y="169164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Penghargaan (Ps 34–35)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313268" y="2057400"/>
            <a:ext cx="31546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 Taat Pajak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Bayar tepat waktu ≥ 1 tahun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tunggakan 3 tahun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Kontribusi signifikan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Piagam / Hadiah (APBD)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6629400"/>
            <a:ext cx="12191695" cy="3200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5" name="Text 23"/>
          <p:cNvSpPr/>
          <p:nvPr/>
        </p:nvSpPr>
        <p:spPr>
          <a:xfrm>
            <a:off x="11368735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D1F3C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3657600"/>
            <a:ext cx="4572000" cy="4572000"/>
          </a:xfrm>
          <a:prstGeom prst="ellipse">
            <a:avLst/>
          </a:prstGeom>
          <a:solidFill>
            <a:srgbClr val="0D1F3C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457200" cy="27432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457200"/>
            <a:ext cx="27432" cy="457200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277295" y="457200"/>
            <a:ext cx="457200" cy="27432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277295" y="457200"/>
            <a:ext cx="27432" cy="457200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5943600"/>
            <a:ext cx="457200" cy="27432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5943600"/>
            <a:ext cx="27432" cy="457200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277295" y="5943600"/>
            <a:ext cx="457200" cy="27432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277295" y="5943600"/>
            <a:ext cx="27432" cy="457200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96112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60704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225296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389888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554480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719072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883664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048256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212848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377440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542032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706624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871216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035808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200400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364992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529584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57200" y="2011680"/>
            <a:ext cx="1828800" cy="36576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2286000"/>
            <a:ext cx="1127729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XI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KETENTUAN PENUTUP</a:t>
            </a:r>
            <a:endParaRPr lang="en-US" sz="3400" dirty="0"/>
          </a:p>
        </p:txBody>
      </p:sp>
      <p:sp>
        <p:nvSpPr>
          <p:cNvPr id="32" name="Text 30"/>
          <p:cNvSpPr/>
          <p:nvPr/>
        </p:nvSpPr>
        <p:spPr>
          <a:xfrm>
            <a:off x="457200" y="374904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Pasal 36–37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0" y="6629400"/>
            <a:ext cx="12191695" cy="36576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34" name="Text 32"/>
          <p:cNvSpPr/>
          <p:nvPr/>
        </p:nvSpPr>
        <p:spPr>
          <a:xfrm>
            <a:off x="11368735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"/>
            <a:ext cx="12191695" cy="7772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"/>
            <a:ext cx="64008" cy="50292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"/>
            <a:ext cx="103628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Pencabutan &amp; Mulai Berlaku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5303520" cy="49834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51560"/>
            <a:ext cx="54864" cy="4983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234440"/>
            <a:ext cx="48920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PERATURAN YANG DICABUT (Pasal 36)</a:t>
            </a:r>
            <a:endParaRPr lang="en-US" sz="13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Perwal No. 48 Tahun 2012</a:t>
            </a:r>
            <a:endParaRPr lang="en-US" sz="13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Petunjuk Pelaksanaan Perda No. 14/2012</a:t>
            </a:r>
            <a:endParaRPr lang="en-US" sz="13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Perwal No. 52 Tahun 2013</a:t>
            </a:r>
            <a:endParaRPr lang="en-US" sz="13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Perubahan atas Perwal 48/2012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80760" y="1051560"/>
            <a:ext cx="5303520" cy="49834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080760" y="1051560"/>
            <a:ext cx="54864" cy="498348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1234440"/>
            <a:ext cx="48920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MULAI BERLAKU (Pasal 37)</a:t>
            </a:r>
            <a:endParaRPr lang="en-US" sz="13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Sejak diundangkan</a:t>
            </a:r>
            <a:endParaRPr lang="en-US" sz="13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Desember 2024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Pj. WALI KOTA BEKASI,</a:t>
            </a:r>
            <a:endParaRPr lang="en-US" sz="13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ttd.</a:t>
            </a:r>
            <a:endParaRPr lang="en-US" sz="13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GANI MUHAMAD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6629400"/>
            <a:ext cx="12191695" cy="3200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3" name="Text 11"/>
          <p:cNvSpPr/>
          <p:nvPr/>
        </p:nvSpPr>
        <p:spPr>
          <a:xfrm>
            <a:off x="11368735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371600"/>
            <a:ext cx="4114800" cy="4114800"/>
          </a:xfrm>
          <a:prstGeom prst="ellipse">
            <a:avLst/>
          </a:prstGeom>
          <a:solidFill>
            <a:srgbClr val="0D1F3C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1828800"/>
            <a:ext cx="6400800" cy="6400800"/>
          </a:xfrm>
          <a:prstGeom prst="ellipse">
            <a:avLst/>
          </a:prstGeom>
          <a:solidFill>
            <a:srgbClr val="0D1F3C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0" y="4114800"/>
            <a:ext cx="4572000" cy="4572000"/>
          </a:xfrm>
          <a:prstGeom prst="ellipse">
            <a:avLst/>
          </a:prstGeom>
          <a:solidFill>
            <a:srgbClr val="0D1F3C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74320"/>
            <a:ext cx="45720" cy="45720"/>
          </a:xfrm>
          <a:prstGeom prst="ellipse">
            <a:avLst/>
          </a:prstGeom>
          <a:solidFill>
            <a:srgbClr val="C8962E"/>
          </a:solidFill>
          <a:ln/>
        </p:spPr>
      </p:sp>
      <p:sp>
        <p:nvSpPr>
          <p:cNvPr id="6" name="Shape 4"/>
          <p:cNvSpPr/>
          <p:nvPr/>
        </p:nvSpPr>
        <p:spPr>
          <a:xfrm>
            <a:off x="896112" y="274320"/>
            <a:ext cx="45720" cy="45720"/>
          </a:xfrm>
          <a:prstGeom prst="ellipse">
            <a:avLst/>
          </a:prstGeom>
          <a:solidFill>
            <a:srgbClr val="C8962E"/>
          </a:solidFill>
          <a:ln/>
        </p:spPr>
      </p:sp>
      <p:sp>
        <p:nvSpPr>
          <p:cNvPr id="7" name="Shape 5"/>
          <p:cNvSpPr/>
          <p:nvPr/>
        </p:nvSpPr>
        <p:spPr>
          <a:xfrm>
            <a:off x="1060704" y="274320"/>
            <a:ext cx="45720" cy="45720"/>
          </a:xfrm>
          <a:prstGeom prst="ellipse">
            <a:avLst/>
          </a:prstGeom>
          <a:solidFill>
            <a:srgbClr val="C8962E"/>
          </a:solidFill>
          <a:ln/>
        </p:spPr>
      </p:sp>
      <p:sp>
        <p:nvSpPr>
          <p:cNvPr id="8" name="Shape 6"/>
          <p:cNvSpPr/>
          <p:nvPr/>
        </p:nvSpPr>
        <p:spPr>
          <a:xfrm>
            <a:off x="1225296" y="274320"/>
            <a:ext cx="45720" cy="45720"/>
          </a:xfrm>
          <a:prstGeom prst="ellipse">
            <a:avLst/>
          </a:prstGeom>
          <a:solidFill>
            <a:srgbClr val="C8962E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274320"/>
            <a:ext cx="45720" cy="45720"/>
          </a:xfrm>
          <a:prstGeom prst="ellipse">
            <a:avLst/>
          </a:prstGeom>
          <a:solidFill>
            <a:srgbClr val="C8962E"/>
          </a:solidFill>
          <a:ln/>
        </p:spPr>
      </p:sp>
      <p:sp>
        <p:nvSpPr>
          <p:cNvPr id="10" name="Shape 8"/>
          <p:cNvSpPr/>
          <p:nvPr/>
        </p:nvSpPr>
        <p:spPr>
          <a:xfrm>
            <a:off x="1554480" y="274320"/>
            <a:ext cx="45720" cy="45720"/>
          </a:xfrm>
          <a:prstGeom prst="ellipse">
            <a:avLst/>
          </a:prstGeom>
          <a:solidFill>
            <a:srgbClr val="C8962E"/>
          </a:solidFill>
          <a:ln/>
        </p:spPr>
      </p:sp>
      <p:sp>
        <p:nvSpPr>
          <p:cNvPr id="11" name="Shape 9"/>
          <p:cNvSpPr/>
          <p:nvPr/>
        </p:nvSpPr>
        <p:spPr>
          <a:xfrm>
            <a:off x="1719072" y="274320"/>
            <a:ext cx="45720" cy="45720"/>
          </a:xfrm>
          <a:prstGeom prst="ellipse">
            <a:avLst/>
          </a:prstGeom>
          <a:solidFill>
            <a:srgbClr val="C8962E"/>
          </a:solidFill>
          <a:ln/>
        </p:spPr>
      </p:sp>
      <p:sp>
        <p:nvSpPr>
          <p:cNvPr id="12" name="Shape 10"/>
          <p:cNvSpPr/>
          <p:nvPr/>
        </p:nvSpPr>
        <p:spPr>
          <a:xfrm>
            <a:off x="1883664" y="274320"/>
            <a:ext cx="45720" cy="45720"/>
          </a:xfrm>
          <a:prstGeom prst="ellipse">
            <a:avLst/>
          </a:prstGeom>
          <a:solidFill>
            <a:srgbClr val="C8962E"/>
          </a:solidFill>
          <a:ln/>
        </p:spPr>
      </p:sp>
      <p:sp>
        <p:nvSpPr>
          <p:cNvPr id="13" name="Shape 11"/>
          <p:cNvSpPr/>
          <p:nvPr/>
        </p:nvSpPr>
        <p:spPr>
          <a:xfrm>
            <a:off x="2048256" y="274320"/>
            <a:ext cx="45720" cy="45720"/>
          </a:xfrm>
          <a:prstGeom prst="ellipse">
            <a:avLst/>
          </a:prstGeom>
          <a:solidFill>
            <a:srgbClr val="C8962E"/>
          </a:solidFill>
          <a:ln/>
        </p:spPr>
      </p:sp>
      <p:sp>
        <p:nvSpPr>
          <p:cNvPr id="14" name="Shape 12"/>
          <p:cNvSpPr/>
          <p:nvPr/>
        </p:nvSpPr>
        <p:spPr>
          <a:xfrm>
            <a:off x="2212848" y="274320"/>
            <a:ext cx="45720" cy="45720"/>
          </a:xfrm>
          <a:prstGeom prst="ellipse">
            <a:avLst/>
          </a:prstGeom>
          <a:solidFill>
            <a:srgbClr val="C8962E"/>
          </a:solidFill>
          <a:ln/>
        </p:spPr>
      </p:sp>
      <p:sp>
        <p:nvSpPr>
          <p:cNvPr id="15" name="Shape 13"/>
          <p:cNvSpPr/>
          <p:nvPr/>
        </p:nvSpPr>
        <p:spPr>
          <a:xfrm>
            <a:off x="2377440" y="274320"/>
            <a:ext cx="45720" cy="45720"/>
          </a:xfrm>
          <a:prstGeom prst="ellipse">
            <a:avLst/>
          </a:prstGeom>
          <a:solidFill>
            <a:srgbClr val="C8962E"/>
          </a:solidFill>
          <a:ln/>
        </p:spPr>
      </p:sp>
      <p:sp>
        <p:nvSpPr>
          <p:cNvPr id="16" name="Shape 14"/>
          <p:cNvSpPr/>
          <p:nvPr/>
        </p:nvSpPr>
        <p:spPr>
          <a:xfrm>
            <a:off x="2542032" y="274320"/>
            <a:ext cx="45720" cy="45720"/>
          </a:xfrm>
          <a:prstGeom prst="ellipse">
            <a:avLst/>
          </a:prstGeom>
          <a:solidFill>
            <a:srgbClr val="C8962E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457200"/>
            <a:ext cx="457200" cy="27432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457200"/>
            <a:ext cx="27432" cy="457200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277295" y="457200"/>
            <a:ext cx="457200" cy="27432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277295" y="457200"/>
            <a:ext cx="27432" cy="457200"/>
          </a:xfrm>
          <a:prstGeom prst="rect">
            <a:avLst/>
          </a:prstGeom>
          <a:solidFill>
            <a:srgbClr val="C8962E">
              <a:alpha val="6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3291840"/>
            <a:ext cx="3200400" cy="36576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146304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BERITA DAERAH KOTA BEKASI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2194560"/>
            <a:ext cx="112772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</a:t>
            </a:r>
            <a:endParaRPr lang="en-US" sz="4800" dirty="0"/>
          </a:p>
        </p:txBody>
      </p:sp>
      <p:sp>
        <p:nvSpPr>
          <p:cNvPr id="24" name="Text 22"/>
          <p:cNvSpPr/>
          <p:nvPr/>
        </p:nvSpPr>
        <p:spPr>
          <a:xfrm>
            <a:off x="457200" y="374904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Peraturan Wali Kota Bekasi Nomor 51 Tahun 2024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Tentang Pengelolaan Pajak Reklame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466344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https://jdih.bekasikota.go.id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31520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77824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024128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70432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316736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463040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609344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755648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901952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048256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194560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2340864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487168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2633472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2779776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2926080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072384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3218688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3364992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3511296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3657600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3803904" y="6355080"/>
            <a:ext cx="36576" cy="36576"/>
          </a:xfrm>
          <a:prstGeom prst="ellipse">
            <a:avLst/>
          </a:prstGeom>
          <a:solidFill>
            <a:srgbClr val="C8962E">
              <a:alpha val="5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C8962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Perwal Bekasi No 51/2024 - Pengelolaan Pajak Reklame</dc:title>
  <dc:subject>Peraturan Wali Kota Bekasi tentang Pajak Reklame</dc:subject>
  <dc:creator>Pemerintah Kota Bekasi</dc:creator>
  <cp:lastModifiedBy>Pemerintah Kota Bekasi</cp:lastModifiedBy>
  <cp:revision>1</cp:revision>
  <dcterms:created xsi:type="dcterms:W3CDTF">2026-06-20T11:50:25Z</dcterms:created>
  <dcterms:modified xsi:type="dcterms:W3CDTF">2026-06-20T11:50:25Z</dcterms:modified>
</cp:coreProperties>
</file>