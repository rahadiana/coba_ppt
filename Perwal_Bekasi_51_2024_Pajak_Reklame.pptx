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-1828800"/>
            <a:ext cx="6400800" cy="64008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377440"/>
            <a:ext cx="36576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5120640"/>
            <a:ext cx="2743200" cy="25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 i="0">
                <a:solidFill>
                  <a:srgbClr val="F5C518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8229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 i="0">
                <a:solidFill>
                  <a:srgbClr val="8899BB"/>
                </a:solidFill>
                <a:latin typeface="Calibri"/>
              </a:defRPr>
            </a:pPr>
            <a:r>
              <a:t>NOMOR 51  |  TAHUN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PERATURAN WALI KOTA BEKASI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400" b="1" i="0">
                <a:solidFill>
                  <a:srgbClr val="F5C518"/>
                </a:solidFill>
                <a:latin typeface="Calibri"/>
              </a:defRPr>
            </a:pPr>
            <a:r>
              <a:t>NOMOR 51 TAHUN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400" b="1" i="0">
                <a:solidFill>
                  <a:srgbClr val="FFFFFF"/>
                </a:solidFill>
                <a:latin typeface="Calibri"/>
              </a:defRPr>
            </a:pPr>
            <a:r>
              <a:t>TENTANG</a:t>
            </a:r>
            <a:br/>
            <a:r>
              <a:t>PENGELOLAAN PAJAK REKLAME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AABBDD"/>
                </a:solidFill>
                <a:latin typeface="Calibri"/>
              </a:defRPr>
            </a:pPr>
            <a:r>
              <a:t>Diselenggarakan oleh Pemerintah Kota Bekasi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300" b="0" i="0">
                <a:solidFill>
                  <a:srgbClr val="8899BB"/>
                </a:solidFill>
                <a:latin typeface="Calibri"/>
              </a:defRPr>
            </a:pPr>
            <a:r>
              <a:t>Ditetapkan: 20 Desember 2024  |  Berlaku sejak diundangkan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DAFTAR 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 i="0">
                <a:solidFill>
                  <a:srgbClr val="AABBDD"/>
                </a:solidFill>
                <a:latin typeface="Calibri"/>
              </a:defRPr>
            </a:pPr>
            <a:r>
              <a:t>Peraturan Wali Kota Bekasi Nomor 51 Tahun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99032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399032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Ketentuan Umum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10512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37944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837944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Objek Pajak, Subjek Pajak, dan Wajib Pajak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49424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276856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III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276856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Masa Pajak, Tahun Pajak, dan Bagian Tahun Pajak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88336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715768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IV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715768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Pendaftaran dan Pendataan Wajib Pajak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127248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15468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1546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Nilai Sewa Reklame (NSR)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66160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593592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VI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3593592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Perhitungan Pajak Reklame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005072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032504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VII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4032504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Penetapan Besaran Pajak Terutang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43984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71416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VIII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4471416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Surat Tagihan Pajak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82896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910328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4910328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Pembayaran dan Penyetoran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321808"/>
            <a:ext cx="914400" cy="347472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34924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5349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Pembetulan dan Pembatalan Ketetapan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0" y="1371600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0" y="1399032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1399032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Pengembalian Kelebihan Pembayaran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0" y="1810512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0" y="1837944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XII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1837944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Pemeriksaan Pajak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0" y="2249424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0" y="2276856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XIII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2276856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Penagihan Pajak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0" y="2688336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2715768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XIV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2715768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Kedaluwarsa Penagihan Pajak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0" y="3127248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0" y="315468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31546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Penghapusan Piutang Pajak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943600" y="3566160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0" y="3593592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XVI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95160" y="3593592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Keringanan, Pengurangan, dan Pembebasan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943600" y="4005072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0" y="4032504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XVII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4032504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Kemudahan Perpajakan Daerah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0" y="4443984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4471416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XVIII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471416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Keberatan dan Banding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0" y="4882896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0" y="4910328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95160" y="4910328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Penghargaan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943600" y="5321808"/>
            <a:ext cx="914400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943600" y="534924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BAB XX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5349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Ketentuan Penutup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 / 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I: KETENTUAN UMUM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1 — 45 Definisi Istilah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 / 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Definisi Kunci (Pasal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 i="0">
                <a:solidFill>
                  <a:srgbClr val="AABBDD"/>
                </a:solidFill>
                <a:latin typeface="Calibri"/>
              </a:defRPr>
            </a:pPr>
            <a:r>
              <a:t>Pasal 1 ayat (1) - (45)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Daerah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Pemerintah Daerah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Bapenda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Reklame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Pajak Reklame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Nilai Sewa Reklame (NSR)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NPWPD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NOPD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SKPD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Wajib Pajak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Penanggung Pajak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 / 54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II: OBJEK PAJAK, SUBJEK PAJAK, DAN WAJIB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2–4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5 / 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Objek Pajak Reklame — Pasal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8396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3967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684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Jenis Reklame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684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Papan/Billboard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Videotron/Megatron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Kain (Spanduk, Umbul, Baliho)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Melekat/Stiker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Selebaran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Berjalan (kendaraan)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Udara (balon gas)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Apung (permukaan air)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Film/Slide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Peragaan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Dikecualikan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Internet, TV, radio, media cetak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Label/merek pada produk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Nama usaha ≤ 1 m² di tempat usaha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Reklame Pemerintah/Pemda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Nama tempat ibadah &amp; panti asuhan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Reklame tanah ≤ 1 m²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Kegiatan politik (masa kampanye)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Sosial/keagamaan (≤ 30 hari)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Olahraga KONI (≤ 30 hari)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6 / 54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Subjek &amp; Wajib Pajak (Pasal 3–4)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Subjek Pajak Reklame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Orang pribadi atau Badan yang menggunakan Reklame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Wajib Pajak Reklame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Orang pribadi atau Badan yang menyelenggarakan Reklame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Jika reklame diselenggarakan oleh </a:t>
            </a:r>
            <a:r>
              <a:rPr sz="1500">
                <a:solidFill>
                  <a:srgbClr val="1A1A2E"/>
                </a:solidFill>
                <a:latin typeface="Calibri"/>
              </a:rPr>
              <a:t>pihak ketiga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7 / 54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III: MASA PAJAK, TAHUN PAJAK, &amp; BAGIAN TAHUN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8 / 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Masa &amp; Tahun Pajak — Pasal 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44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Masa Pajak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Permanen: 12 bulan atau sesuai masa penayangan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Insidentil: per hari, maks. 30 hari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36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Tahun Pajak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1 tahun kalender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Atau sesuai tahun buku WP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52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1371600"/>
            <a:ext cx="3474720" cy="50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D4A017"/>
                </a:solidFill>
                <a:latin typeface="Calibri"/>
              </a:defRPr>
            </a:pPr>
            <a:r>
              <a:t>Bagian Tahun Pajak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1 tahun pajak atas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1 bulan / beberapa bulan kalender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9 / 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IV: PENDAFTARAN &amp; PENDATAAN WAJIB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6–8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10 / 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Pendaftaran &amp; Pendataan — Pasal 6–8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44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Pendaftaran WP (Pasal 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WP wajib daftarkan diri &amp; objek pajak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Form: ambil di Bapenda / online / dikirim petugas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Lampirkan: KTP, NPWP, Akta, NIB, Surat Kuasa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Bapenda terbitkan NPWPD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Jika tidak daftar → NPWPD jabatan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Juga: NOPD, nomor registrasi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36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Pendataan (Pasal 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Bapenda lakukan pendataan WP &amp; objek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Tujuan: memperoleh, melengkapi data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Termasuk informasi geografis objek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Bisa kerjasama dengan instansi/pihak ketiga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52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1371600"/>
            <a:ext cx="3474720" cy="508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FFF3E0"/>
                </a:solidFill>
                <a:latin typeface="Calibri"/>
              </a:defRPr>
            </a:pPr>
            <a:r>
              <a:t>Penonaktifan (Pasal 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Jika WP tak lagi penuhi syarat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Jabatan atau atas permohonan WP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Keputusan maks. 3 bulan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Syarat: tak ada tunggakan &amp; tak ada keberatan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WP nonaktif/tutup wajib lapor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11 / 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V: NILAI SEWA REKLAME (NSR)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9 — Dasar Pengenaan Pajak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12 /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Faktor Penentu NSR — Pasal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 i="0">
                <a:solidFill>
                  <a:srgbClr val="AABBDD"/>
                </a:solidFill>
                <a:latin typeface="Calibri"/>
              </a:defRPr>
            </a:pPr>
            <a:r>
              <a:t>Pasal 9 ayat (1)–(2)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Dasar pengenaan Pajak Reklame adalah </a:t>
            </a:r>
            <a:r>
              <a:rPr sz="1500">
                <a:solidFill>
                  <a:srgbClr val="1A1A2E"/>
                </a:solidFill>
                <a:latin typeface="Calibri"/>
              </a:rPr>
              <a:t>Nilai Sewa Reklame (NSR)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▸ NSR = Nilai Jual Objek Pajak Reklame + Nilai Strategis Pemasangan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7 Faktor Perhitungan NSR: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1️⃣  Jenis reklame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2️⃣  Bahan yang digunakan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3️⃣  Lokasi penempatan (Kelas Jalan)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4️⃣  Waktu (satuan detik)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5️⃣  Jangka waktu penyelenggaraan (hari kalender)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6️⃣  Jumlah media reklame (lembar)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7️⃣  Ukuran media reklame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13 / 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Klasifikasi Kelas Jalan — Pasal 9 ayat (3)–(8)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🏛️  </a:t>
            </a:r>
            <a:r>
              <a:rPr sz="1500">
                <a:solidFill>
                  <a:srgbClr val="1A1A2E"/>
                </a:solidFill>
                <a:latin typeface="Calibri"/>
              </a:rPr>
              <a:t>Kelas Jalan Khusus: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Zona Tol | Premium I | Premium II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Premium I: Jl. A. Yani, Cut Mutia, Juanda, Sudirman, Sultan Agung, Transyogi, KH. Noer Ali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Premium II: Jl. Narogong, Jatiwaringin, Pekayon, Jatiasih, Jatimakmur, Joyo Martono, Chairil Anwar, Bintara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🚗  </a:t>
            </a:r>
            <a:r>
              <a:rPr sz="1500">
                <a:solidFill>
                  <a:srgbClr val="1A1A2E"/>
                </a:solidFill>
                <a:latin typeface="Calibri"/>
              </a:rPr>
              <a:t>Kelas Jalan I (Kendali Ketat):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Lebar &gt; 3 m, pusat pelayanan/permukiman (di luar kelas khusus)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🏡  </a:t>
            </a:r>
            <a:r>
              <a:rPr sz="1500">
                <a:solidFill>
                  <a:srgbClr val="1A1A2E"/>
                </a:solidFill>
                <a:latin typeface="Calibri"/>
              </a:rPr>
              <a:t>Kelas Jalan II (Kendali Sedang):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Lebar ≤ 3 m atau jalan lingkungan perumahan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14 / 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VI: PERHITUNGAN PAJAK REKLAME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10 — Tarif &amp; Rumus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15 / 54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Rumus &amp; Tarif Perhitungan — Pasal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 i="0">
                <a:solidFill>
                  <a:srgbClr val="AABBDD"/>
                </a:solidFill>
                <a:latin typeface="Calibri"/>
              </a:defRPr>
            </a:pPr>
            <a:r>
              <a:t>Pasal 10 ayat (1)–(13)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📐  </a:t>
            </a:r>
            <a:r>
              <a:rPr sz="1500">
                <a:solidFill>
                  <a:srgbClr val="1A1A2E"/>
                </a:solidFill>
                <a:latin typeface="Calibri"/>
              </a:rPr>
              <a:t>Rumus Dasar: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Pajak Reklame = Tarif Pajak Reklame × NSR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📐  </a:t>
            </a:r>
            <a:r>
              <a:rPr sz="1500">
                <a:solidFill>
                  <a:srgbClr val="1A1A2E"/>
                </a:solidFill>
                <a:latin typeface="Calibri"/>
              </a:rPr>
              <a:t>NSR Papan/Billboard &amp; Megatron/Videotron: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Nilai Kelas Jalan × Ukuran (m²) × Jumlah × Jangka Waktu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⚡  </a:t>
            </a:r>
            <a:r>
              <a:rPr sz="1500">
                <a:solidFill>
                  <a:srgbClr val="1A1A2E"/>
                </a:solidFill>
                <a:latin typeface="Calibri"/>
              </a:rPr>
              <a:t>Ketentuan Tambahan: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  • Reklame indoor: NSR = </a:t>
            </a:r>
            <a:r>
              <a:rPr sz="1500">
                <a:solidFill>
                  <a:srgbClr val="1A1A2E"/>
                </a:solidFill>
                <a:latin typeface="Calibri"/>
              </a:rPr>
              <a:t>50%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  • Ketinggian &gt; 15 m: tambahan </a:t>
            </a:r>
            <a:r>
              <a:rPr sz="1500">
                <a:solidFill>
                  <a:srgbClr val="1A1A2E"/>
                </a:solidFill>
                <a:latin typeface="Calibri"/>
              </a:rPr>
              <a:t>20%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  • Produk tembakau &amp; minuman keras: tambahan </a:t>
            </a:r>
            <a:r>
              <a:rPr sz="1500">
                <a:solidFill>
                  <a:srgbClr val="1A1A2E"/>
                </a:solidFill>
                <a:latin typeface="Calibri"/>
              </a:rPr>
              <a:t>50%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Perubahan reklame: pajak atas selisih perubahan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Perubahan naskah dalam 1 badan usaha: dikecualikan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16 / 54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NSR — Reklame Papan/Billboard &amp; Sejenisnya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 i="0">
                <a:solidFill>
                  <a:srgbClr val="AABBDD"/>
                </a:solidFill>
                <a:latin typeface="Calibri"/>
              </a:defRPr>
            </a:pPr>
            <a:r>
              <a:t>Pasal 10 ayat (5) huruf a — Satuan: 1 m², 1 buah, 1 hari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943600"/>
                <a:gridCol w="246888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23.575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 — A. Yani, Cut Mutia, Juanda, Sudirman, dll.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16.100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 — Narogong, Jatiwaringin, Pekayon, dll.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14.950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 (lebar &gt; 3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13.225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 (lebar ≤ 3 m)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11.500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17 / 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NSR — Reklame Megatron/Videotron &amp; Sejenisnya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 i="0">
                <a:solidFill>
                  <a:srgbClr val="AABBDD"/>
                </a:solidFill>
                <a:latin typeface="Calibri"/>
              </a:defRPr>
            </a:pPr>
            <a:r>
              <a:t>Pasal 10 ayat (5) huruf b — Durasi 18 jam/hari = 2.160 tayangan/hari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6304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2286000"/>
                <a:gridCol w="246888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(/30 detik)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(/m²/tahun)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17,25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13.599.900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13,80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10.879.920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9,20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7.253.280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8,05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6.346.620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5,75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4.533.300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18 / 54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NSR — Reklame Kain (Spanduk, Umbul, Baliho)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 i="0">
                <a:solidFill>
                  <a:srgbClr val="AABBDD"/>
                </a:solidFill>
                <a:latin typeface="Calibri"/>
              </a:defRPr>
            </a:pPr>
            <a:r>
              <a:t>Pasal 10 ayat (5) huruf c — Satuan: 1 m², 1 buah, 1 hari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943600"/>
                <a:gridCol w="246888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F44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30.000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30.000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25.000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20.000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19.000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19 / 54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NSR — Jenis Reklame Lainnya — Pasal 10 ayat (5) huruf 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-1265073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-1265073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-1082193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Reklame Stiker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082193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Rp 7,5/cm²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Min. Rp 750.000/kali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8396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8396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6684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Reklame Melekat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684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Rp 750.000/m²/tahun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Dinding/tembok/bangunan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1371600"/>
            <a:ext cx="3474720" cy="50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588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D4A017"/>
                </a:solidFill>
                <a:latin typeface="Calibri"/>
              </a:defRPr>
            </a:pPr>
            <a:r>
              <a:t>Reklame Selebaran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Rp 600/lembar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Min. Rp 6.000.000/kali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8204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82047" y="1371600"/>
            <a:ext cx="347472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6492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E74C3C"/>
                </a:solidFill>
                <a:latin typeface="Calibri"/>
              </a:defRPr>
            </a:pPr>
            <a:r>
              <a:t>Reklame Berjalan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492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Rp 6.000/m²/hari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Termasuk kendaraan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20 / 54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NSR — Jenis Reklame Lainnya (lanjutan)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-1265073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-1265073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-1082193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Reklame Udara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082193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Rp 2.400.000/sekali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Maks. 1 bulan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8396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8396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6684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Reklame Apung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684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Rp 600.000/sekali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Maks. 1 bulan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1371600"/>
            <a:ext cx="3474720" cy="50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588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D4A017"/>
                </a:solidFill>
                <a:latin typeface="Calibri"/>
              </a:defRPr>
            </a:pPr>
            <a:r>
              <a:t>Reklame Film/Slide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Rp 12.000/15 detik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&lt; 15" dibulatkan 15"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8204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82047" y="1371600"/>
            <a:ext cx="347472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6492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E74C3C"/>
                </a:solidFill>
                <a:latin typeface="Calibri"/>
              </a:defRPr>
            </a:pPr>
            <a:r>
              <a:t>Reklame Peragaan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492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Rp 480.000/penyelenggaraan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21 / 54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VII: PENETAPAN BESARAN PAJAK TERUTANG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22 / 54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Penetapan Pajak Terutang — Pasal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Dasar Penetapan: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3 Skema Penetapan: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1️⃣ WP mendaftar → SKPD diterbitkan berdasarkan data WP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2️⃣ WP tidak mendaftar → SKPD diterbitkan secara </a:t>
            </a:r>
            <a:r>
              <a:rPr sz="1500">
                <a:solidFill>
                  <a:srgbClr val="1A1A2E"/>
                </a:solidFill>
                <a:latin typeface="Calibri"/>
              </a:rPr>
              <a:t>jabatan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3️⃣ Hasil pemeriksaan menunjukkan pajak &gt; laporan WP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→ SKPD sesuai temuan (tanpa sanksi administratif)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⏳  </a:t>
            </a:r>
            <a:r>
              <a:rPr sz="1500">
                <a:solidFill>
                  <a:srgbClr val="1A1A2E"/>
                </a:solidFill>
                <a:latin typeface="Calibri"/>
              </a:rPr>
              <a:t>Batas waktu: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23 / 54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VIII: SURAT TAGIHAN PAJAK (STPD)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24 / 54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STPD — Surat Tagihan Pajak Daerah — Pasal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8396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3967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684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Dasar Penerbitan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684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Jangka waktu: ≤ 5 tahun sejak pajak terutang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a. Pajak SKPD tidak/kurang dibayar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b. Keputusan/Keberatan tidak/kurang dibayar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c. Sanksi administratif bunga/denda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371600"/>
            <a:ext cx="347472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E74C3C"/>
                </a:solidFill>
                <a:latin typeface="Calibri"/>
              </a:defRPr>
            </a:pPr>
            <a:r>
              <a:t>Sanksi Bunga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Huruf a: 1%/bulan (maks. 24 bulan)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Huruf b: 0,6%/bulan (maks. 24 bulan)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Bagian bulan dihitung 1 bulan penuh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25 / 54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IX: PEMBAYARAN DAN PENYETORAN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13–14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26 / 54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Tata Cara Pembayaran — Pasal 13–14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Metode: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Lunas melalui Kas Daerah / tempat yang ditunjuk Wali Kota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Prioritas: sistem pembayaran </a:t>
            </a:r>
            <a:r>
              <a:rPr sz="1500">
                <a:solidFill>
                  <a:srgbClr val="1A1A2E"/>
                </a:solidFill>
                <a:latin typeface="Calibri"/>
              </a:rPr>
              <a:t>elektronik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Jika elektronik tidak tersedia: </a:t>
            </a:r>
            <a:r>
              <a:rPr sz="1500">
                <a:solidFill>
                  <a:srgbClr val="1A1A2E"/>
                </a:solidFill>
                <a:latin typeface="Calibri"/>
              </a:rPr>
              <a:t>tunai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⏰  </a:t>
            </a:r>
            <a:r>
              <a:rPr sz="1500">
                <a:solidFill>
                  <a:srgbClr val="1A1A2E"/>
                </a:solidFill>
                <a:latin typeface="Calibri"/>
              </a:rPr>
              <a:t>Jatuh tempo: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⚠️  </a:t>
            </a:r>
            <a:r>
              <a:rPr sz="1500">
                <a:solidFill>
                  <a:srgbClr val="1A1A2E"/>
                </a:solidFill>
                <a:latin typeface="Calibri"/>
              </a:rPr>
              <a:t>Keterlambatan: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Sanksi bunga </a:t>
            </a:r>
            <a:r>
              <a:rPr sz="1500">
                <a:solidFill>
                  <a:srgbClr val="1A1A2E"/>
                </a:solidFill>
                <a:latin typeface="Calibri"/>
              </a:rPr>
              <a:t>1% per bulan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Ditagih dengan STPD, lunas ≤ 30 hari sejak pengiriman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🏷️  </a:t>
            </a:r>
            <a:r>
              <a:rPr sz="1500">
                <a:solidFill>
                  <a:srgbClr val="1A1A2E"/>
                </a:solidFill>
                <a:latin typeface="Calibri"/>
              </a:rPr>
              <a:t>Tanda bukti: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27 / 54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X: PEMBETULAN &amp; PEMBATALAN KETETAPAN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15–20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28 / 54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Dasar Pembetulan — Pasal 15–16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Kesalahan yang dapat dibetulkan/dibatalkan: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a. ✏️  </a:t>
            </a:r>
            <a:r>
              <a:rPr sz="1500">
                <a:solidFill>
                  <a:srgbClr val="1A1A2E"/>
                </a:solidFill>
                <a:latin typeface="Calibri"/>
              </a:rPr>
              <a:t>Kesalahan tulis: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b. 🔢  </a:t>
            </a:r>
            <a:r>
              <a:rPr sz="1500">
                <a:solidFill>
                  <a:srgbClr val="1A1A2E"/>
                </a:solidFill>
                <a:latin typeface="Calibri"/>
              </a:rPr>
              <a:t>Kesalahan hitung: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c. 📜  </a:t>
            </a:r>
            <a:r>
              <a:rPr sz="1500">
                <a:solidFill>
                  <a:srgbClr val="1A1A2E"/>
                </a:solidFill>
                <a:latin typeface="Calibri"/>
              </a:rPr>
              <a:t>Kekeliruan penerapan ketentuan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Syarat permohonan (Pasal 16):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1 permohonan untuk 1 ketetapan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Diajukan tertulis (B. Indonesia) oleh WP atau kuasa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Lampirkan: identitas WP + kuasa + asli dokumen ketetapan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Surat kuasa bermeterai jika dikuasakan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29 / 54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Prosedur &amp; Jangka Waktu — Pasal 17–20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Pasal 17: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Pasal 18: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Kepala Bapenda wajib terbitkan Surat Keputusan Pembetulan dalam </a:t>
            </a:r>
            <a:r>
              <a:rPr sz="1500">
                <a:solidFill>
                  <a:srgbClr val="1A1A2E"/>
                </a:solidFill>
                <a:latin typeface="Calibri"/>
              </a:rPr>
              <a:t>6 bulan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Isi keputusan: mengabulkan (menambah/mengurangi/menghapus), membatalkan, atau menolak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Jika &gt; 6 bulan tanpa keputusan → </a:t>
            </a:r>
            <a:r>
              <a:rPr sz="1500">
                <a:solidFill>
                  <a:srgbClr val="1A1A2E"/>
                </a:solidFill>
                <a:latin typeface="Calibri"/>
              </a:rPr>
              <a:t>dianggap dikabulkan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Pasal 19: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Pasal 20: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30 / 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XI: PENGEMBALIAN KELEBIHAN PEMBAYARAN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31 / 54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Prosedur Pengembalian — Pasal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Hak WP: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Alur: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1️⃣ WP mengajukan permohonan ke Wali Kota/Kepala Bapenda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2️⃣ Keputusan diterbitkan maks. </a:t>
            </a:r>
            <a:r>
              <a:rPr sz="1500">
                <a:solidFill>
                  <a:srgbClr val="1A1A2E"/>
                </a:solidFill>
                <a:latin typeface="Calibri"/>
              </a:rPr>
              <a:t>12 bulan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3️⃣ Jika &gt; 12 bulan tanpa keputusan → permohonan </a:t>
            </a:r>
            <a:r>
              <a:rPr sz="1500">
                <a:solidFill>
                  <a:srgbClr val="1A1A2E"/>
                </a:solidFill>
                <a:latin typeface="Calibri"/>
              </a:rPr>
              <a:t>dianggap dikabulkan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4️⃣ SKPDLB diterbitkan dalam 1 bulan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Jika WP memiliki utang pajak lain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💰  </a:t>
            </a:r>
            <a:r>
              <a:rPr sz="1500">
                <a:solidFill>
                  <a:srgbClr val="1A1A2E"/>
                </a:solidFill>
                <a:latin typeface="Calibri"/>
              </a:rPr>
              <a:t>Pengembalian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💰  Jika terlambat → imbalan bunga </a:t>
            </a:r>
            <a:r>
              <a:rPr sz="1500">
                <a:solidFill>
                  <a:srgbClr val="1A1A2E"/>
                </a:solidFill>
                <a:latin typeface="Calibri"/>
              </a:rPr>
              <a:t>0,6%/bulan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32 / 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XII: PEMERIKSAAN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22–23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33 / 54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Pemeriksaan Pajak — Pasal 22–23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44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Kewenangan &amp; Tujuan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Kepala Bapenda berwenang melakukan pemeriksaan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Menguji kepatuhan WP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Tujuan lain: NPWPD jabatan, penghapusan, keberatan, penagihan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Ruang lingkup: tahun berjalan &amp;/ beberapa tahun sebelumnya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36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Kewajiban WP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Perlihatkan/pinjamkan buku, catatan, dokumen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Beri akses ke tempat/ruangan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Beri keterangan yang diperlukan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Jika tidak dipenuhi → pajak ditetapkan secara jabatan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52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1371600"/>
            <a:ext cx="3474720" cy="50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D4A017"/>
                </a:solidFill>
                <a:latin typeface="Calibri"/>
              </a:defRPr>
            </a:pPr>
            <a:r>
              <a:t>Hak WP saat diperiksa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Minta identitas &amp; bukti penugasan pemeriksa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Minta penjelasan alasan &amp; tujuan pemeriksaan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Terima dokumen hasil pemeriksaan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Beri tanggapan atas hasil pemeriksaan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34 / 54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XIII: PENAGIHAN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35 / 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Penagihan Pajak — Pasal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Dasar Penagihan Pajak: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SKPD | SKPDKB | SKPDKBT | STPD | SK Pembetulan | SK Keberatan | Putusan Banding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Prosedur: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Sebelum jatuh tempo → </a:t>
            </a:r>
            <a:r>
              <a:rPr sz="1500">
                <a:solidFill>
                  <a:srgbClr val="1A1A2E"/>
                </a:solidFill>
                <a:latin typeface="Calibri"/>
              </a:rPr>
              <a:t>imbauan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Setelah jatuh tempo &amp; belum dibayar → </a:t>
            </a:r>
            <a:r>
              <a:rPr sz="1500">
                <a:solidFill>
                  <a:srgbClr val="1A1A2E"/>
                </a:solidFill>
                <a:latin typeface="Calibri"/>
              </a:rPr>
              <a:t>Penagihan Pajak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sesuai ketentuan perundang-undangan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36 / 54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XIV: KEDALUWARSA PENAGIHAN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37 / 54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Kedaluwarsa — Pasal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⏳  </a:t>
            </a:r>
            <a:r>
              <a:rPr sz="1500">
                <a:solidFill>
                  <a:srgbClr val="1A1A2E"/>
                </a:solidFill>
                <a:latin typeface="Calibri"/>
              </a:rPr>
              <a:t>Jangka waktu: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⏳  Kecuali WP melakukan </a:t>
            </a:r>
            <a:r>
              <a:rPr sz="1500">
                <a:solidFill>
                  <a:srgbClr val="1A1A2E"/>
                </a:solidFill>
                <a:latin typeface="Calibri"/>
              </a:rPr>
              <a:t>tindak pidana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⏸️  </a:t>
            </a:r>
            <a:r>
              <a:rPr sz="1500">
                <a:solidFill>
                  <a:srgbClr val="1A1A2E"/>
                </a:solidFill>
                <a:latin typeface="Calibri"/>
              </a:rPr>
              <a:t>Kedaluwarsa tertangguh jika: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a. 📬  Diterbitkan Surat Teguran dan/atau Surat Paksa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— Dihitung sejak tanggal penyampaian surat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b. ✋  Ada </a:t>
            </a:r>
            <a:r>
              <a:rPr sz="1500">
                <a:solidFill>
                  <a:srgbClr val="1A1A2E"/>
                </a:solidFill>
                <a:latin typeface="Calibri"/>
              </a:rPr>
              <a:t>pengakuan utang pajak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— Langsung: WP menyatakan masih punya utang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— Tidak langsung: pengajuan angsuran, penundaan, atau keberatan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— Dihitung sejak tanggal pengakuan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38 / 54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XV: PENGHAPUSAN PIUTANG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39 / 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Penghapusan Piutang — Pasal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Piutang pajak yang </a:t>
            </a:r>
            <a:r>
              <a:rPr sz="1500">
                <a:solidFill>
                  <a:srgbClr val="1A1A2E"/>
                </a:solidFill>
                <a:latin typeface="Calibri"/>
              </a:rPr>
              <a:t>tidak mungkin ditagih lagi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Prosedur penghapusan: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1️⃣ Bapenda melakukan </a:t>
            </a:r>
            <a:r>
              <a:rPr sz="1500">
                <a:solidFill>
                  <a:srgbClr val="1A1A2E"/>
                </a:solidFill>
                <a:latin typeface="Calibri"/>
              </a:rPr>
              <a:t>penelitian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2️⃣ Tim peneliti ditetapkan dengan </a:t>
            </a:r>
            <a:r>
              <a:rPr sz="1500">
                <a:solidFill>
                  <a:srgbClr val="1A1A2E"/>
                </a:solidFill>
                <a:latin typeface="Calibri"/>
              </a:rPr>
              <a:t>Keputusan Wali Kota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3️⃣ Kepala Bapenda menyusun </a:t>
            </a:r>
            <a:r>
              <a:rPr sz="1500">
                <a:solidFill>
                  <a:srgbClr val="1A1A2E"/>
                </a:solidFill>
                <a:latin typeface="Calibri"/>
              </a:rPr>
              <a:t>daftar usulan penghapusan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4️⃣ Disampaikan ke Wali Kota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5️⃣ Ditetapkan dengan </a:t>
            </a:r>
            <a:r>
              <a:rPr sz="1500">
                <a:solidFill>
                  <a:srgbClr val="1A1A2E"/>
                </a:solidFill>
                <a:latin typeface="Calibri"/>
              </a:rPr>
              <a:t>Keputusan Wali Kota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Pertimbangan: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Pelaksanaan penagihan sampai batas kedaluwarsa (dibuktikan dengan dokumen)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Hasil koordinasi dengan </a:t>
            </a:r>
            <a:r>
              <a:rPr sz="1500">
                <a:solidFill>
                  <a:srgbClr val="1A1A2E"/>
                </a:solidFill>
                <a:latin typeface="Calibri"/>
              </a:rPr>
              <a:t>Inspektorat Daerah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40 / 54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XVI: KERINGANAN, PENGURANGAN, &amp; PEMBEBASAN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41 / 54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Keringanan &amp; Pembebasan — Pasal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44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Bentuk Fasilitas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Keringanan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Pengurangan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Pembebasan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Penundaan pembayaran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Atas pokok &amp;/ sanksi pajak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36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Kondisi WP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Kemampuan membayar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Tingkat likuiditas WP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52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1371600"/>
            <a:ext cx="347472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E74C3C"/>
                </a:solidFill>
                <a:latin typeface="Calibri"/>
              </a:defRPr>
            </a:pPr>
            <a:r>
              <a:t>Kondisi Objek Pajak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Terkena bencana alam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Kebakaran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Huru-hara / kerusuhan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42 / 54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XVII: KEMUDAHAN PERPAJAKAN DAERAH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28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43 / 54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Kemudahan Perpajakan — Pasal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Bentuk Kemudahan: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a. 📅  </a:t>
            </a:r>
            <a:r>
              <a:rPr sz="1500">
                <a:solidFill>
                  <a:srgbClr val="1A1A2E"/>
                </a:solidFill>
                <a:latin typeface="Calibri"/>
              </a:rPr>
              <a:t>Perpanjangan batas waktu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b. 💳  </a:t>
            </a:r>
            <a:r>
              <a:rPr sz="1500">
                <a:solidFill>
                  <a:srgbClr val="1A1A2E"/>
                </a:solidFill>
                <a:latin typeface="Calibri"/>
              </a:rPr>
              <a:t>Fasilitas angsuran/penundaan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Keadaan Kahar: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🌊 Bencana alam | 🔥 Kebakaran | 🚨 Kerusuhan massal | 🦠 Wabah penyakit | Keadaan lain (keputusan Wali Kota)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Ketentuan: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Jangka waktu angsuran/penundaan: maks. </a:t>
            </a:r>
            <a:r>
              <a:rPr sz="1500">
                <a:solidFill>
                  <a:srgbClr val="1A1A2E"/>
                </a:solidFill>
                <a:latin typeface="Calibri"/>
              </a:rPr>
              <a:t>24 bulan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Bunga: </a:t>
            </a:r>
            <a:r>
              <a:rPr sz="1500">
                <a:solidFill>
                  <a:srgbClr val="1A1A2E"/>
                </a:solidFill>
                <a:latin typeface="Calibri"/>
              </a:rPr>
              <a:t>0,6%/bulan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• Wali Kota memperhatikan kepatuhan WP dalam </a:t>
            </a:r>
            <a:r>
              <a:rPr sz="1500">
                <a:solidFill>
                  <a:srgbClr val="1A1A2E"/>
                </a:solidFill>
                <a:latin typeface="Calibri"/>
              </a:rPr>
              <a:t>2 tahun terakhir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44 / 54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XVIII: KEBERATAN DAN BANDING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29–33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45 / 54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Keberatan — Pasal 29–31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44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Objek Keberatan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SKPD, SKPDKB, SKPDKBT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SKPDLB, SKPDN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Pemotongan/pemungutan pihak ke-3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36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Syarat &amp; Waktu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Tertulis B. Indonesia, maks. 3 bulan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WP sudah bayar min. jumlah yg disetujui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Keputusan maks. 12 bulan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Jika tanpa keputusan → dikabulkan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52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1371600"/>
            <a:ext cx="347472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E74C3C"/>
                </a:solidFill>
                <a:latin typeface="Calibri"/>
              </a:defRPr>
            </a:pPr>
            <a:r>
              <a:t>Sanksi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Ditolak: denda 30%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Dikabulkan: kelebihan + bunga 0,6%/bln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Jangka waktu bunga maks. 24 bulan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46 / 54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Banding — Pasal 32–33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44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1371600"/>
            <a:ext cx="3474720" cy="50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2D7DD2"/>
                </a:solidFill>
                <a:latin typeface="Calibri"/>
              </a:defRPr>
            </a:pPr>
            <a:r>
              <a:t>Objek Banding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Surat Keputusan Keberatan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Ke badan peradilan pajak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Maks. 3 bulan sejak keputusan diterima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1371600"/>
            <a:ext cx="3474720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36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009688"/>
                </a:solidFill>
                <a:latin typeface="Calibri"/>
              </a:defRPr>
            </a:pPr>
            <a:r>
              <a:t>Efek Banding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Menangguhkan kewajiban bayar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Sampai 1 bulan sejak Putusan Banding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527" y="1371600"/>
            <a:ext cx="34747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1371600"/>
            <a:ext cx="347472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15087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700" b="1" i="0">
                <a:solidFill>
                  <a:srgbClr val="E74C3C"/>
                </a:solidFill>
                <a:latin typeface="Calibri"/>
              </a:defRPr>
            </a:pPr>
            <a:r>
              <a:t>Sanksi &amp; Imbalan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187452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Ditolak: denda 60%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Dikabulkan: kelebihan + bunga 0,6%/bln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▸ Sanksi 30% tidak dikenakan jika banding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47 / 54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XIX: PENGHARGAAN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34–35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48 / 54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Penghargaan Wajib Pajak Taat — Pasal 34–35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🏆  </a:t>
            </a:r>
            <a:r>
              <a:rPr sz="1500">
                <a:solidFill>
                  <a:srgbClr val="1A1A2E"/>
                </a:solidFill>
                <a:latin typeface="Calibri"/>
              </a:rPr>
              <a:t>Bentuk Penghargaan: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Piagam penghargaan | Hadiah | dan/atau sejenisnya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Dibebankan pada APBD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✅  </a:t>
            </a:r>
            <a:r>
              <a:rPr sz="1500">
                <a:solidFill>
                  <a:srgbClr val="1A1A2E"/>
                </a:solidFill>
                <a:latin typeface="Calibri"/>
              </a:rPr>
              <a:t>Kriteria Wajib Pajak Taat: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  a. Menyetorkan pajak tepat waktu minimal </a:t>
            </a:r>
            <a:r>
              <a:rPr sz="1500">
                <a:solidFill>
                  <a:srgbClr val="1A1A2E"/>
                </a:solidFill>
                <a:latin typeface="Calibri"/>
              </a:rPr>
              <a:t>1 tahun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  b. Tidak ada tunggakan </a:t>
            </a:r>
            <a:r>
              <a:rPr sz="1500">
                <a:solidFill>
                  <a:srgbClr val="1A1A2E"/>
                </a:solidFill>
                <a:latin typeface="Calibri"/>
              </a:rPr>
              <a:t>3 tahun terakhir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c. Kontribusi signifikan dalam program Pemerintah Daerah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📋  </a:t>
            </a:r>
            <a:r>
              <a:rPr sz="1500">
                <a:solidFill>
                  <a:srgbClr val="1A1A2E"/>
                </a:solidFill>
                <a:latin typeface="Calibri"/>
              </a:rPr>
              <a:t>Penetapan: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Keputusan Wali Kota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• Tim penilai dibentuk oleh Wali Kota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49 / 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2860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BAB XX: KETENTUAN PENUTUP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0" i="0">
                <a:solidFill>
                  <a:srgbClr val="AABBDD"/>
                </a:solidFill>
                <a:latin typeface="Calibri"/>
              </a:defRPr>
            </a:pPr>
            <a:r>
              <a:t>Pasal 36–37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50 / 54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8100"/>
            <a:ext cx="63500" cy="10515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600" b="1" i="0">
                <a:solidFill>
                  <a:srgbClr val="FFFFFF"/>
                </a:solidFill>
                <a:latin typeface="Calibri"/>
              </a:defRPr>
            </a:pPr>
            <a:r>
              <a:t>Pencabutan &amp; Mulai Berlaku — Pasal 36–37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Pasal 36 — Pencabutan: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Peraturan Wali Kota yang dicabut: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❌  Perwal Bekasi No. 48 Tahun 2012 tentang Petunjuk Pelaksanaan Perda No. 14/2012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 ❌  Perwal Bekasi No. 52 Tahun 2013 tentang Perubahan Perwal No. 48/2012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Pasal 37 — Mulai Berlaku: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   ✅  Peraturan Wali Kota ini mulai berlaku pada tanggal </a:t>
            </a:r>
            <a:r>
              <a:rPr sz="1500">
                <a:solidFill>
                  <a:srgbClr val="1A1A2E"/>
                </a:solidFill>
                <a:latin typeface="Calibri"/>
              </a:rPr>
              <a:t>diundangkan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▸ ━━━━━━━━━━━━━━━━━━━━━━━━━━━━━━━━━━━━━━━━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▸ 📅  Ditetapkan di Bekasi, 20 Desember 2024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Pj. WALI KOTA BEKASI,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▸ ttd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R. GANI MUHAMAD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▸ 📅  Diundangkan di Bekasi, 20 Desember 2024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SEKRETARIS DAERAH KOTA BEKASI,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▸ ttd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▸ </a:t>
            </a:r>
            <a:r>
              <a:rPr sz="1500">
                <a:solidFill>
                  <a:srgbClr val="1A1A2E"/>
                </a:solidFill>
                <a:latin typeface="Calibri"/>
              </a:rPr>
              <a:t>JUNAEDI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51 / 54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828800"/>
            <a:ext cx="5486400" cy="54864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3657600"/>
            <a:ext cx="4572000" cy="4572000"/>
          </a:xfrm>
          <a:prstGeom prst="ellipse">
            <a:avLst/>
          </a:prstGeom>
          <a:solidFill>
            <a:srgbClr val="0D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926080"/>
            <a:ext cx="3657600" cy="50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 i="0">
                <a:solidFill>
                  <a:srgbClr val="F5C518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000" b="0" i="0">
                <a:solidFill>
                  <a:srgbClr val="AABBDD"/>
                </a:solidFill>
                <a:latin typeface="Calibri"/>
              </a:defRPr>
            </a:pPr>
            <a:r>
              <a:t>Peraturan Wali Kota Bekasi Nomor 51 Tahun 2024</a:t>
            </a:r>
            <a:br/>
            <a:r>
              <a:t>Tentang Pengelolaan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300" b="0" i="0">
                <a:solidFill>
                  <a:srgbClr val="8899BB"/>
                </a:solidFill>
                <a:latin typeface="Calibri"/>
              </a:defRPr>
            </a:pPr>
            <a:r>
              <a:t>Sumber: https://jdih.bekasikota.go.id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000" b="0" i="0">
                <a:solidFill>
                  <a:srgbClr val="6B7288"/>
                </a:solidFill>
                <a:latin typeface="Calibri"/>
              </a:defRPr>
            </a:pPr>
            <a:r>
              <a:t>52 / 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