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1371600"/>
            <a:ext cx="4114800" cy="41148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1828800"/>
            <a:ext cx="6400800" cy="64008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0" y="41148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5029200"/>
            <a:ext cx="2286000" cy="2286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377440"/>
            <a:ext cx="36576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5720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C8962E"/>
                </a:solidFill>
                <a:latin typeface="Calibri"/>
              </a:defRPr>
            </a:pPr>
            <a:r>
              <a:t>BERITA DAERAH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7724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KOTA BEKASI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11094415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PERATURAN WALI KOTA BEKASI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6596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C8962E"/>
                </a:solidFill>
                <a:latin typeface="Calibri"/>
              </a:defRPr>
            </a:pPr>
            <a:r>
              <a:t>NOMOR 51 TAHUN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34640"/>
            <a:ext cx="11094415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TENTANG</a:t>
            </a:r>
            <a:br/>
            <a:r>
              <a:t>PENGELOLAAN PAJAK REKLAME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937760"/>
            <a:ext cx="6858000" cy="822960"/>
          </a:xfrm>
          <a:prstGeom prst="roundRect">
            <a:avLst>
              <a:gd name="adj" fmla="val 4000"/>
            </a:avLst>
          </a:prstGeom>
          <a:solidFill>
            <a:srgbClr val="0D1F3C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983480"/>
            <a:ext cx="6400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8EDF5"/>
                </a:solidFill>
                <a:latin typeface="Calibri"/>
              </a:defRPr>
            </a:pPr>
            <a:r>
              <a:t>Pemerintah Kota Bekasi  ·  20 Desember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257800"/>
            <a:ext cx="6400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Berlaku sejak diundangkan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11 Bab Kunci Mengatur Seluruh Aspek Pajak Reklame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Perwal Bekasi No 51/2024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387187" cy="5212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106424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106424"/>
            <a:ext cx="4564227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Ketentuan Umum &amp; Definisi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618488"/>
            <a:ext cx="5387187" cy="5212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1673352"/>
            <a:ext cx="457200" cy="4572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673352"/>
            <a:ext cx="4564227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Objek, Subjek &amp; Wajib Pajak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85415"/>
            <a:ext cx="5387187" cy="5212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240279"/>
            <a:ext cx="457200" cy="457200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240279"/>
            <a:ext cx="4564227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Masa Pajak &amp; Tahun Pajak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52344"/>
            <a:ext cx="5387187" cy="5212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2807208"/>
            <a:ext cx="457200" cy="457200"/>
          </a:xfrm>
          <a:prstGeom prst="round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807208"/>
            <a:ext cx="4564227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Pendaftaran &amp; Pendataan WP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19272"/>
            <a:ext cx="5387187" cy="5212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374136"/>
            <a:ext cx="457200" cy="45720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374136"/>
            <a:ext cx="4564227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Nilai Sewa Reklame (NSR)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86200"/>
            <a:ext cx="5387187" cy="5212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3941063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3941063"/>
            <a:ext cx="4564227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Perhitungan &amp; Tarif Pajak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55867" y="1051560"/>
            <a:ext cx="5387187" cy="5212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347307" y="1106424"/>
            <a:ext cx="457200" cy="4572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1667" y="1106424"/>
            <a:ext cx="4564227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Penetapan, Tagihan &amp; Pembayaran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55867" y="1618488"/>
            <a:ext cx="5387187" cy="5212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347307" y="1673352"/>
            <a:ext cx="457200" cy="457200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1667" y="1673352"/>
            <a:ext cx="4564227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Pembetulan, Keberatan &amp; Banding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55867" y="2185415"/>
            <a:ext cx="5387187" cy="5212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347307" y="2240279"/>
            <a:ext cx="457200" cy="457200"/>
          </a:xfrm>
          <a:prstGeom prst="round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1667" y="2240279"/>
            <a:ext cx="4564227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Pemeriksaan, Penagihan &amp; Penghapusan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55867" y="2752344"/>
            <a:ext cx="5387187" cy="5212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347307" y="2807208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41667" y="2807208"/>
            <a:ext cx="4564227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Keringanan, Kemudahan &amp; Penghargaan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55867" y="3319272"/>
            <a:ext cx="5387187" cy="5212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347307" y="3374136"/>
            <a:ext cx="457200" cy="4572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1667" y="3374136"/>
            <a:ext cx="4564227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Ketentuan Penutup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I</a:t>
            </a:r>
            <a:br/>
            <a:r>
              <a:t>KETENTUAN UMUM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7 Definisi Kunci Jadi Landasan Hukum Pajak Reklame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7 Definisi Kunci Menjadi Landasan Pengelolaan Pajak Reklame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2567863" cy="25374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25374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19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188719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🏛️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39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Daerah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39112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Kota Bekasi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90823" y="1051560"/>
            <a:ext cx="2567863" cy="25374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0823" y="1051560"/>
            <a:ext cx="45720" cy="25374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27983" y="1188719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7983" y="1188719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7983" y="1691639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Bapenda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7983" y="2039112"/>
            <a:ext cx="2293543" cy="3383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Badan Pendapatan Daerah Kota Bekasi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3007" y="1051560"/>
            <a:ext cx="2567863" cy="25374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3007" y="1051560"/>
            <a:ext cx="45720" cy="25374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70167" y="1188719"/>
            <a:ext cx="384048" cy="384048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1188719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1691639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B8860B"/>
                </a:solidFill>
                <a:latin typeface="Calibri"/>
              </a:defRPr>
            </a:pPr>
            <a:r>
              <a:t>Reklame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2039112"/>
            <a:ext cx="2293543" cy="3383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Media untuk promosi &amp; pengenalan komersial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75191" y="1051560"/>
            <a:ext cx="2567863" cy="25374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75191" y="1051560"/>
            <a:ext cx="45720" cy="25374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12351" y="1188719"/>
            <a:ext cx="384048" cy="384048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2351" y="1188719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2351" y="1691639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B3A6B"/>
                </a:solidFill>
                <a:latin typeface="Calibri"/>
              </a:defRPr>
            </a:pPr>
            <a:r>
              <a:t>Pajak Reklame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12351" y="2039112"/>
            <a:ext cx="2293543" cy="3383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Pajak atas penyelenggaraan reklame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3863339"/>
            <a:ext cx="2567863" cy="25374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3863339"/>
            <a:ext cx="45720" cy="25374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800" y="400050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00050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50342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NSR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850892"/>
            <a:ext cx="2293543" cy="3383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Nilai Sewa Reklame — dasar pengenaan pajak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90823" y="3863339"/>
            <a:ext cx="2567863" cy="25374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90823" y="3863339"/>
            <a:ext cx="45720" cy="25374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527983" y="4000500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27983" y="400050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7983" y="450342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NPWPD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7983" y="4850892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Nomor Pokok Wajib Pajak Daerah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33007" y="3863339"/>
            <a:ext cx="2567863" cy="25374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233007" y="3863339"/>
            <a:ext cx="45720" cy="25374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70167" y="4000500"/>
            <a:ext cx="384048" cy="384048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70167" y="400050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167" y="450342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B8860B"/>
                </a:solidFill>
                <a:latin typeface="Calibri"/>
              </a:defRPr>
            </a:pPr>
            <a:r>
              <a:t>Wajib Pajak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70167" y="4850892"/>
            <a:ext cx="2293543" cy="3383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Orang pribadi/badan dg hak &amp; kewajiban pajak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II</a:t>
            </a:r>
            <a:br/>
            <a:r>
              <a:t>OBJEK, SUBJEK &amp; WAJIB PAJAK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10 Jenis Reklame Wajib Pajak + 8 Pengecualian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2–4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10 Jenis Reklame Wajib Pajak + 8 Jenis Dikecualikan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2–4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410047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349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19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188719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39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10 Jenis Reklame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39112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Papan / Billboard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31720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Videotron / Megatron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24327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Kain (Spanduk, Umbul, Baliho)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916935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Melekat / Stiker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209543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Selebaran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502151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Berjalan (Kendaraan)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794759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Udara (Balon Gas)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087368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Apung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379976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Film / Slide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672584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Peragaan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3007" y="1051560"/>
            <a:ext cx="5410047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3007" y="1051560"/>
            <a:ext cx="45720" cy="5349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70167" y="1188719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0167" y="1188719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1691639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Dikecualikan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0167" y="2039112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Internet, TV, radio, media cetak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2331720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Label / merek produk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2624327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Nama usaha ≤ 1 m² di tempat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0167" y="2916935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Reklame Pemerintah/Pemda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0167" y="3209543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Tempat ibadah &amp; panti asuhan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0167" y="3502151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Sosial &amp; keagamaan ≤ 30 hari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0167" y="3794759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Kegiatan politik (masa kampanye)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70167" y="4087368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Olahraga KONI ≤ 30 hari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Subjek &amp; Wajib Pajak: Siapa yang Terkena Kewajiban Pajak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3–4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410047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349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19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188719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39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Subjek Pajak (Pasal 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39112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Orang pribadi atau Badan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31720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yang menggunakan Reklame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1051560"/>
            <a:ext cx="5410047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1051560"/>
            <a:ext cx="45720" cy="5349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70167" y="1188719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0167" y="1188719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0167" y="1691639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Wajib Pajak (Pasal 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0167" y="2039112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Orang pribadi atau Badan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2331720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yang menyelenggarakan Reklame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0167" y="2624327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Jika pihak ketiga → menjadi WP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916935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Mendaftarkan diri &amp; objek pajak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III</a:t>
            </a:r>
            <a:br/>
            <a:r>
              <a:t>MASA PAJAK &amp; TAHUN PAJAK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12 Bulan atau 30 Hari — Tergantung Jenis Reklame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Masa Pajak: 12 Bulan Permanen, 30 Hari Insidentil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2567863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2567863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256786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2563EB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238498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Bulan</a:t>
            </a:r>
            <a:br/>
            <a:r>
              <a:t>(Permanen)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0823" y="1051560"/>
            <a:ext cx="2567863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90823" y="1051560"/>
            <a:ext cx="2567863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0823" y="1280160"/>
            <a:ext cx="256786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D9488"/>
                </a:solidFill>
                <a:latin typeface="Calibri"/>
              </a:defRPr>
            </a:pPr>
            <a:r>
              <a:t>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2263" y="1965960"/>
            <a:ext cx="238498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Hari</a:t>
            </a:r>
            <a:br/>
            <a:r>
              <a:t>(Insidentil)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1051560"/>
            <a:ext cx="2567863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1051560"/>
            <a:ext cx="2567863" cy="4572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007" y="1280160"/>
            <a:ext cx="256786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B8860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4447" y="1965960"/>
            <a:ext cx="238498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Tahun Pajak</a:t>
            </a:r>
            <a:br/>
            <a:r>
              <a:t>(Kalender)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75191" y="1051560"/>
            <a:ext cx="2567863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75191" y="1051560"/>
            <a:ext cx="2567863" cy="45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75191" y="1280160"/>
            <a:ext cx="256786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B3A6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6631" y="1965960"/>
            <a:ext cx="238498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Bulan</a:t>
            </a:r>
            <a:br/>
            <a:r>
              <a:t>(Bagian Tahun)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337560"/>
            <a:ext cx="11094415" cy="2560320"/>
          </a:xfrm>
          <a:prstGeom prst="roundRect">
            <a:avLst>
              <a:gd name="adj" fmla="val 4000"/>
            </a:avLst>
          </a:prstGeom>
          <a:solidFill>
            <a:srgbClr val="E8EDF5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474720"/>
            <a:ext cx="10637215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Masa Pajak Permanen: 12 bulan atau sesuai jangka waktu penayangan reklame</a:t>
            </a:r>
            <a:br/>
            <a:r>
              <a:t>• Masa Pajak Insidentil: dihitung per hari, maksimal 30 hari</a:t>
            </a:r>
            <a:br/>
            <a:r>
              <a:t>• Tahun Pajak: 1 tahun kalender atau sesuai tahun buku wajib pajak</a:t>
            </a:r>
            <a:br/>
            <a:r>
              <a:t>• Bagian Tahun Pajak: 1 bulan penuh (jika tidak mencakup satu tahun penuh)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IV</a:t>
            </a:r>
            <a:br/>
            <a:r>
              <a:t>PENDAFTARAN &amp; PENDATAAN 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Wajib Daftar atau NPWPD Jabatan — Bapenda Berwenang Mendata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6–8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Pendaftaran Wajib, Pendataan Bapenda, dan Penonaktifan WP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6–8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410047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349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188719"/>
            <a:ext cx="509000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PENDAFTARAN (Pasal 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19072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WP wajib mendaftarkan diri &amp; objek pajak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956815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Formulir: ambil/online/dikirim petugas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94559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Lampirkan: KTP, NPWP, Akta, NIB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432303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Bapenda terbitkan NPWPD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670047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Jika tidak mendaftar → NPWPD jabatan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907791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Juga: NOPD &amp; nomor registrasi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007" y="1051560"/>
            <a:ext cx="5410047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7" y="1051560"/>
            <a:ext cx="45720" cy="5349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5887" y="1188719"/>
            <a:ext cx="509000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PENDATAAN &amp; NONAKTIF (Pasal 7–8)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5887" y="1481328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5887" y="1719072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Bapenda mendata WP &amp; objek pajak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5887" y="1956815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Termasuk data geografis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5887" y="2194559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Dapat kerjasama dengan instansi lain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5887" y="2432303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Penonaktifan: WP tak penuhi syarat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5887" y="2670047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Keputusan maksimal 3 bulan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5887" y="2907791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Syarat: tanpa tunggakan &amp; keberatan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V</a:t>
            </a:r>
            <a:br/>
            <a:r>
              <a:t>NILAI SEWA REKLAME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7 Faktor Penentu NSR — Jenis, Bahan, Lokasi, Waktu, dll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9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7 Faktor Penentu Nilai Sewa Reklame (NSR)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256786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280160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8016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234439"/>
            <a:ext cx="1653463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Jenis Reklame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0823" y="1051560"/>
            <a:ext cx="256786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27983" y="1280160"/>
            <a:ext cx="502920" cy="50292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7983" y="128016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22343" y="1234439"/>
            <a:ext cx="1653463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Bahan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1051560"/>
            <a:ext cx="256786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70167" y="1280160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0167" y="128016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4527" y="1234439"/>
            <a:ext cx="1653463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Lokasi (Kelas Jalan)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75191" y="1051560"/>
            <a:ext cx="256786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12351" y="1280160"/>
            <a:ext cx="502920" cy="50292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12351" y="128016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06711" y="1234439"/>
            <a:ext cx="1653463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Waktu Tayang (detik)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2697480"/>
            <a:ext cx="256786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2926080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292608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2880360"/>
            <a:ext cx="1653463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Jangka Waktu (hari)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90823" y="2697480"/>
            <a:ext cx="256786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527983" y="2926080"/>
            <a:ext cx="502920" cy="50292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7983" y="292608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22343" y="2880360"/>
            <a:ext cx="1653463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Jumlah Media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3007" y="2697480"/>
            <a:ext cx="256786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70167" y="2926080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70167" y="292608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64527" y="2880360"/>
            <a:ext cx="1653463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Ukuran (m²)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2697479"/>
            <a:ext cx="11094415" cy="1554480"/>
          </a:xfrm>
          <a:prstGeom prst="roundRect">
            <a:avLst>
              <a:gd name="adj" fmla="val 4000"/>
            </a:avLst>
          </a:prstGeom>
          <a:solidFill>
            <a:srgbClr val="E8EDF5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2743199"/>
            <a:ext cx="4572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A1628"/>
                </a:solidFill>
                <a:latin typeface="Calibri"/>
              </a:defRPr>
            </a:pPr>
            <a:r>
              <a:t>KLASIFIKASI KELAS JALAN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3063239"/>
            <a:ext cx="10728655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🏛️  Kelas Jalan Khusus — Tol | Premium 1 | Premium 2</a:t>
            </a:r>
            <a:br/>
            <a:r>
              <a:t>🚗  Kelas Jalan I (Kendali Ketat) — Lebar &gt; 3 m, pusat pelayanan</a:t>
            </a:r>
            <a:br/>
            <a:r>
              <a:t>🏡  Kelas Jalan II (Kendali Sedang) — Lebar ≤ 3 m, jalan lingkungan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VI</a:t>
            </a:r>
            <a:br/>
            <a:r>
              <a:t>PERHITUNGAN &amp; TARIF PAJAK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Rumus: Pajak = Tarif × NSR — Dengan Berbagai Ketentuan Khusus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Rumus: Pajak Reklame = Tarif (50%) × NSR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2567863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2567863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256786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2563EB"/>
                </a:solidFill>
                <a:latin typeface="Calibri"/>
              </a:defRPr>
            </a:pPr>
            <a:r>
              <a:t>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238498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Pajak =</a:t>
            </a:r>
            <a:br/>
            <a:r>
              <a:t>Tarif × NSR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0823" y="1051560"/>
            <a:ext cx="2567863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90823" y="1051560"/>
            <a:ext cx="2567863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0823" y="1280160"/>
            <a:ext cx="256786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D9488"/>
                </a:solidFill>
                <a:latin typeface="Calibri"/>
              </a:defRPr>
            </a:pPr>
            <a:r>
              <a:t>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2263" y="1965960"/>
            <a:ext cx="238498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Indoor =</a:t>
            </a:r>
            <a:br/>
            <a:r>
              <a:t>50% NSR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1051560"/>
            <a:ext cx="2567863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1051560"/>
            <a:ext cx="2567863" cy="4572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007" y="1280160"/>
            <a:ext cx="256786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B8860B"/>
                </a:solidFill>
                <a:latin typeface="Calibri"/>
              </a:defRPr>
            </a:pPr>
            <a:r>
              <a:t>+20%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4447" y="1965960"/>
            <a:ext cx="238498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Tinggi &gt; 15m</a:t>
            </a:r>
            <a:br/>
            <a:r>
              <a:t>tambahan 20%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75191" y="1051560"/>
            <a:ext cx="2567863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75191" y="1051560"/>
            <a:ext cx="2567863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75191" y="1280160"/>
            <a:ext cx="256786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DC2626"/>
                </a:solidFill>
                <a:latin typeface="Calibri"/>
              </a:defRPr>
            </a:pPr>
            <a:r>
              <a:t>+50%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6631" y="1965960"/>
            <a:ext cx="238498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Tembakau &amp;</a:t>
            </a:r>
            <a:br/>
            <a:r>
              <a:t>Miras +50%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337560"/>
            <a:ext cx="11094415" cy="2560320"/>
          </a:xfrm>
          <a:prstGeom prst="roundRect">
            <a:avLst>
              <a:gd name="adj" fmla="val 4000"/>
            </a:avLst>
          </a:prstGeom>
          <a:solidFill>
            <a:srgbClr val="E8EDF5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474720"/>
            <a:ext cx="10637215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Rumus: Pajak Reklame = Tarif Pajak × NSR</a:t>
            </a:r>
            <a:br/>
            <a:r>
              <a:t>NSR = Nilai Kelas Jalan × Ukuran (m²) × Jumlah × Jangka Waktu</a:t>
            </a:r>
            <a:br/>
            <a:br/>
            <a:r>
              <a:t>Ketentuan Khusus:</a:t>
            </a:r>
            <a:br/>
            <a:r>
              <a:t>• Reklame indoor: NSR 50% dari NSR normal</a:t>
            </a:r>
            <a:br/>
            <a:r>
              <a:t>• Ketinggian &gt; 15 meter: tambahan 20%</a:t>
            </a:r>
            <a:br/>
            <a:r>
              <a:t>• Produk tembakau &amp; minuman beralkohol: tambahan 50%</a:t>
            </a:r>
            <a:br/>
            <a:r>
              <a:t>• Perubahan naskah/revisi isi reklame: dikecualikan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Tabel NSR — Papan / Billboard (Rp/m²/hari)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051560"/>
          <a:ext cx="11094414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8"/>
              </a:tblGrid>
              <a:tr h="384048"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Kelas Jalan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Zona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NSR (Rp/m²/hari)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Jalan Tol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23.575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Premium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16.100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Premium 2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14.950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Kendali Ketat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13.225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II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Kendali Sedang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11.500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Tabel NSR — Megatron / Videotron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051560"/>
          <a:ext cx="1109441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/>
                <a:gridCol w="2773603"/>
                <a:gridCol w="2773603"/>
                <a:gridCol w="2773603"/>
              </a:tblGrid>
              <a:tr h="384048"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Kelas Jalan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Zona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NSR (/30 dtk)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NSR (/m²/thn)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Jalan Tol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17,25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13.599.900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Premium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13,80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10.879.920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Premium 2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9,20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7.253.280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Kendali Ketat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8,05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6.346.620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II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Kendali Sedang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5,75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4.533.300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Tabel NSR — Kain (Spanduk/Umbul/Baliho) (Rp/m²/hari)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051560"/>
          <a:ext cx="11094414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8"/>
              </a:tblGrid>
              <a:tr h="384048"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Kelas Jalan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Zona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NSR (Rp/m²/hari)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Jalan Tol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30.000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Premium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30.000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Premium 2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25.000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Kendali Ketat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20.000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II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Kendali Sedang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19.000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NSR untuk 8 Jenis Reklame Lainnya — Bagian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2567863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349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19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188719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🏷️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39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Stiker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39112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Rp 7,5/cm²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3172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Min. Rp 750.000/kali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0823" y="1051560"/>
            <a:ext cx="2567863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90823" y="1051560"/>
            <a:ext cx="45720" cy="5349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7983" y="1188719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7983" y="1188719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7983" y="1691639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Melekat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7983" y="2039112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Rp 750.000/m²/tahun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7" y="1051560"/>
            <a:ext cx="2567863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3007" y="1051560"/>
            <a:ext cx="45720" cy="53492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70167" y="1188719"/>
            <a:ext cx="384048" cy="384048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0167" y="1188719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1691639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B8860B"/>
                </a:solidFill>
                <a:latin typeface="Calibri"/>
              </a:defRPr>
            </a:pPr>
            <a:r>
              <a:t>Selebaran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2039112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Rp 600/lembar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233172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Min. Rp 6.000.000/kali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5191" y="1051560"/>
            <a:ext cx="2567863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75191" y="1051560"/>
            <a:ext cx="45720" cy="53492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212351" y="1188719"/>
            <a:ext cx="384048" cy="384048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12351" y="1188719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2351" y="1691639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DC2626"/>
                </a:solidFill>
                <a:latin typeface="Calibri"/>
              </a:defRPr>
            </a:pPr>
            <a:r>
              <a:t>Berjalan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2351" y="2039112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Rp 6.000/m²/hari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12351" y="233172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Termasuk kendaraan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NSR untuk 8 Jenis Reklame Lainnya — Bagian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2567863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349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19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188719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39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Udara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39112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Rp 2.400.000/sekali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3172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Maks. 1 bulan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0823" y="1051560"/>
            <a:ext cx="2567863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90823" y="1051560"/>
            <a:ext cx="45720" cy="5349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7983" y="1188719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7983" y="1188719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7983" y="1691639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Apung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7983" y="2039112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Rp 600.000/sekali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7983" y="233172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Maks. 1 bulan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1051560"/>
            <a:ext cx="2567863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1051560"/>
            <a:ext cx="45720" cy="53492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70167" y="1188719"/>
            <a:ext cx="384048" cy="384048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0167" y="1188719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1691639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B8860B"/>
                </a:solidFill>
                <a:latin typeface="Calibri"/>
              </a:defRPr>
            </a:pPr>
            <a:r>
              <a:t>Film / Slide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2039112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Rp 12.000/15 detik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5191" y="1051560"/>
            <a:ext cx="2567863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75191" y="1051560"/>
            <a:ext cx="45720" cy="53492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212351" y="1188719"/>
            <a:ext cx="384048" cy="384048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12351" y="1188719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2351" y="1691639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DC2626"/>
                </a:solidFill>
                <a:latin typeface="Calibri"/>
              </a:defRPr>
            </a:pPr>
            <a:r>
              <a:t>Peragaan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2351" y="2039112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Rp 480.000/penyelenggaraan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VII</a:t>
            </a:r>
            <a:br/>
            <a:r>
              <a:t>PENETAPAN, TAGIHAN &amp; PEMBAYARAN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4 Langkah: SKPD → Bayar → Telat → STPD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11–14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Alur Penetapan hingga Pembayaran: 4 Langkah Wajib Dipahami WP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11–14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88719"/>
            <a:ext cx="2567863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188719"/>
            <a:ext cx="2567863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03971" y="1325879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03971" y="1325879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74519"/>
            <a:ext cx="2384983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SKPD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94560"/>
            <a:ext cx="238498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Diterbitkan Bapenda</a:t>
            </a:r>
            <a:br/>
            <a:r>
              <a:t>Masa berlaku 5 tahun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16503" y="1828799"/>
            <a:ext cx="274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0823" y="1188719"/>
            <a:ext cx="2567863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90823" y="1188719"/>
            <a:ext cx="2567863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46155" y="1325879"/>
            <a:ext cx="457200" cy="4572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46155" y="1325879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82263" y="1874519"/>
            <a:ext cx="2384983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Pembayaran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82263" y="2194560"/>
            <a:ext cx="238498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Lunas 1 bulan</a:t>
            </a:r>
            <a:br/>
            <a:r>
              <a:t>sejak SKPD diterima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58687" y="1828799"/>
            <a:ext cx="274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1188719"/>
            <a:ext cx="2567863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1188719"/>
            <a:ext cx="2567863" cy="4572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88339" y="1325879"/>
            <a:ext cx="457200" cy="457200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88339" y="1325879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4447" y="1874519"/>
            <a:ext cx="2384983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B8860B"/>
                </a:solidFill>
                <a:latin typeface="Calibri"/>
              </a:defRPr>
            </a:pPr>
            <a:r>
              <a:t>Keterlambatan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4447" y="2194560"/>
            <a:ext cx="238498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Bunga 1%/bln</a:t>
            </a:r>
            <a:br/>
            <a:r>
              <a:t>Diterbitkan STPD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00871" y="1828799"/>
            <a:ext cx="274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75191" y="1188719"/>
            <a:ext cx="2567863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75191" y="1188719"/>
            <a:ext cx="2567863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30523" y="1325879"/>
            <a:ext cx="457200" cy="45720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30523" y="1325879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6631" y="1874519"/>
            <a:ext cx="2384983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C2626"/>
                </a:solidFill>
                <a:latin typeface="Calibri"/>
              </a:defRPr>
            </a:pPr>
            <a:r>
              <a:t>STPD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66631" y="2194560"/>
            <a:ext cx="238498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Harus lunas</a:t>
            </a:r>
            <a:br/>
            <a:r>
              <a:t>≤ 30 hari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3383279"/>
            <a:ext cx="11094415" cy="2560320"/>
          </a:xfrm>
          <a:prstGeom prst="roundRect">
            <a:avLst>
              <a:gd name="adj" fmla="val 4000"/>
            </a:avLst>
          </a:prstGeom>
          <a:solidFill>
            <a:srgbClr val="E8EDF5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3520439"/>
            <a:ext cx="10637215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Jatuh tempo: 1 bulan sejak tanggal pengiriman SKPD</a:t>
            </a:r>
            <a:br/>
            <a:r>
              <a:t>• Pembayaran: Kas Daerah / Bank Persepsi / tempat lain yang ditunjuk</a:t>
            </a:r>
            <a:br/>
            <a:r>
              <a:t>• Stiker sebagai tanda bukti pembayaran reklame</a:t>
            </a:r>
            <a:br/>
            <a:r>
              <a:t>• STPD dikenakan bunga 1%/bulan (maks. 24 bulan)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VIII</a:t>
            </a:r>
            <a:br/>
            <a:r>
              <a:t>PEMBETULAN, KEBERATAN &amp; BANDING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Hak WP: Koreksi, Keberatan, Banding — Dengan Batas Waktu Jelas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15–20, 29–33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Pembetulan: Koreksi Kesalahan Tulis, Hitung, dan Penerapan Aturan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15–20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410047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349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188719"/>
            <a:ext cx="509000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PEMBETULAN (Pasal 15–20)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19072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Kesalahan tulis: nama, alamat, NPWPD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956815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Kesalahan hitung: jumlah, tarif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94559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Kekeliruan penerapan aturan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432303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1 permohonan = 1 ketetapan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670047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Keputusan maksimal 6 bulan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907791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&gt; 6 bulan tanpa putusan → dikabulkan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145535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Dapat dilakukan berulang (Ps 20)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383279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Jenis keputusan: kabul / batal / tolak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3007" y="1051560"/>
            <a:ext cx="5410047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3007" y="1051560"/>
            <a:ext cx="45720" cy="53492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5887" y="1188719"/>
            <a:ext cx="509000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B8860B"/>
                </a:solidFill>
                <a:latin typeface="Calibri"/>
              </a:defRPr>
            </a:pPr>
            <a:r>
              <a:t>JANGKA WAKTU &amp; PROSEDUR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5887" y="1481328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5887" y="1719072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Permohonan diajukan ke Bapenda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5887" y="1956815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Keputusan: kabul (tambah/kurang/hapus)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5887" y="2194559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Keputusan: batal | tolak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5887" y="2432303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Pasal 19: pembetulan jabatan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5887" y="2670047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Pasal 20: berulang jika masih salah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Keberatan &amp; Banding: Upaya Hukum WP dalam Sengketa Pajak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29–33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410047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349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188719"/>
            <a:ext cx="509000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KEBERATAN (Pasal 29–31)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19072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Objek: SKPD, SKPDKB, SKPDKBT, dll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956815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Diajukan maks. 3 bulan sejak SKPD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94559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Sudah bayar min. yang disetujui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432303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Keputusan maks. 12 bulan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670047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Jika ditolak: denda 30%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907791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Jika dikabulkan: + bunga 0,6%/bulan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007" y="1051560"/>
            <a:ext cx="5410047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7" y="1051560"/>
            <a:ext cx="45720" cy="5349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5887" y="1188719"/>
            <a:ext cx="509000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BANDING (Pasal 32–33)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5887" y="1481328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5887" y="1719072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Objek: Surat Keputusan Keberatan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5887" y="1956815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 badan peradilan pajak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5887" y="2194559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Maks. 3 bulan sejak keputusan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5887" y="2432303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Menangguhkan kewajiban bayar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5887" y="2670047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Jika ditolak: denda 60%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5887" y="2907791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Jika dikabulkan: + bunga 0,6%/bulan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IX</a:t>
            </a:r>
            <a:br/>
            <a:r>
              <a:t>PEMERIKSAAN, PENAGIHAN &amp; PENGHAPUSAN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Bapenda Berwenang Periksa — Piutang Dihapus Lewat 4 Tahapan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22–26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Pemeriksaan &amp; Penagihan: 3 Pilar Penegakan Kepatuhan WP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22–25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3515258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349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19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188719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39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Pemeriksaan (Ps 22–23)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39112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Kepala Bapenda berwenang periksa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3172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Menguji kepatuhan WP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24327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WP wajib: buka buku/dokumen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916935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Beri akses tempat &amp; keterangan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209543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Jika tidak → pajak ditetapkan jabatan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8218" y="1051560"/>
            <a:ext cx="3515258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8218" y="1051560"/>
            <a:ext cx="45720" cy="5349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75378" y="1188719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75378" y="1188719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5378" y="1691639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Penagihan (Ps 24)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5378" y="2039112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Dasar: SKPD, SKPDKB, SKPDKBT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5378" y="233172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STPD, SK Pembetulan/Keberatan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5378" y="2624327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Putusan Banding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27796" y="1051560"/>
            <a:ext cx="3515258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27796" y="1051560"/>
            <a:ext cx="45720" cy="53492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64956" y="1188719"/>
            <a:ext cx="384048" cy="384048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64956" y="1188719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4956" y="1691639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B8860B"/>
                </a:solidFill>
                <a:latin typeface="Calibri"/>
              </a:defRPr>
            </a:pPr>
            <a:r>
              <a:t>Kedaluwarsa (Ps 25)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4956" y="2039112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5 tahun sejak pajak terutang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4956" y="233172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Tertangguh jika ada: Surat Teguran / Paksa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4956" y="2624327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Pengakuan utang dari WP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Penghapusan Piutang Pajak: 4 Langkah dari Penelitian hingga 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88719"/>
            <a:ext cx="2567863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188719"/>
            <a:ext cx="2567863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03971" y="1325879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03971" y="1325879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74519"/>
            <a:ext cx="2384983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Penelitian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94560"/>
            <a:ext cx="238498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Dilakukan Bapenda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16503" y="1828799"/>
            <a:ext cx="274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0823" y="1188719"/>
            <a:ext cx="2567863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90823" y="1188719"/>
            <a:ext cx="2567863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46155" y="1325879"/>
            <a:ext cx="457200" cy="4572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46155" y="1325879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82263" y="1874519"/>
            <a:ext cx="2384983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Penetapan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82263" y="2194560"/>
            <a:ext cx="238498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Keputusan Wali Kota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58687" y="1828799"/>
            <a:ext cx="274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1188719"/>
            <a:ext cx="2567863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1188719"/>
            <a:ext cx="2567863" cy="4572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88339" y="1325879"/>
            <a:ext cx="457200" cy="457200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88339" y="1325879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4447" y="1874519"/>
            <a:ext cx="2384983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B8860B"/>
                </a:solidFill>
                <a:latin typeface="Calibri"/>
              </a:defRPr>
            </a:pPr>
            <a:r>
              <a:t>Koordinasi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4447" y="2194560"/>
            <a:ext cx="238498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Dengan Inspektorat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00871" y="1828799"/>
            <a:ext cx="274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75191" y="1188719"/>
            <a:ext cx="2567863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75191" y="1188719"/>
            <a:ext cx="2567863" cy="45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30523" y="1325879"/>
            <a:ext cx="457200" cy="45720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30523" y="1325879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6631" y="1874519"/>
            <a:ext cx="2384983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B3A6B"/>
                </a:solidFill>
                <a:latin typeface="Calibri"/>
              </a:defRPr>
            </a:pPr>
            <a:r>
              <a:t>SK Penghapusan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66631" y="2194560"/>
            <a:ext cx="238498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Diterbitkan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3383279"/>
            <a:ext cx="11094415" cy="2560320"/>
          </a:xfrm>
          <a:prstGeom prst="roundRect">
            <a:avLst>
              <a:gd name="adj" fmla="val 4000"/>
            </a:avLst>
          </a:prstGeom>
          <a:solidFill>
            <a:srgbClr val="E8EDF5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3520439"/>
            <a:ext cx="10637215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Syarat penghapusan piutang pajak:</a:t>
            </a:r>
            <a:br/>
            <a:r>
              <a:t>• Piutang tidak mungkin ditagih lagi karena kedaluwarsa</a:t>
            </a:r>
            <a:br/>
            <a:r>
              <a:t>• Ada koordinasi dengan Inspektorat Daerah</a:t>
            </a:r>
            <a:br/>
            <a:r>
              <a:t>• Dibuktikan dengan dokumen pelaksanaan penagihan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X</a:t>
            </a:r>
            <a:br/>
            <a:r>
              <a:t>KERINGANAN, KEMUDAHAN &amp; PENGHARGAAN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3 Fasilitas WP: Keringanan, Kemudahan Angsuran, dan Penghargaan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27–28, 34–35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3 Fasilitas untuk WP: Keringanan, Kemudahan Angsuran, Penghargaan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27–28, 34–35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3515258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349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19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188719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39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Keringanan (Ps 27)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39112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Keringanan / Pengurangan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3172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Pembebasan / Penundaan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24327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Atas pokok &amp; sanksi pajak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916935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WP dengan likuiditas rendah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209543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Objek terdampak bencana/kebakaran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8218" y="1051560"/>
            <a:ext cx="3515258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8218" y="1051560"/>
            <a:ext cx="45720" cy="5349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75378" y="1188719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75378" y="1188719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5378" y="1691639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Kemudahan (Ps 28)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5378" y="2039112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Perpanjangan waktu bayar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5378" y="233172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Angsuran maks. 24 bulan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5378" y="2624327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Bunga 0,6%/bulan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75378" y="2916935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Keadaan kahar: bencana, wabah, kerusuhan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7796" y="1051560"/>
            <a:ext cx="3515258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27796" y="1051560"/>
            <a:ext cx="45720" cy="53492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264956" y="1188719"/>
            <a:ext cx="384048" cy="384048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64956" y="1188719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4956" y="1691639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B8860B"/>
                </a:solidFill>
                <a:latin typeface="Calibri"/>
              </a:defRPr>
            </a:pPr>
            <a:r>
              <a:t>Penghargaan (Ps 34–35)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4956" y="2039112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WP Taat Pajak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4956" y="233172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Bayar tepat waktu ≥ 1 tahun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4956" y="2624327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Tanpa tunggakan 3 tahun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4956" y="2916935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Kontribusi signifikan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4956" y="3209543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Piagam / Hadiah (APBD)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XI</a:t>
            </a:r>
            <a:br/>
            <a:r>
              <a:t>KETENTUAN PENUTUP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Perwal No 48/2012 Dicabut — Berlaku Sejak 20 Desember 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36–37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Perwal Lama Dicabut, Peraturan Baru Berlaku Mulai Diundangkan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36–37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410047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349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188719"/>
            <a:ext cx="509000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PERATURAN YANG DICABUT (Pasal 36)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19072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Perwal No. 48 Tahun 2012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956815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Petunjuk Pelaksanaan Perda 14/2012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94559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Perwal No. 52 Tahun 2013 (Perubahan)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1051560"/>
            <a:ext cx="5410047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1051560"/>
            <a:ext cx="45720" cy="53492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5887" y="1188719"/>
            <a:ext cx="509000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B3A6B"/>
                </a:solidFill>
                <a:latin typeface="Calibri"/>
              </a:defRPr>
            </a:pPr>
            <a:r>
              <a:t>MULAI BERLAKU (Pasal 37)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5887" y="1481328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5887" y="1719072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Sejak diundangkan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1956815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20 Desember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5887" y="2194559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5887" y="2432303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Pj. WALI KOTA BEKASI,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5887" y="2670047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ttd.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5887" y="2907791"/>
            <a:ext cx="5090007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R. GANI MUHAMAD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1371600"/>
            <a:ext cx="4114800" cy="41148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1828800"/>
            <a:ext cx="6400800" cy="64008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0" y="41148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3291840"/>
            <a:ext cx="32004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BERITA DAERAH KOTA BEKASI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4800" b="1">
                <a:solidFill>
                  <a:srgbClr val="FFFFFF"/>
                </a:solidFill>
                <a:latin typeface="Calibri"/>
              </a:defRPr>
            </a:pPr>
            <a:r>
              <a:t>TERIMA KASIH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49039"/>
            <a:ext cx="11094415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E8EDF5"/>
                </a:solidFill>
                <a:latin typeface="Calibri"/>
              </a:defRPr>
            </a:pPr>
            <a:r>
              <a:t>Peraturan Wali Kota Bekasi Nomor 51 Tahun 2024</a:t>
            </a:r>
            <a:br/>
            <a:r>
              <a:t>Tentang Pengelolaan Pajak Reklame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663440"/>
            <a:ext cx="11094415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Sumber: https://jdih.bekasikota.go.id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