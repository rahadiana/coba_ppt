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1">
                <a:solidFill>
                  <a:srgbClr val="E8B000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  <a:br/>
            <a:r>
              <a:t>NOMOR 51 TAHUN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400" b="1">
                <a:solidFill>
                  <a:srgbClr val="E8B000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Diselenggarakan oleh Pemerintah Kota Bekasi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400" b="0">
                <a:solidFill>
                  <a:srgbClr val="AAAAAA"/>
                </a:solidFill>
                <a:latin typeface="Calibri"/>
              </a:defRPr>
            </a:pPr>
            <a:r>
              <a:t>Ditetapkan: 20 Desember 2024 | Berlaku sejak diundangkan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943600"/>
            <a:ext cx="45720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3000" b="1">
                <a:solidFill>
                  <a:srgbClr val="002B5C"/>
                </a:solidFill>
                <a:latin typeface="Calibri"/>
              </a:defRPr>
            </a:pPr>
            <a:r>
              <a:t>DAFTAR 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I   : Ketentuan Umum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II  : Objek Pajak, Subjek Pajak, dan Wajib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III : Masa Pajak, Tahun Pajak, dan Bagian Tahun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IV  : Pendaftaran dan Pendataan Wajib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V   : Nilai Sewa Reklame (NSR)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VI  : Perhitungan Pajak Reklame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VII : Penetapan Besaran Pajak Terutang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VIII: Surat Tagihan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IX  : Pembayaran dan Penyetoran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   : Pembetulan dan Pembatalan Ketetapan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XI  : Pengembalian Kelebihan Pembayaran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XII : Pemeriksaan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XIII : Penagihan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XIV : Kedaluwarsa Penagihan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XV  : Penghapusan Piutang Pajak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XVI : Keringanan, Pengurangan, dan Pembebasan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XVII: Kemudahan Perpajakan Daerah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XVIII: Keberatan dan Banding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XIX : Penghargaan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Calibri"/>
              </a:defRPr>
            </a:pPr>
            <a:r>
              <a:t> BAB XX  : Ketentuan Penutup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I: KETENTUAN UMUM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 — Definisi dan Istilah dalam Peraturan ini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Definisi Penting (Pasal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Daerah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Pemerintah Daerah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Bapenda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Reklame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Pajak Reklame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Nilai Sewa Reklame (NSR)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NPWPD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NOPD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SKPD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Wajib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200" b="0">
                <a:solidFill>
                  <a:srgbClr val="555555"/>
                </a:solidFill>
                <a:latin typeface="Calibri"/>
              </a:defRPr>
            </a:pPr>
            <a:r>
              <a:t>Pasal 1 memuat 45 definisi. Hanya definisi kunci ditampilkan.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II: OBJEK PAJAK, SUBJEK PAJAK, DAN WAJIB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2–4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Objek Pajak Reklame (Pasal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500" b="0">
                <a:solidFill>
                  <a:srgbClr val="555555"/>
                </a:solidFill>
                <a:latin typeface="Calibri"/>
              </a:defRPr>
            </a:pPr>
            <a:r>
              <a:t>Pasal 2 ayat (1) &amp; 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Objek Pajak: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Reklame Papan/Billboard/Videotron/Megatron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Reklame Kain (spanduk, umbul-umbul, baliho)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c. Reklame Melekat/Stiker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d. Reklame Selebaran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e. Reklame Berjalan (termasuk pada kendaraan)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f. Reklame Udara (balon gas, dll)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g. Reklame Apung (terapung di permukaan air)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h. Reklame Film/Slide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i. Reklame Peragaan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Pengecualian Objek Pajak (Pasal 2 ayat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500" b="0">
                <a:solidFill>
                  <a:srgbClr val="555555"/>
                </a:solidFill>
                <a:latin typeface="Calibri"/>
              </a:defRPr>
            </a:pPr>
            <a:r>
              <a:t>Pasal 2 ayat (3)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Tidak termasuk objek Pajak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Reklame melalui internet, televisi, radio, wartaharian/mingguan/bulanan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Label/merek produk yang melekat pada barang diperdagangkan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c. Nama pengenal usaha/profesi (luas ≤ 1 m²) di bangunan tempat usaha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d. Reklame yang diselenggarakan oleh Pemerintah/Pemerintah Daerah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e. Reklame nama tempat ibadah dan panti asuhan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f. Reklame kepemilikan/peruntukan tanah (luas ≤ 1 m²)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g. Reklame kegiatan politik, sosial, keagamaan (tanpa iklan komersial)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   — Politik: selama masa kampanye KPU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   — Sosial/keagamaan: maks. 30 hari kalender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h. Reklame pertandingan olahraga (di bawah KONI): maks. 30 hari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Subjek &amp; Wajib Pajak Reklame (Pasal 3–4)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Subjek Pajak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Orang pribadi atau Badan yang menggunakan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Wajib Pajak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Orang pribadi atau Badan yang menyelenggarakan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Jika reklame diselenggarakan oleh </a:t>
            </a:r>
            <a:r>
              <a:rPr sz="1700">
                <a:solidFill>
                  <a:srgbClr val="000000"/>
                </a:solidFill>
                <a:latin typeface="Calibri"/>
              </a:rPr>
              <a:t>pihak ketiga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III: MASA PAJAK, TAHUN PAJAK, DAN BAGIAN TAHUN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Masa &amp; Tahun Pajak (Pasal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Masa Pajak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Permanen: 12 (dua belas) bulan dan/atau sesuai masa penayangan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Insidentil: dalam satuan hari, paling lama 30 (tiga puluh) hari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Tahun Pajak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1 (satu) tahun kalender (atau sesuai tahun buku Wajib Pajak)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Bagian Tahun Pajak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Jangka waktu 1 tahun pajak atas 1 bulan atau beberapa bulan kalender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IV: PENDAFTARAN DAN PENDATAAN WAJIB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6–8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Pendaftaran Wajib Pajak (Pasal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Wajib Pajak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Cara memperoleh formulir pendaftaran: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Ambil sendiri di Bapenda/UPTD Bapenda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Dikirim oleh petugas Bapenda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Akses daring (online) di laman resmi Bapenda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Persyaratan lampiran: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Fotokopi identitas (KTP/SIM/Paspor) | NPWP | Akta pendirian | NIB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Surat kuasa bermeterai (jika dikuasakan)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Setelah memenuhi syarat, Kepala Bapenda menerbitkan NPWPD.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Jika WP tidak mendaftar, NPWPD diterbitkan secara jabatan.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Pendataan &amp; Penonaktifan (Pasal 7–8)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Pendataan (Pasal 7):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Bapenda melakukan pendataan Wajib Pajak &amp; objek Pajak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Untuk memperoleh, melengkapi data &amp; penatausahaan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Termasuk informasi geografis objek Pajak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Bapenda dapat bekerjasama dengan instansi terkait/pihak ketiga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Penonaktifan/penghapusan NPWPD (Pasal 8):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WP tidak lagi memenuhi persyaratan subjektif &amp; objektif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Dapat dilakukan secara jabatan atau atas permohonan WP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Keputusan paling lama 3 bulan sejak permohonan diterima lengkap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Syarat: tidak ada tunggakan &amp; tidak sedang mengajukan keberatan/banding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WP yang tidak aktif sementara/tutup permanen wajib melapor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V: NILAI SEWA REKLAME (NSR)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9 — Dasar Pengenaan Pajak Reklame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Faktor Penentu Nilai Sewa Reklame (Pasal 9)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500" b="0">
                <a:solidFill>
                  <a:srgbClr val="555555"/>
                </a:solidFill>
                <a:latin typeface="Calibri"/>
              </a:defRPr>
            </a:pPr>
            <a:r>
              <a:t>Pasal 9 ayat (1)–(2)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Dasar pengenaan Pajak Reklame adalah </a:t>
            </a:r>
            <a:r>
              <a:rPr sz="1700">
                <a:solidFill>
                  <a:srgbClr val="000000"/>
                </a:solidFill>
                <a:latin typeface="Calibri"/>
              </a:rPr>
              <a:t>Nilai Sewa Reklame (NSR)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Faktor perhitungan NSR: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1. Jenis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2. Bahan yang digunakan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3. Lokasi penempatan (Kelas Jalan)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4. Waktu (dalam satuan detik)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5. Jangka waktu penyelenggaraan (hari kalender)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6. Jumlah media reklame (lembar)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7. Ukuran media reklame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Klasifikasi Kelas Jalan (Pasal 9 ayat 3–8)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Kelas Jalan Khusus: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Zona Khusus Jalan Tol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Zona Khusus Premium I: Jl. A. Yani, Cut Mutia, Ir. H. Juanda, Jend. Sudirman, Sultan Agung, Transyogi, KH. Noer Ali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Zona Khusus Premium II: Jl. Narogong Siliwangi, Jatiwaringin, Pekayon Jatiasih, Jatiasih Pondokgede, Jatimakmur, Joyo Martono, Chairil Anwar, Bintara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Kelas Jalan I (Kendali Ketat):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Jalan lebar &gt; 3 m, menghubungkan pusat pelayanan/permukiman (di luar kelas khusus)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Kelas Jalan II (Kendali Sedang):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Jalan lingkungan lebar ≤ 3 m atau jalan dalam perumahan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VI: PERHITUNGAN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10 — Tarif &amp; Rumus Perhitungan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Rumus Perhitungan Pajak Reklame (Pasal 10)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Rumus Dasar: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Pajak Reklame = Tarif Pajak Reklame × NSR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Rumus NSR Papan/Billboard: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Nilai kelas jalan × Ukuran (m²) × Jumlah × Jangka Waktu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Rumus NSR Megatron/Videotron: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Nilai kelas jalan × Ukuran (m²) × Jumlah × Jangka Waktu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Ketentuan tambahan: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Reklame indoor: NSR = 50% dari hasil perhitungan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Ketinggian &gt; 15 m: tambahan 20% dari NSR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Produk tembakau &amp; minuman keras: tambahan 50% dari NSR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Perubahan naskah/bentuk/ukuran: dikenakan pajak atas selisihnya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Perubahan &amp; Penutupan Naskah (Pasal 10 ayat 10–13)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Perubahan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Perubahan pemasangan terhadap naskah, bentuk, dan ukuran objek pajak → dikenakan Pajak Reklame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Penghitungan hanya atas selisih dari perubahan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Perubahan naskah dikecualikan jika masih dalam satu badan usaha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Penutupan Naskah: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objek pajak sudah menayangkan naskah tetapi subjek pajak tidak diketahui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→ Bapenda dapat melakukan penutupan naskah reklame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600" b="1">
                <a:solidFill>
                  <a:srgbClr val="002B5C"/>
                </a:solidFill>
                <a:latin typeface="Calibri"/>
              </a:defRPr>
            </a:pPr>
            <a:r>
              <a:t>Tabel NSR — Reklame Papan/Billboard (Rp/m²/hari)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NSR (Rp/m²)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Berdasarkan Pasal 10 ayat (5) huruf a. Satuan: 1 m², 1 buah, 1 hari.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600" b="1">
                <a:solidFill>
                  <a:srgbClr val="002B5C"/>
                </a:solidFill>
                <a:latin typeface="Calibri"/>
              </a:defRPr>
            </a:pPr>
            <a:r>
              <a:t>Tabel NSR — Reklame Megatron/Videotron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NSR (Rp/30 detik)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NSR (Rp/m²/tahun)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17,25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9,20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5,75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Berdasarkan Pasal 10 ayat (5) huruf b. Durasi 18 jam/hari = 2.160 tayangan/hari.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600" b="1">
                <a:solidFill>
                  <a:srgbClr val="002B5C"/>
                </a:solidFill>
                <a:latin typeface="Calibri"/>
              </a:defRPr>
            </a:pPr>
            <a:r>
              <a:t>Tabel NSR — Reklame Kain (Spanduk/Umbul/Baliho) (Rp/m²/hari)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NSR (Rp/m²)</a:t>
                      </a:r>
                    </a:p>
                  </a:txBody>
                  <a:tcPr anchor="ctr">
                    <a:solidFill>
                      <a:srgbClr val="002B5C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100" b="0">
                <a:solidFill>
                  <a:srgbClr val="555555"/>
                </a:solidFill>
                <a:latin typeface="Calibri"/>
              </a:defRPr>
            </a:pPr>
            <a:r>
              <a:t>Berdasarkan Pasal 10 ayat (5) huruf c. Satuan: 1 m², 1 buah, 1 hari.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Tabel NSR — Jenis Reklame Lainnya (Pasal 10 ayat 5d)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1. Reklame Stiker: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2. Reklame Melekat (dinding/tembok):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3. Reklame Selebaran: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4. Reklame Berjalan (kendaraan):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5. Reklame Udara: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6. Reklame Apung: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7. Reklame Film/Slide: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8. Reklame Peragaan: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VII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VII: PENETAPAN BESARAN PAJAK TERUTANG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Penetapan Pajak Terutang (Pasal 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Pejabat Yang Ditunjuk menetapkan Pajak Reklame terutang berdasarkan: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Surat pendaftaran objek pajak dengan menggunakan SKPD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Jika WP tidak mendaftar: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Jika hasil pemeriksaan menunjukkan pajak lebih besar: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SKPD diterbitkan sesuai temuan (tanpa sanksi administratif)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Batas waktu penetapan: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VIII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VIII: SURAT TAGIHAN PAJAK (STPD)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STPD — Surat Tagihan Pajak Daerah (Pasal 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Pejabat Yang Ditunjuk dapat menerbitkan STPD dalam jangka waktu paling lama </a:t>
            </a:r>
            <a:r>
              <a:rPr sz="1700">
                <a:solidFill>
                  <a:srgbClr val="000000"/>
                </a:solidFill>
                <a:latin typeface="Calibri"/>
              </a:rPr>
              <a:t>5 tahun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STPD diterbitkan apabila: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Pajak dalam SKPD tidak/kurang dibayar setelah jatuh tempo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Surat Keputusan Pembetulan/Keberatan/Putusan Banding tidak/kurang dibayar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c. Wajib Pajak dikenakan sanksi administratif bunga/denda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Bunga untuk huruf a: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Bunga untuk huruf b: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IX: PEMBAYARAN DAN PENYETORAN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13–14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Tata Cara Pembayaran (Pasal 13–14)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Pembayaran/Penyetoran Pajak Reklame: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Dilakukan secara lunas melalui Kas Daerah atau tempat yang ditunjuk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Menggunakan sistem pembayaran berbasis elektronik (jika belum tersedia → tunai)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   — </a:t>
            </a:r>
            <a:r>
              <a:rPr sz="1700">
                <a:solidFill>
                  <a:srgbClr val="000000"/>
                </a:solidFill>
                <a:latin typeface="Calibri"/>
              </a:rPr>
              <a:t>Jatuh tempo: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Keterlambatan: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Sanksi bunga 1% per bulan (maks. 24 bulan) + STPD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STPD harus dilunasi maks. 30 hari sejak pengiriman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Tanda bukti: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Wajib Pajak diberikan stiker sebagai tanda pembayaran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Bukti pembayaran sah dari Bank Persepsi/tempat lain yang ditunjuk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Tempat: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X: PEMBETULAN DAN PEMBATALAN KETETAPAN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15–20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Pembetulan/Pembatalan Ketetapan (Pasal 15–16)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Dapat dilakukan jika terdapat: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Kesalahan tulis (nama, alamat, NPWPD, nomor surat, masa pajak, dll.)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Kesalahan hitung (penjumlahan, pengurangan, perkalian, pembagian, tarif)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c. Kekeliruan penerapan ketentuan perundang-undangan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Persyaratan permohonan (Pasal 16):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1 permohonan untuk 1 ketetapan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Diajukan oleh WP atau kuasanya secara tertulis (Bahasa Indonesia)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Melampirkan identitas WP + kuasa + asli dokumen ketetapan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Prosedur Pembetulan (Pasal 17–20)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17: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18: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Kepala Bapenda wajib menerbitkan Surat Keputusan Pembetulan dalam 6 bulan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Keputusan: mengabulkan (menambah/mengurangi/menghapus), membatalkan, atau menolak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&gt; 6 bulan tanpa keputusan → permohonan dianggap dikabulkan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19: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20: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XI: PENGEMBALIAN KELEBIHAN PEMBAYARAN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Pengembalian Kelebihan Pembayaran (Pasal 21)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WP dapat mengajukan permohonan pengembalian kelebihan pembayaran pajak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Proses: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Keputusan diterbitkan maks. 12 bulan sejak permohonan diterima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&gt; 12 bulan tanpa keputusan → permohonan dianggap dikabulkan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→ SKPDLB diterbitkan dalam 1 bulan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Jika WP memiliki utang pajak lain: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Pengembalian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Jika terlambat → imbalan bunga 0,6%/bulan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XII: PEMERIKSAAN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22–23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Pemeriksaan Pajak (Pasal 22–23)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Kewenangan: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Pemeriksaan kepatuhan dilakukan jika: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WP mengajukan pengembalian/kompensasi kelebihan pembayaran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Ada data konkret yang menunjukkan pajak kurang dibayar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WP terpilih berdasarkan analisis risiko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Pemeriksaan untuk tujuan lain: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Pemberian/penghapusan NPWPD, penyelesaian keberatan, pencocokan data, penagihan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Kewajiban WP saat diperiksa: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Memperlihatkan buku/catatan/dokumen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Memberi akses ke tempat/ruangan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Memberikan keterangan yang diperlukan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XIII: PENAGIHAN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Penagihan Pajak (Pasal 24)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Dasar Penagihan Pajak: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SKPD, SKPDKB, SKPDKBT, STPD, Surat Keputusan Pembetulan, Surat Keputusan Keberatan, dan Putusan Banding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Prosedur: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Sebelum jatuh tempo: dapat dilakukan imbauan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Setelah jatuh tempo dan belum dilunasi: Penagihan Pajak sesuai ketentuan perundang-undangan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XIV: KEDALUWARSA PENAGIHAN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Kedaluwarsa Penagihan (Pasal 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Hak melakukan penagihan pajak </a:t>
            </a:r>
            <a:r>
              <a:rPr sz="1700">
                <a:solidFill>
                  <a:srgbClr val="000000"/>
                </a:solidFill>
                <a:latin typeface="Calibri"/>
              </a:rPr>
              <a:t>kedaluwarsa setelah 5 tahun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Kecuali WP melakukan tindak pidana di bidang perpajakan daerah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Kedaluwarsa tertangguh jika: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Diterbitkan Surat Teguran dan/atau Surat Paksa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Ada pengakuan utang pajak dari WP (langsung/tidak langsung)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   — Langsung: WP menyatakan masih punya utang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   — Tidak langsung: pengajuan angsuran, penundaan, atau keberatan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XV: PENGHAPUSAN PIUTANG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Penghapusan Piutang Pajak (Pasal 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Piutang pajak yang </a:t>
            </a:r>
            <a:r>
              <a:rPr sz="1700">
                <a:solidFill>
                  <a:srgbClr val="000000"/>
                </a:solidFill>
                <a:latin typeface="Calibri"/>
              </a:rPr>
              <a:t>tidak mungkin ditagih lagi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Prosedur: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Bapenda melakukan penelitian → membuat berita acara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Tim peneliti ditetapkan dengan Keputusan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Kepala Bapenda menyusun daftar usulan penghapusan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Disampaikan ke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Ditetapkan dengan Keputusan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Pertimbangan: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Pelaksanaan penagihan sampai batas kedaluwarsa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Hasil koordinasi dengan Inspektorat Daerah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XVI: KERINGANAN, PENGURANGAN, DAN PEMBEBASAN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Keringanan, Pengurangan, &amp; Pembebasan (Pasal 27)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Wali Kota/Kepala Bapenda dapat memberikan: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Keringanan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Pengurangan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Pembebasan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Penundaan pembayaran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atas pokok dan/atau sanksi pajak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Kondisi WP: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Kondisi Objek Pajak: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Ditetapkan dengan Keputusan Wali Kota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XVII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XVII: KEMUDAHAN PERPAJAKAN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Kemudahan Perpajakan Daerah (Pasal 28)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Bentuk kemudahan: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   a. </a:t>
            </a:r>
            <a:r>
              <a:rPr sz="1700">
                <a:solidFill>
                  <a:srgbClr val="000000"/>
                </a:solidFill>
                <a:latin typeface="Calibri"/>
              </a:rPr>
              <a:t>Perpanjangan batas waktu pembayaran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   b. </a:t>
            </a:r>
            <a:r>
              <a:rPr sz="1700">
                <a:solidFill>
                  <a:srgbClr val="000000"/>
                </a:solidFill>
                <a:latin typeface="Calibri"/>
              </a:rPr>
              <a:t>Fasilitas angsuran/penundaan pembayaran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Keadaan kahar meliputi: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Bencana alam, kebakaran, kerusuhan massal, wabah penyakit, atau keadaan lain berdasarkan pertimbangan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Jangka waktu angsuran/penundaan: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Bunga: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Wali Kota memperhatikan kepatuhan WP dalam 2 tahun terakhir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XVIII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XVIII: KEBERATAN DAN BANDING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29–33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WP dapat mengajukan keberatan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Syarat: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   — Diajukan tertulis dalam Bahasa Indonesia, maks. </a:t>
            </a:r>
            <a:r>
              <a:rPr sz="1700">
                <a:solidFill>
                  <a:srgbClr val="000000"/>
                </a:solidFill>
                <a:latin typeface="Calibri"/>
              </a:rPr>
              <a:t>3 bulan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WP harus sudah membayar paling sedikit sejumlah yang disetujui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tidak memenuhi syarat → tidak dianggap sebagai surat keberatan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Keputasan: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Jika tidak ada keputusan dalam 12 bulan → keberatan dianggap diterima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Sanksi jika keberatan ditolak: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WP dapat mengajukan banding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Syarat: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   — Paling lama </a:t>
            </a:r>
            <a:r>
              <a:rPr sz="1700">
                <a:solidFill>
                  <a:srgbClr val="000000"/>
                </a:solidFill>
                <a:latin typeface="Calibri"/>
              </a:rPr>
              <a:t>3 bulan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Diajukan tertulis dalam Bahasa Indonesia dengan alasan jelas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Efek: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Sanksi jika banding ditolak: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Jika dikabulkan: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XIX: PENGHARGAAN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34–35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Penghargaan Wajib Pajak Taat (Pasal 34–35)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Bentuk penghargaan: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Piagam penghargaan, hadiah, dan/atau sejenisnya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Dibebankan pada APBD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Kriteria Wajib Pajak Taat Pajak: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a. Menyetorkan pajak tepat waktu minimal 1 tahun &amp; tidak ada tunggakan 3 tahun terakhir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b. Kontribusi signifikan dalam mendukung program Pemerintah Daerah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Penetapan: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Ditetapkan dengan Keputusan Wali Kota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— Tim penilai dibentuk oleh Wali Kota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000" b="1">
                <a:solidFill>
                  <a:srgbClr val="E8B000"/>
                </a:solidFill>
                <a:latin typeface="Calibri"/>
              </a:defRPr>
            </a:pPr>
            <a:r>
              <a:t>BAB XX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BAB XX: KETENTUAN PENUTUP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Pasal 36–37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10972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Ketentuan Penutup (Pasal 36–37)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8288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36 — Pencabutan: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Peraturan Wali Kota yang dicabut dan dinyatakan tidak berlaku: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1. Perwal Bekasi No. 48 Tahun 2012 tentang Petunjuk Pelaksanaan Perda No. 14/2012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   2. Perwal Bekasi No. 52 Tahun 2013 tentang Perubahan atas Perwal No. 48/2012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Pasal 37 — Mulai Berlaku: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Peraturan Wali Kota ini mulai berlaku pada tanggal </a:t>
            </a:r>
            <a:r>
              <a:rPr sz="1700">
                <a:solidFill>
                  <a:srgbClr val="000000"/>
                </a:solidFill>
                <a:latin typeface="Calibri"/>
              </a:rPr>
              <a:t>diundangkan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Ditetapkan di Bekasi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pada tanggal </a:t>
            </a:r>
            <a:r>
              <a:rPr sz="1700">
                <a:solidFill>
                  <a:srgbClr val="000000"/>
                </a:solidFill>
                <a:latin typeface="Calibri"/>
              </a:rPr>
              <a:t>20 Desember 2024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Pj. WALI KOTA BEKASI,</a:t>
            </a:r>
          </a:p>
          <a:p>
            <a:pPr>
              <a:spcAft>
                <a:spcPts val="400"/>
              </a:spcAft>
              <a:defRPr sz="1700">
                <a:solidFill>
                  <a:srgbClr val="000000"/>
                </a:solidFill>
                <a:latin typeface="Calibri"/>
              </a:defRPr>
            </a:pPr>
            <a:r>
              <a:t>• ttd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• </a:t>
            </a:r>
            <a:r>
              <a:rPr sz="1700">
                <a:solidFill>
                  <a:srgbClr val="000000"/>
                </a:solidFill>
                <a:latin typeface="Calibri"/>
              </a:rPr>
              <a:t>R. GANI MUHAMAD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37160" cy="68580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1">
                <a:solidFill>
                  <a:srgbClr val="E8B000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  <a:br/>
            <a:br/>
            <a:r>
              <a:t>Sumber: https://jdih.bekasikota.go.id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4572000" cy="38100"/>
          </a:xfrm>
          <a:prstGeom prst="rect">
            <a:avLst/>
          </a:prstGeom>
          <a:solidFill>
            <a:srgbClr val="E8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