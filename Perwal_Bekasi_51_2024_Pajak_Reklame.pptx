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2286000" cy="2286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36576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8962E"/>
                </a:solidFill>
                <a:latin typeface="Calibri"/>
              </a:defRPr>
            </a:pPr>
            <a:r>
              <a:t>BERITA DAERAH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KOTA BEKASI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94415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PERATURAN WALI KOTA BEKASI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8962E"/>
                </a:solidFill>
                <a:latin typeface="Calibri"/>
              </a:defRPr>
            </a:pPr>
            <a:r>
              <a:t>NOMOR 51 TAHUN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1109441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TENTANG</a:t>
            </a:r>
            <a:br/>
            <a:r>
              <a:t>PENGELOLAAN PAJAK REKLAME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6858000" cy="822960"/>
          </a:xfrm>
          <a:prstGeom prst="roundRect">
            <a:avLst>
              <a:gd name="adj" fmla="val 4000"/>
            </a:avLst>
          </a:prstGeom>
          <a:solidFill>
            <a:srgbClr val="0D1F3C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8348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Pemerintah Kota Bekasi  ·  20 Desember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Berlaku sejak diundangkan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1800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11 Bab Kunci Mengatur Seluruh Aspek Pajak Reklame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"/>
            <a:ext cx="10180015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Perwal Bekasi No 51/2024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6627" y="1005840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98067" y="106070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2427" y="1060704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Umum &amp; Definisi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6627" y="1755648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8067" y="1810512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2427" y="181051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Objek, Subjek &amp; Wajib Pajak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627" y="2505456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8067" y="2560320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2427" y="256032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Masa Pajak &amp; Tahun Pajak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27" y="3255264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8067" y="3310128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2427" y="3310128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Pendaftaran &amp; Pendataan WP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" y="4005072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8067" y="4059936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2427" y="4059936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Nilai Sewa Reklame (NSR)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27" y="4754880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98067" y="480974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2427" y="4809744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Perhitungan &amp; Tarif Pajak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1005840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47307" y="1060704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1667" y="1060704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Penetapan, Tagihan &amp; Pembayaran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1755648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47307" y="1810512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1667" y="181051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Pembetulan, Keberatan &amp; Banding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5867" y="2505456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47307" y="2560320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1667" y="256032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Pemeriksaan, Penagihan &amp; Penghapusan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5867" y="3255264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47307" y="3310128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1667" y="3310128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Keringanan, Kemudahan &amp; Penghargaan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55867" y="4005072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47307" y="4059936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1667" y="4059936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Penutup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</a:t>
            </a:r>
            <a:br/>
            <a:r>
              <a:t>KETENTUAN UMUM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7 Definisi Kunci Jadi Landasan Hukum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7 Definisi Kunci Menjadi Landasan Pengelolaan Pajak Reklame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 • 7 Definisi Kunci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25374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Daerah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Kota Bekasi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0823" y="105156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0823" y="1051560"/>
            <a:ext cx="45720" cy="25374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Bapenda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Badan Pendapatan Daerah Kota Bekasi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05156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051560"/>
            <a:ext cx="45720" cy="25374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Reklame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Media untuk promosi &amp; pengenalan komersial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5191" y="105156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75191" y="1051560"/>
            <a:ext cx="45720" cy="25374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B3A6B"/>
                </a:solidFill>
                <a:latin typeface="Calibri"/>
              </a:defRPr>
            </a:pPr>
            <a:r>
              <a:t>Pajak Reklame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2351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Pajak atas penyelenggaraan reklame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86334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863340"/>
            <a:ext cx="45720" cy="25374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0005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00050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5034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NSR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85089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Nilai Sewa Reklame — dasar pengenaan pajak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90823" y="386334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90823" y="3863340"/>
            <a:ext cx="45720" cy="25374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27983" y="400050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7983" y="400050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7983" y="45034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NPWPD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7983" y="485089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Nomor Pokok Wajib Pajak Daerah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33007" y="386334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33007" y="3863340"/>
            <a:ext cx="45720" cy="25374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70167" y="400050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0167" y="400050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167" y="45034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Wajib Pajak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167" y="485089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Orang pribadi/badan dg hak &amp; kewajiban pajak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</a:t>
            </a:r>
            <a:br/>
            <a:r>
              <a:t>OBJEK, SUBJEK &amp; WAJIB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10 Jenis Reklame + 8 Pengecualian + 2 Subjek Pajak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2–4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10 Jenis Reklame Wajib Pajak + 8 Jenis Dikecualikan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2–4 • 10 Jenis + 8 Pengecualian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10 Jenis Reklame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Papan / Billboard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Videotron / Megatron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Kain (Spanduk, Umbul, Baliho)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54096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Melekat / Stiker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92424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Selebaran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30752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Berjalan (Kendaraan)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069080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Udara (Balon Gas)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07408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Apung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745736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Film / Slide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84064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Peragaan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169164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Dikecualikan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039112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Internet, TV, radio, media cetak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2377440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Label / merek produk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2715768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Nama usaha ≤ 1 m² di tempat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3054096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Reklame Pemerintah/Pemda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3392424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Tempat ibadah &amp; panti asuhan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3730752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Sosial &amp; keagamaan ≤ 30 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4069080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Kegiatan politik (masa kampanye)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4407408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Olahraga KONI ≤ 30 hari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Subjek &amp; Wajib Pajak: Siapa yang Terkena Kewajiban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3–4 • Subjek &amp; Wajib Pajak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Subjek Pajak (Pasal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yang menggunakan Reklame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9164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Wajib Pajak (Pasal 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2039112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2377440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yang menyelenggarakan Reklame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715768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Jika pihak ketiga → menjadi WP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3054096"/>
            <a:ext cx="5135727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Mendaftarkan diri &amp; objek pajak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III</a:t>
            </a:r>
            <a:br/>
            <a:r>
              <a:t>MASA PAJAK &amp; TAHUN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12 Bulan atau 30 Hari — Tergantung Jenis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Masa Pajak: 12 Bulan Permanen, 30 Hari Insidentil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5 • Masa &amp; Tahun Pajak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256786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</a:t>
            </a:r>
            <a:br/>
            <a:r>
              <a:t>(Permanen)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823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90823" y="1051560"/>
            <a:ext cx="256786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2263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Hari</a:t>
            </a:r>
            <a:br/>
            <a:r>
              <a:t>(Insidentil)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051560"/>
            <a:ext cx="256786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Tahun Pajak</a:t>
            </a:r>
            <a:br/>
            <a:r>
              <a:t>(Kalender)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75191" y="1051560"/>
            <a:ext cx="2567863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5191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B3A6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6631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</a:t>
            </a:r>
            <a:br/>
            <a:r>
              <a:t>(Bagian Tahun)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Masa Pajak Permanen: 12 bulan atau sesuai jangka waktu penayangan reklame</a:t>
            </a:r>
            <a:br/>
            <a:r>
              <a:t>• Masa Pajak Insidentil: dihitung per hari, maksimal 30 hari</a:t>
            </a:r>
            <a:br/>
            <a:r>
              <a:t>• Tahun Pajak: 1 tahun kalender atau sesuai tahun buku wajib pajak</a:t>
            </a:r>
            <a:br/>
            <a:r>
              <a:t>• Bagian Tahun Pajak: 1 bulan penuh (jika tidak mencakup satu tahun penuh)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IV</a:t>
            </a:r>
            <a:br/>
            <a:r>
              <a:t>PENDAFTARAN &amp; PENDATAAN 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Wajib Daftar atau NPWPD Jabatan — Bapenda Berwenang Mendata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6–8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Pendaftaran Wajib, Pendataan Bapenda, dan Penonaktifan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6–8 • Pendaftaran &amp; Pendataan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PENDAFTARAN (Pasal 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WP wajib mendaftarkan diri &amp; objek pajak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Formulir: ambil/online/dikirim petugas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Lampirkan: KTP, NPWP, Akta, NIB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terbitkan NPWPD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tidak mendaftar → NPWPD jabatan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Juga: NOPD &amp; nomor registrasi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PENDATAAN &amp; NONAKTIF (Pasal 7–8)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mendata WP &amp; objek pajak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Termasuk data geografis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kerjasama dengan instansi lain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Penonaktifan: WP tak penuhi syarat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3 bulan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Syarat: tanpa tunggakan &amp; keberatan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</a:t>
            </a:r>
            <a:br/>
            <a:r>
              <a:t>NILAI SEWA REKLAME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7 Faktor Penentu NSR — Jenis, Bahan, Lokasi, Waktu, dll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9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7 Faktor Penentu Nilai Sewa Reklame (NSR)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3035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9 • 7 Faktor Penentu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72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0887" y="12801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88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24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Jenis Reklame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836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35527" y="128016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552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88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Bahan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28016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452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Lokasi (Kelas Jalan)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764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4807" y="1280160"/>
            <a:ext cx="502920" cy="50292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480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9916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Waktu Tayang</a:t>
            </a:r>
            <a:br/>
            <a:r>
              <a:t>(detik)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3727" y="251460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0887" y="274320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887" y="27432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5247" y="269748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Jangka Waktu</a:t>
            </a:r>
            <a:br/>
            <a:r>
              <a:t>(hari)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98367" y="251460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35527" y="274320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35527" y="27432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29887" y="269748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Jumlah Media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251460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70167" y="274320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0167" y="27432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4527" y="269748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Ukuran (m²)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114800"/>
            <a:ext cx="11094415" cy="155448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1605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A1628"/>
                </a:solidFill>
                <a:latin typeface="Calibri"/>
              </a:defRPr>
            </a:pPr>
            <a:r>
              <a:t>KLASIFIKASI KELAS JALAN MENENTUKAN NILAI NSR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805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🏛️  Kelas Jalan Khusus — Tol | Premium 1 | Premium 2</a:t>
            </a:r>
            <a:br/>
            <a:r>
              <a:t>🚗  Kelas Jalan I (Kendali Ketat) — Lebar &gt; 3 m, pusat pelayanan</a:t>
            </a:r>
            <a:br/>
            <a:r>
              <a:t>🏡  Kelas Jalan II (Kendali Sedang) — Lebar ≤ 3 m, jalan lingkungan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</a:t>
            </a:r>
            <a:br/>
            <a:r>
              <a:t>PERHITUNGAN &amp; TARIF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Rumus: Pajak = Tarif × NSR — Dengan Berbagai Ketentuan Khusus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Rumus: Pajak Reklame = Tarif (50%) × NSR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Rumus Dasar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256786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Pajak =</a:t>
            </a:r>
            <a:br/>
            <a:r>
              <a:t>Tarif × NSR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823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90823" y="1051560"/>
            <a:ext cx="256786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2263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Indoor =</a:t>
            </a:r>
            <a:br/>
            <a:r>
              <a:t>50% NSR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051560"/>
            <a:ext cx="256786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+20%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Tinggi &gt; 15m</a:t>
            </a:r>
            <a:br/>
            <a:r>
              <a:t>tambahan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75191" y="1051560"/>
            <a:ext cx="2567863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5191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C2626"/>
                </a:solidFill>
                <a:latin typeface="Calibri"/>
              </a:defRPr>
            </a:pPr>
            <a:r>
              <a:t>+50%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6631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Tembakau &amp;</a:t>
            </a:r>
            <a:br/>
            <a:r>
              <a:t>Miras +50%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Rumus: Pajak Reklame = Tarif Pajak × NSR</a:t>
            </a:r>
            <a:br/>
            <a:r>
              <a:t>NSR = Nilai Kelas Jalan × Ukuran (m²) × Jumlah × Jangka Waktu</a:t>
            </a:r>
            <a:br/>
            <a:br/>
            <a:r>
              <a:t>Ketentuan Khusus:</a:t>
            </a:r>
            <a:br/>
            <a:r>
              <a:t>• Reklame indoor: NSR 50% dari NSR normal</a:t>
            </a:r>
            <a:br/>
            <a:r>
              <a:t>• Ketinggian &gt; 15 meter: tambahan 20%</a:t>
            </a:r>
            <a:br/>
            <a:r>
              <a:t>• Produk tembakau &amp; minuman beralkohol: tambahan 50%</a:t>
            </a:r>
            <a:br/>
            <a:r>
              <a:t>• Perubahan naskah/revisi isi reklame: dikecualikan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Papan / Billboard (Rp/m²/hari)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Papan / Billboard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23.575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16.100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14.950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13.225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11.500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Megatron / Videotron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Megatron / Videotron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3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(/30 dtk)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(/m²/thn)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17,25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13.599.900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13,80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10.879.920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9,20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7.253.280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8,05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6.346.620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5,75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4.533.300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Kain (Spanduk/Umbul/Baliho) (Rp/m²/hari)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Spanduk / Umbul / Baliho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untuk 8 Jenis Reklame Lainnya — Bagian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Jenis Reklame Lainnya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🏷️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Stiker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7,5/cm²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Min. Rp 750.000/kali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Melekat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750.000/m²/tahun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Selebaran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600/lembar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Min. Rp 6.000.000/kali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5191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75191" y="1051560"/>
            <a:ext cx="45720" cy="5349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Berjalan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6.000/m²/hari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2351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Termasuk kendaraan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untuk 8 Jenis Reklame Lainnya — Bagian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Jenis Reklame Lainnya (lanjutan)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Udara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2.400.000/sekali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Apung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600.000/sekali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983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Film / Slide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12.000/15 detik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5191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75191" y="1051560"/>
            <a:ext cx="45720" cy="5349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Peragaan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480.000/penyelenggaraan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</a:t>
            </a:r>
            <a:br/>
            <a:r>
              <a:t>PENETAPAN, TAGIHAN &amp; PEMBAYARAN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4 Langkah: SKPD → Bayar → Telat → STPD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11–14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Alur Penetapan hingga Pembayaran: 4 Langkah Wajib Dipahami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11–14 • Alur Penetapan → Pembayaran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253357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86826" y="1325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86826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SKPD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 Bapenda</a:t>
            </a:r>
            <a:br/>
            <a:r>
              <a:t>Masa berlaku 5 tahun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2213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2253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2253" y="1188720"/>
            <a:ext cx="253357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40440" y="13258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0440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693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693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Lunas 1 bulan</a:t>
            </a:r>
            <a:br/>
            <a:r>
              <a:t>sejak SKPD diterima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5827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5867" y="1188720"/>
            <a:ext cx="253357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94054" y="1325880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4054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7307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Keterlambatan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Bunga 1%/bln</a:t>
            </a:r>
            <a:br/>
            <a:r>
              <a:t>Diterbitkan STPD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9441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9481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09481" y="1188720"/>
            <a:ext cx="2533573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47668" y="1325880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7668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00921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STPD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0921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Harus lunas</a:t>
            </a:r>
            <a:br/>
            <a:r>
              <a:t>≤ 30 hari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38328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52044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Jatuh tempo: 1 bulan sejak tanggal pengiriman SKPD</a:t>
            </a:r>
            <a:br/>
            <a:r>
              <a:t>• Pembayaran: Kas Daerah / Bank Persepsi / tempat lain yang ditunjuk</a:t>
            </a:r>
            <a:br/>
            <a:r>
              <a:t>• Stiker sebagai tanda bukti pembayaran reklame</a:t>
            </a:r>
            <a:br/>
            <a:r>
              <a:t>• STPD dikenakan bunga 1%/bulan (maks. 24 bulan)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VIII</a:t>
            </a:r>
            <a:br/>
            <a:r>
              <a:t>PEMBETULAN, KEBERATAN &amp; BANDING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Hak WP: Koreksi, Keberatan, Banding — Dengan Batas Waktu Jelas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15–20, 29–33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Pembetulan: Koreksi Kesalahan Tulis, Hitung, dan Penerapan Aturan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15–20 • Pembetulan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PEMBETULAN (Pasal 15–20)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tulis: nama, alamat, NPWPD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hitung: jumlah, tarif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Kekeliruan penerapan aturan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1 permohonan = 1 ketetapan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6 bulan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&gt; 6 bulan tanpa putusan → dikabulkan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1752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dilakukan berulang (Ps 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3697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Jenis keputusan: kabul / batal / tolak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JANGKA WAKTU &amp; PROSEDUR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Permohonan diajukan ke Bapenda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kabul (tambah/kurang/hapus)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batal | tolak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19: pembetulan jabatan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5887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20: berulang jika masih salah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Keberatan &amp; Banding: Upaya Hukum WP dalam Sengketa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29–33 • Keberatan &amp; Banding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KEBERATAN (Pasal 29–31)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SKPD, SKPDKB, SKPDKBT, dll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Diajukan maks. 3 bulan sejak SKPD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Sudah bayar min. yang disetujui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maks. 12 bulan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BANDING (Pasal 32–33)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Surat Keputusan Keberatan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 badan peradilan pajak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Maks. 3 bulan sejak keputusan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Menangguhkan kewajiban bayar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60%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IX</a:t>
            </a:r>
            <a:br/>
            <a:r>
              <a:t>PEMERIKSAAN, PENAGIHAN &amp; PENGHAPUSAN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Bapenda Berwenang Periksa — Piutang Dihapus Lewat 4 Tahapan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22–26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Pemeriksaan &amp; Penagihan: 3 Pilar Penegakan Kepatuhan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22–25 • Pemeriksaan &amp; Penagihan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Pemeriksaan (Ps 22–23)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Kepala Bapenda berwenang periksa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Menguji kepatuhan WP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WP wajib: buka buku/dokumen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54096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Beri akses tempat &amp; keterangan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92424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Jika tidak → pajak ditetapkan jabatan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5378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5378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Penagihan (Ps 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039112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Dasar: SKPD, SKPDKB, SKPDKBT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5378" y="2377440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STPD, SK Pembetulan/Keberatan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5378" y="2715768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Putusan Banding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64956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4956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Kedaluwarsa (Ps 25)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039112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5 tahun sejak pajak terutang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4956" y="2377440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Tertangguh jika ada: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4956" y="2715768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Surat Teguran / Paksa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4956" y="3054096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Pengakuan utang dari 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Penghapusan Piutang Pajak: 4 Langkah dari Penelitian hingga 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26 • Penghapusan Piutang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253357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86826" y="1325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86826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Penelitian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Dilakukan Bapenda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2213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2253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2253" y="1188720"/>
            <a:ext cx="253357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40440" y="13258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0440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693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Penetapan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693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Keputusan Wali Kota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5827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5867" y="1188720"/>
            <a:ext cx="253357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94054" y="1325880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4054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7307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Koordinasi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Dengan Inspektorat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9441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9481" y="1188720"/>
            <a:ext cx="253357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09481" y="1188720"/>
            <a:ext cx="2533573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47668" y="1325880"/>
            <a:ext cx="457200" cy="4572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7668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00921" y="1874520"/>
            <a:ext cx="235069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SK Penghapusan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0921" y="2194560"/>
            <a:ext cx="235069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38328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52044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Syarat penghapusan piutang pajak:</a:t>
            </a:r>
            <a:br/>
            <a:r>
              <a:t>• Piutang tidak mungkin ditagih lagi karena kedaluwarsa</a:t>
            </a:r>
            <a:br/>
            <a:r>
              <a:t>• Ada koordinasi dengan Inspektorat Daerah</a:t>
            </a:r>
            <a:br/>
            <a:r>
              <a:t>• Dibuktikan dengan dokumen pelaksanaan penagihan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</a:t>
            </a:r>
            <a:br/>
            <a:r>
              <a:t>KERINGANAN, KEMUDAHAN &amp; PENGHARGAAN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3 Fasilitas WP: Keringanan, Kemudahan Angsuran, dan Penghargaan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27–28, 34–35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3 Fasilitas untuk WP: Keringanan, Kemudahan Angsuran, Penghargaan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27–28, 34–35 • Keringanan, Kemudahan &amp; Penghargaan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Keringanan (Ps 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Keringanan / Pengurangan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Pembebasan / Penundaan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Atas pokok &amp; sanksi pajak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54096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WP dengan likuiditas rendah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92424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Objek terdampak bencana/kebakaran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5378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5378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Kemudahan (Ps 28)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039112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Perpanjangan waktu bayar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5378" y="2377440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Angsuran maks. 24 bulan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5378" y="2715768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Bunga 0,6%/bulan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5378" y="3054096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Keadaan kahar: bencana, wabah, kerusuhan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64956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4956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Penghargaan (Ps 34–35)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4956" y="2039112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WP Taat Pajak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4956" y="2377440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Bayar tepat waktu ≥ 1 tahun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4956" y="2715768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Tanpa tunggakan 3 tahun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4956" y="3054096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Kontribusi signifikan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4956" y="3392424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Piagam / Hadiah (APBD)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XI</a:t>
            </a:r>
            <a:br/>
            <a:r>
              <a:t>KETENTUAN PENUTUP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Perwal No 48/2012 Dicabut — Berlaku Sejak 20 Desember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36–37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Perwal Lama Dicabut, Peraturan Baru Berlaku Mulai Diundangkan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36–37 • Penutup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PERATURAN YANG DICABUT (Pasal 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48 Tahun 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Petunjuk Pelaksanaan Perda 14/2012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52 Tahun 2013 (Perubahan)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MULAI BERLAKU (Pasal 37)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Sejak diundangkan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20 Desember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2359152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Pj. WALI KOTA BEKASI,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257860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ttd.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79806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R. GANI MUHAMAD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91840"/>
            <a:ext cx="32004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BERITA DAERAH KOTA BEKASI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11094415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E8EDF5"/>
                </a:solidFill>
                <a:latin typeface="Calibri"/>
              </a:defRPr>
            </a:pPr>
            <a:r>
              <a:t>Peraturan Wali Kota Bekasi Nomor 51 Tahun 2024</a:t>
            </a:r>
            <a:br/>
            <a:r>
              <a:t>Tentang Pengelolaan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0944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Sumber: https://jdih.bekasikota.go.id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