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914400" y="-1371600"/>
            <a:ext cx="4114800" cy="4114800"/>
          </a:xfrm>
          <a:prstGeom prst="ellipse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772400" y="-1828800"/>
            <a:ext cx="6400800" cy="6400800"/>
          </a:xfrm>
          <a:prstGeom prst="ellipse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144000" y="4114800"/>
            <a:ext cx="4572000" cy="4572000"/>
          </a:xfrm>
          <a:prstGeom prst="ellipse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57200" y="5029200"/>
            <a:ext cx="2286000" cy="2286000"/>
          </a:xfrm>
          <a:prstGeom prst="ellipse">
            <a:avLst/>
          </a:prstGeom>
          <a:solidFill>
            <a:srgbClr val="12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2377440"/>
            <a:ext cx="3657600" cy="36576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457200"/>
            <a:ext cx="45720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C8962E"/>
                </a:solidFill>
                <a:latin typeface="Calibri"/>
              </a:defRPr>
            </a:pPr>
            <a:r>
              <a:t>BERITA DAERAH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777240"/>
            <a:ext cx="45720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Calibri"/>
              </a:defRPr>
            </a:pPr>
            <a:r>
              <a:t>KOTA BEKASI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645920"/>
            <a:ext cx="11094415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Calibri"/>
              </a:defRPr>
            </a:pPr>
            <a:r>
              <a:t>PERATURAN WALI KOTA BEKASI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965960"/>
            <a:ext cx="11094415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C8962E"/>
                </a:solidFill>
                <a:latin typeface="Calibri"/>
              </a:defRPr>
            </a:pPr>
            <a:r>
              <a:t>NOMOR 51 TAHUN 2024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834640"/>
            <a:ext cx="11094415" cy="1828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4000" b="1">
                <a:solidFill>
                  <a:srgbClr val="FFFFFF"/>
                </a:solidFill>
                <a:latin typeface="Calibri"/>
              </a:defRPr>
            </a:pPr>
            <a:r>
              <a:t>TENTANG</a:t>
            </a:r>
            <a:br/>
            <a:r>
              <a:t>PENGELOLAAN PAJAK REKLAME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937760"/>
            <a:ext cx="6858000" cy="822960"/>
          </a:xfrm>
          <a:prstGeom prst="roundRect">
            <a:avLst>
              <a:gd name="adj" fmla="val 4000"/>
            </a:avLst>
          </a:prstGeom>
          <a:solidFill>
            <a:srgbClr val="0D1F3C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4983480"/>
            <a:ext cx="64008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8EDF5"/>
                </a:solidFill>
                <a:latin typeface="Calibri"/>
              </a:defRPr>
            </a:pPr>
            <a:r>
              <a:t>Pemerintah Kota Bekasi  ·  20 Desember 2024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5257800"/>
            <a:ext cx="64008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9CA3AF"/>
                </a:solidFill>
                <a:latin typeface="Calibri"/>
              </a:defRPr>
            </a:pPr>
            <a:r>
              <a:t>Berlaku sejak diundangkan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"/>
            <a:ext cx="12191695" cy="73152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09728"/>
            <a:ext cx="64008" cy="457200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"/>
            <a:ext cx="10180015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Calibri"/>
              </a:defRPr>
            </a:pPr>
            <a:r>
              <a:t>11 Bab Kunci Mengatur Seluruh Aspek Pajak Reklame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75488"/>
            <a:ext cx="10180015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CA3AF"/>
                </a:solidFill>
                <a:latin typeface="Calibri"/>
              </a:defRPr>
            </a:pPr>
            <a:r>
              <a:t>Perwal Bekasi No 51/2024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06627" y="1005840"/>
            <a:ext cx="5029200" cy="5669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98067" y="1060704"/>
            <a:ext cx="457200" cy="45720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92427" y="1060704"/>
            <a:ext cx="42062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A1A2E"/>
                </a:solidFill>
                <a:latin typeface="Calibri"/>
              </a:defRPr>
            </a:pPr>
            <a:r>
              <a:t>Ketentuan Umum &amp; Definisi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06627" y="1755648"/>
            <a:ext cx="5029200" cy="5669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98067" y="1810512"/>
            <a:ext cx="457200" cy="457200"/>
          </a:xfrm>
          <a:prstGeom prst="round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92427" y="1810512"/>
            <a:ext cx="42062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A1A2E"/>
                </a:solidFill>
                <a:latin typeface="Calibri"/>
              </a:defRPr>
            </a:pPr>
            <a:r>
              <a:t>Objek, Subjek &amp; Wajib Pajak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6627" y="2505456"/>
            <a:ext cx="5029200" cy="5669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98067" y="2560320"/>
            <a:ext cx="457200" cy="457200"/>
          </a:xfrm>
          <a:prstGeom prst="round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92427" y="2560320"/>
            <a:ext cx="42062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A1A2E"/>
                </a:solidFill>
                <a:latin typeface="Calibri"/>
              </a:defRPr>
            </a:pPr>
            <a:r>
              <a:t>Masa Pajak &amp; Tahun Pajak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6627" y="3255264"/>
            <a:ext cx="5029200" cy="5669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98067" y="3310128"/>
            <a:ext cx="457200" cy="457200"/>
          </a:xfrm>
          <a:prstGeom prst="round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92427" y="3310128"/>
            <a:ext cx="42062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A1A2E"/>
                </a:solidFill>
                <a:latin typeface="Calibri"/>
              </a:defRPr>
            </a:pPr>
            <a:r>
              <a:t>Pendaftaran &amp; Pendataan WP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6627" y="4005072"/>
            <a:ext cx="5029200" cy="5669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98067" y="4059936"/>
            <a:ext cx="457200" cy="457200"/>
          </a:xfrm>
          <a:prstGeom prst="round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92427" y="4059936"/>
            <a:ext cx="42062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A1A2E"/>
                </a:solidFill>
                <a:latin typeface="Calibri"/>
              </a:defRPr>
            </a:pPr>
            <a:r>
              <a:t>Nilai Sewa Reklame (NSR)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6627" y="4754880"/>
            <a:ext cx="5029200" cy="5669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98067" y="4809744"/>
            <a:ext cx="457200" cy="45720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92427" y="4809744"/>
            <a:ext cx="42062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A1A2E"/>
                </a:solidFill>
                <a:latin typeface="Calibri"/>
              </a:defRPr>
            </a:pPr>
            <a:r>
              <a:t>Perhitungan &amp; Tarif Pajak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55867" y="1005840"/>
            <a:ext cx="5029200" cy="5669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347307" y="1060704"/>
            <a:ext cx="457200" cy="457200"/>
          </a:xfrm>
          <a:prstGeom prst="round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41667" y="1060704"/>
            <a:ext cx="42062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A1A2E"/>
                </a:solidFill>
                <a:latin typeface="Calibri"/>
              </a:defRPr>
            </a:pPr>
            <a:r>
              <a:t>Penetapan, Tagihan &amp; Pembayaran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55867" y="1755648"/>
            <a:ext cx="5029200" cy="5669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347307" y="1810512"/>
            <a:ext cx="457200" cy="457200"/>
          </a:xfrm>
          <a:prstGeom prst="round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41667" y="1810512"/>
            <a:ext cx="42062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A1A2E"/>
                </a:solidFill>
                <a:latin typeface="Calibri"/>
              </a:defRPr>
            </a:pPr>
            <a:r>
              <a:t>Pembetulan, Keberatan &amp; Banding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55867" y="2505456"/>
            <a:ext cx="5029200" cy="5669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347307" y="2560320"/>
            <a:ext cx="457200" cy="457200"/>
          </a:xfrm>
          <a:prstGeom prst="round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41667" y="2560320"/>
            <a:ext cx="42062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A1A2E"/>
                </a:solidFill>
                <a:latin typeface="Calibri"/>
              </a:defRPr>
            </a:pPr>
            <a:r>
              <a:t>Pemeriksaan, Penagihan &amp; Penghapusan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55867" y="3255264"/>
            <a:ext cx="5029200" cy="5669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347307" y="3310128"/>
            <a:ext cx="457200" cy="45720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10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941667" y="3310128"/>
            <a:ext cx="42062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A1A2E"/>
                </a:solidFill>
                <a:latin typeface="Calibri"/>
              </a:defRPr>
            </a:pPr>
            <a:r>
              <a:t>Keringanan, Kemudahan &amp; Penghargaan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255867" y="4005072"/>
            <a:ext cx="5029200" cy="5669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6347307" y="4059936"/>
            <a:ext cx="457200" cy="457200"/>
          </a:xfrm>
          <a:prstGeom prst="round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11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41667" y="4059936"/>
            <a:ext cx="42062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A1A2E"/>
                </a:solidFill>
                <a:latin typeface="Calibri"/>
              </a:defRPr>
            </a:pPr>
            <a:r>
              <a:t>Ketentuan Penutup</a:t>
            </a:r>
          </a:p>
        </p:txBody>
      </p:sp>
      <p:sp>
        <p:nvSpPr>
          <p:cNvPr id="40" name="Rectangle 39"/>
          <p:cNvSpPr/>
          <p:nvPr/>
        </p:nvSpPr>
        <p:spPr>
          <a:xfrm>
            <a:off x="0" y="6629400"/>
            <a:ext cx="12191695" cy="27432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8640" y="6473952"/>
            <a:ext cx="365760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9CA3AF"/>
                </a:solidFill>
                <a:latin typeface="Calibri"/>
              </a:defRPr>
            </a:pPr>
            <a:r>
              <a:t>Sumber: Perwal Bekasi No 51/2024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277295" y="6473952"/>
            <a:ext cx="7315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9CA3AF"/>
                </a:solidFill>
                <a:latin typeface="Calibri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371600" y="-1371600"/>
            <a:ext cx="4572000" cy="4572000"/>
          </a:xfrm>
          <a:prstGeom prst="ellipse">
            <a:avLst/>
          </a:prstGeom>
          <a:solidFill>
            <a:srgbClr val="12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457200" y="-457200"/>
            <a:ext cx="3200400" cy="3200400"/>
          </a:xfrm>
          <a:prstGeom prst="ellipse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686800" y="3657600"/>
            <a:ext cx="4572000" cy="4572000"/>
          </a:xfrm>
          <a:prstGeom prst="ellipse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601200" y="2743200"/>
            <a:ext cx="2743200" cy="2743200"/>
          </a:xfrm>
          <a:prstGeom prst="ellipse">
            <a:avLst/>
          </a:prstGeom>
          <a:solidFill>
            <a:srgbClr val="0E20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2103120"/>
            <a:ext cx="2286000" cy="36576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377440"/>
            <a:ext cx="11094415" cy="1463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3400" b="1">
                <a:solidFill>
                  <a:srgbClr val="FFFFFF"/>
                </a:solidFill>
                <a:latin typeface="Calibri"/>
              </a:defRPr>
            </a:pPr>
            <a:r>
              <a:t>BAB I</a:t>
            </a:r>
            <a:br/>
            <a:r>
              <a:t>KETENTUAN UMUM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840480"/>
            <a:ext cx="11094415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C8962E"/>
                </a:solidFill>
                <a:latin typeface="Calibri"/>
              </a:defRPr>
            </a:pPr>
            <a:r>
              <a:t>7 Definisi Kunci Jadi Landasan Hukum Pajak Reklame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160520"/>
            <a:ext cx="11094415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9CA3AF"/>
                </a:solidFill>
                <a:latin typeface="Calibri"/>
              </a:defRPr>
            </a:pPr>
            <a:r>
              <a:t>Pasal 1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277295" y="6473952"/>
            <a:ext cx="7315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9CA3AF"/>
                </a:solidFill>
                <a:latin typeface="Calibri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"/>
            <a:ext cx="12191695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09728"/>
            <a:ext cx="64008" cy="548640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137160"/>
            <a:ext cx="10637215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Calibri"/>
              </a:defRPr>
            </a:pPr>
            <a:r>
              <a:t>7 Definisi Kunci Menjadi Landasan Pengelolaan Pajak Reklame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576072"/>
            <a:ext cx="10637215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CA3AF"/>
                </a:solidFill>
                <a:latin typeface="Calibri"/>
              </a:defRPr>
            </a:pPr>
            <a:r>
              <a:t>Pasal 1 • 7 Definisi Kunci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051560"/>
            <a:ext cx="2567863" cy="2514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051560"/>
            <a:ext cx="45720" cy="25146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85800" y="1188720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188720"/>
            <a:ext cx="384048" cy="38404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FFFFFF"/>
                </a:solidFill>
                <a:latin typeface="Calibri"/>
              </a:defRPr>
            </a:pPr>
            <a:r>
              <a:t>🏛️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691640"/>
            <a:ext cx="2293543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2563EB"/>
                </a:solidFill>
                <a:latin typeface="Calibri"/>
              </a:defRPr>
            </a:pPr>
            <a:r>
              <a:t>Daerah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011680"/>
            <a:ext cx="2293543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Kota Bekasi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90823" y="1051560"/>
            <a:ext cx="2567863" cy="2514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90823" y="1051560"/>
            <a:ext cx="45720" cy="25146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27983" y="1188720"/>
            <a:ext cx="384048" cy="384048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27983" y="1188720"/>
            <a:ext cx="384048" cy="38404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FFFFFF"/>
                </a:solidFill>
                <a:latin typeface="Calibri"/>
              </a:defRPr>
            </a:pPr>
            <a:r>
              <a:t>📊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27983" y="1691640"/>
            <a:ext cx="2293543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0D9488"/>
                </a:solidFill>
                <a:latin typeface="Calibri"/>
              </a:defRPr>
            </a:pPr>
            <a:r>
              <a:t>Bapenda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27983" y="2011680"/>
            <a:ext cx="2293543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Badan Pendapatan Daerah Kota Bekasi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33007" y="1051560"/>
            <a:ext cx="2567863" cy="2514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33007" y="1051560"/>
            <a:ext cx="45720" cy="251460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70167" y="1188720"/>
            <a:ext cx="384048" cy="384048"/>
          </a:xfrm>
          <a:prstGeom prst="ellipse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70167" y="1188720"/>
            <a:ext cx="384048" cy="38404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FFFFFF"/>
                </a:solidFill>
                <a:latin typeface="Calibri"/>
              </a:defRPr>
            </a:pPr>
            <a:r>
              <a:t>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70167" y="1691640"/>
            <a:ext cx="2293543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B8860B"/>
                </a:solidFill>
                <a:latin typeface="Calibri"/>
              </a:defRPr>
            </a:pPr>
            <a:r>
              <a:t>Reklame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2011680"/>
            <a:ext cx="2293543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Media untuk promosi &amp; pengenalan komersial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75191" y="1051560"/>
            <a:ext cx="2567863" cy="2514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075191" y="1051560"/>
            <a:ext cx="45720" cy="25146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212351" y="1188720"/>
            <a:ext cx="384048" cy="384048"/>
          </a:xfrm>
          <a:prstGeom prst="ellipse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12351" y="1188720"/>
            <a:ext cx="384048" cy="38404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FFFFFF"/>
                </a:solidFill>
                <a:latin typeface="Calibri"/>
              </a:defRPr>
            </a:pPr>
            <a:r>
              <a:t>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12351" y="1691640"/>
            <a:ext cx="2293543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1B3A6B"/>
                </a:solidFill>
                <a:latin typeface="Calibri"/>
              </a:defRPr>
            </a:pPr>
            <a:r>
              <a:t>Pajak Reklame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12351" y="2011680"/>
            <a:ext cx="2293543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Pajak atas penyelenggaraan reklame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48640" y="3794760"/>
            <a:ext cx="2567863" cy="2514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48640" y="3794760"/>
            <a:ext cx="45720" cy="25146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85800" y="3931920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5800" y="3931920"/>
            <a:ext cx="384048" cy="38404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FFFFFF"/>
                </a:solidFill>
                <a:latin typeface="Calibri"/>
              </a:defRPr>
            </a:pPr>
            <a:r>
              <a:t>📐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" y="4434840"/>
            <a:ext cx="2293543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2563EB"/>
                </a:solidFill>
                <a:latin typeface="Calibri"/>
              </a:defRPr>
            </a:pPr>
            <a:r>
              <a:t>NSR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" y="4754880"/>
            <a:ext cx="2293543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Nilai Sewa Reklame — dasar pengenaan pajak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390823" y="3794760"/>
            <a:ext cx="2567863" cy="2514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390823" y="3794760"/>
            <a:ext cx="45720" cy="25146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3527983" y="3931920"/>
            <a:ext cx="384048" cy="384048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527983" y="3931920"/>
            <a:ext cx="384048" cy="38404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FFFFFF"/>
                </a:solidFill>
                <a:latin typeface="Calibri"/>
              </a:defRPr>
            </a:pPr>
            <a:r>
              <a:t>🆔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27983" y="4434840"/>
            <a:ext cx="2293543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0D9488"/>
                </a:solidFill>
                <a:latin typeface="Calibri"/>
              </a:defRPr>
            </a:pPr>
            <a:r>
              <a:t>NPWPD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27983" y="4754880"/>
            <a:ext cx="2293543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Nomor Pokok Wajib Pajak Daerah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233007" y="3794760"/>
            <a:ext cx="2567863" cy="2514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233007" y="3794760"/>
            <a:ext cx="45720" cy="251460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6370167" y="3931920"/>
            <a:ext cx="384048" cy="384048"/>
          </a:xfrm>
          <a:prstGeom prst="ellipse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370167" y="3931920"/>
            <a:ext cx="384048" cy="38404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FFFFFF"/>
                </a:solidFill>
                <a:latin typeface="Calibri"/>
              </a:defRPr>
            </a:pPr>
            <a:r>
              <a:t>👤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70167" y="4434840"/>
            <a:ext cx="2293543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B8860B"/>
                </a:solidFill>
                <a:latin typeface="Calibri"/>
              </a:defRPr>
            </a:pPr>
            <a:r>
              <a:t>Wajib Pajak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370167" y="4754880"/>
            <a:ext cx="2293543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Orang pribadi/badan dg hak &amp; kewajiban pajak</a:t>
            </a:r>
          </a:p>
        </p:txBody>
      </p:sp>
      <p:sp>
        <p:nvSpPr>
          <p:cNvPr id="49" name="Rectangle 48"/>
          <p:cNvSpPr/>
          <p:nvPr/>
        </p:nvSpPr>
        <p:spPr>
          <a:xfrm>
            <a:off x="0" y="6629400"/>
            <a:ext cx="12191695" cy="27432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48640" y="6473952"/>
            <a:ext cx="365760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9CA3AF"/>
                </a:solidFill>
                <a:latin typeface="Calibri"/>
              </a:defRPr>
            </a:pPr>
            <a:r>
              <a:t>Sumber: Perwal Bekasi No 51/2024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277295" y="6473952"/>
            <a:ext cx="7315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9CA3AF"/>
                </a:solidFill>
                <a:latin typeface="Calibri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371600" y="-1371600"/>
            <a:ext cx="4572000" cy="4572000"/>
          </a:xfrm>
          <a:prstGeom prst="ellipse">
            <a:avLst/>
          </a:prstGeom>
          <a:solidFill>
            <a:srgbClr val="12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457200" y="-457200"/>
            <a:ext cx="3200400" cy="3200400"/>
          </a:xfrm>
          <a:prstGeom prst="ellipse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686800" y="3657600"/>
            <a:ext cx="4572000" cy="4572000"/>
          </a:xfrm>
          <a:prstGeom prst="ellipse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601200" y="2743200"/>
            <a:ext cx="2743200" cy="2743200"/>
          </a:xfrm>
          <a:prstGeom prst="ellipse">
            <a:avLst/>
          </a:prstGeom>
          <a:solidFill>
            <a:srgbClr val="0E20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2103120"/>
            <a:ext cx="2286000" cy="36576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377440"/>
            <a:ext cx="11094415" cy="1463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3400" b="1">
                <a:solidFill>
                  <a:srgbClr val="FFFFFF"/>
                </a:solidFill>
                <a:latin typeface="Calibri"/>
              </a:defRPr>
            </a:pPr>
            <a:r>
              <a:t>BAB II</a:t>
            </a:r>
            <a:br/>
            <a:r>
              <a:t>OBJEK, SUBJEK &amp; WAJIB PAJAK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840480"/>
            <a:ext cx="11094415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C8962E"/>
                </a:solidFill>
                <a:latin typeface="Calibri"/>
              </a:defRPr>
            </a:pPr>
            <a:r>
              <a:t>10 Jenis Reklame + 8 Pengecualian + 2 Subjek Pajak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160520"/>
            <a:ext cx="11094415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9CA3AF"/>
                </a:solidFill>
                <a:latin typeface="Calibri"/>
              </a:defRPr>
            </a:pPr>
            <a:r>
              <a:t>Pasal 2–4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277295" y="6473952"/>
            <a:ext cx="7315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9CA3AF"/>
                </a:solidFill>
                <a:latin typeface="Calibri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"/>
            <a:ext cx="12191695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09728"/>
            <a:ext cx="64008" cy="548640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137160"/>
            <a:ext cx="10637215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Calibri"/>
              </a:defRPr>
            </a:pPr>
            <a:r>
              <a:t>10 Jenis Reklame Wajib Pajak + 8 Jenis Dikecualikan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576072"/>
            <a:ext cx="10637215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CA3AF"/>
                </a:solidFill>
                <a:latin typeface="Calibri"/>
              </a:defRPr>
            </a:pPr>
            <a:r>
              <a:t>Pasal 2–4 • 10 Jenis + 8 Pengecualian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051560"/>
            <a:ext cx="5410047" cy="5257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051560"/>
            <a:ext cx="45720" cy="52578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85800" y="1188720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188720"/>
            <a:ext cx="384048" cy="38404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FFFFFF"/>
                </a:solidFill>
                <a:latin typeface="Calibri"/>
              </a:defRPr>
            </a:pPr>
            <a:r>
              <a:t>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691640"/>
            <a:ext cx="5135727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2563EB"/>
                </a:solidFill>
                <a:latin typeface="Calibri"/>
              </a:defRPr>
            </a:pPr>
            <a:r>
              <a:t>10 Jenis Reklame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011680"/>
            <a:ext cx="5135727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Papan / Billboard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212848"/>
            <a:ext cx="5135727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Videotron / Megatron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414016"/>
            <a:ext cx="5135727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Kain (Spanduk, Umbul, Baliho)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2615184"/>
            <a:ext cx="5135727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Melekat / Stiker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2816352"/>
            <a:ext cx="5135727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Selebaran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017520"/>
            <a:ext cx="5135727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Berjalan (Kendaraan)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3218688"/>
            <a:ext cx="5135727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Udara (Balon Gas)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3419856"/>
            <a:ext cx="5135727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Apung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3621024"/>
            <a:ext cx="5135727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Film / Slide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3822192"/>
            <a:ext cx="5135727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Peragaan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33007" y="1051560"/>
            <a:ext cx="5410047" cy="5257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3007" y="1051560"/>
            <a:ext cx="45720" cy="52578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370167" y="1188720"/>
            <a:ext cx="384048" cy="384048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70167" y="1188720"/>
            <a:ext cx="384048" cy="38404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FFFFFF"/>
                </a:solidFill>
                <a:latin typeface="Calibri"/>
              </a:defRPr>
            </a:pPr>
            <a:r>
              <a:t>🚫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0167" y="1691640"/>
            <a:ext cx="5135727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0D9488"/>
                </a:solidFill>
                <a:latin typeface="Calibri"/>
              </a:defRPr>
            </a:pPr>
            <a:r>
              <a:t>Dikecualikan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70167" y="2011680"/>
            <a:ext cx="5135727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Internet, TV, radio, media cetak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0167" y="2212848"/>
            <a:ext cx="5135727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Label / merek produk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70167" y="2414016"/>
            <a:ext cx="5135727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Nama usaha ≤ 1 m² di tempat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70167" y="2615184"/>
            <a:ext cx="5135727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Reklame Pemerintah/Pemda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70167" y="2816352"/>
            <a:ext cx="5135727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Tempat ibadah &amp; panti asuhan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70167" y="3017520"/>
            <a:ext cx="5135727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Sosial &amp; keagamaan ≤ 30 hari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70167" y="3218688"/>
            <a:ext cx="5135727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Kegiatan politik (masa kampanye)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70167" y="3419856"/>
            <a:ext cx="5135727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Olahraga KONI ≤ 30 hari</a:t>
            </a:r>
          </a:p>
        </p:txBody>
      </p:sp>
      <p:sp>
        <p:nvSpPr>
          <p:cNvPr id="35" name="Rectangle 34"/>
          <p:cNvSpPr/>
          <p:nvPr/>
        </p:nvSpPr>
        <p:spPr>
          <a:xfrm>
            <a:off x="0" y="6629400"/>
            <a:ext cx="12191695" cy="27432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6473952"/>
            <a:ext cx="365760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9CA3AF"/>
                </a:solidFill>
                <a:latin typeface="Calibri"/>
              </a:defRPr>
            </a:pPr>
            <a:r>
              <a:t>Sumber: Perwal Bekasi No 51/2024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277295" y="6473952"/>
            <a:ext cx="7315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9CA3AF"/>
                </a:solidFill>
                <a:latin typeface="Calibri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"/>
            <a:ext cx="12191695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09728"/>
            <a:ext cx="64008" cy="548640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137160"/>
            <a:ext cx="10637215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Calibri"/>
              </a:defRPr>
            </a:pPr>
            <a:r>
              <a:t>Subjek &amp; Wajib Pajak: Siapa yang Terkena Kewajiban Pajak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576072"/>
            <a:ext cx="10637215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CA3AF"/>
                </a:solidFill>
                <a:latin typeface="Calibri"/>
              </a:defRPr>
            </a:pPr>
            <a:r>
              <a:t>Pasal 3–4 • Subjek &amp; Wajib Pajak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051560"/>
            <a:ext cx="5410047" cy="5257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051560"/>
            <a:ext cx="45720" cy="52578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85800" y="1188720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188720"/>
            <a:ext cx="384048" cy="38404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FFFFFF"/>
                </a:solidFill>
                <a:latin typeface="Calibri"/>
              </a:defRPr>
            </a:pPr>
            <a:r>
              <a:t>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691640"/>
            <a:ext cx="5135727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2563EB"/>
                </a:solidFill>
                <a:latin typeface="Calibri"/>
              </a:defRPr>
            </a:pPr>
            <a:r>
              <a:t>Subjek Pajak (Pasal 3)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011680"/>
            <a:ext cx="5135727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Orang pribadi atau Badan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212848"/>
            <a:ext cx="5135727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yang menggunakan Reklame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3007" y="1051560"/>
            <a:ext cx="5410047" cy="5257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33007" y="1051560"/>
            <a:ext cx="45720" cy="52578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370167" y="1188720"/>
            <a:ext cx="384048" cy="384048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70167" y="1188720"/>
            <a:ext cx="384048" cy="38404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FFFFFF"/>
                </a:solidFill>
                <a:latin typeface="Calibri"/>
              </a:defRPr>
            </a:pPr>
            <a:r>
              <a:t>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70167" y="1691640"/>
            <a:ext cx="5135727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0D9488"/>
                </a:solidFill>
                <a:latin typeface="Calibri"/>
              </a:defRPr>
            </a:pPr>
            <a:r>
              <a:t>Wajib Pajak (Pasal 4)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70167" y="2011680"/>
            <a:ext cx="5135727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Orang pribadi atau Badan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0167" y="2212848"/>
            <a:ext cx="5135727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yang menyelenggarakan Reklame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70167" y="2414016"/>
            <a:ext cx="5135727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Jika pihak ketiga → menjadi WP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70167" y="2615184"/>
            <a:ext cx="5135727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Mendaftarkan diri &amp; objek pajak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629400"/>
            <a:ext cx="12191695" cy="27432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6473952"/>
            <a:ext cx="365760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9CA3AF"/>
                </a:solidFill>
                <a:latin typeface="Calibri"/>
              </a:defRPr>
            </a:pPr>
            <a:r>
              <a:t>Sumber: Perwal Bekasi No 51/2024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277295" y="6473952"/>
            <a:ext cx="7315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9CA3AF"/>
                </a:solidFill>
                <a:latin typeface="Calibri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371600" y="-1371600"/>
            <a:ext cx="4572000" cy="4572000"/>
          </a:xfrm>
          <a:prstGeom prst="ellipse">
            <a:avLst/>
          </a:prstGeom>
          <a:solidFill>
            <a:srgbClr val="12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457200" y="-457200"/>
            <a:ext cx="3200400" cy="3200400"/>
          </a:xfrm>
          <a:prstGeom prst="ellipse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686800" y="3657600"/>
            <a:ext cx="4572000" cy="4572000"/>
          </a:xfrm>
          <a:prstGeom prst="ellipse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601200" y="2743200"/>
            <a:ext cx="2743200" cy="2743200"/>
          </a:xfrm>
          <a:prstGeom prst="ellipse">
            <a:avLst/>
          </a:prstGeom>
          <a:solidFill>
            <a:srgbClr val="0E20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2103120"/>
            <a:ext cx="2286000" cy="36576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377440"/>
            <a:ext cx="11094415" cy="1463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3400" b="1">
                <a:solidFill>
                  <a:srgbClr val="FFFFFF"/>
                </a:solidFill>
                <a:latin typeface="Calibri"/>
              </a:defRPr>
            </a:pPr>
            <a:r>
              <a:t>BAB III</a:t>
            </a:r>
            <a:br/>
            <a:r>
              <a:t>MASA PAJAK &amp; TAHUN PAJAK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840480"/>
            <a:ext cx="11094415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C8962E"/>
                </a:solidFill>
                <a:latin typeface="Calibri"/>
              </a:defRPr>
            </a:pPr>
            <a:r>
              <a:t>12 Bulan atau 30 Hari — Tergantung Jenis Reklame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160520"/>
            <a:ext cx="11094415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9CA3AF"/>
                </a:solidFill>
                <a:latin typeface="Calibri"/>
              </a:defRPr>
            </a:pPr>
            <a:r>
              <a:t>Pasal 5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277295" y="6473952"/>
            <a:ext cx="7315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9CA3AF"/>
                </a:solidFill>
                <a:latin typeface="Calibri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"/>
            <a:ext cx="12191695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09728"/>
            <a:ext cx="64008" cy="548640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137160"/>
            <a:ext cx="10637215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Calibri"/>
              </a:defRPr>
            </a:pPr>
            <a:r>
              <a:t>Masa Pajak: 12 Bulan Permanen, 30 Hari Insidentil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576072"/>
            <a:ext cx="10637215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CA3AF"/>
                </a:solidFill>
                <a:latin typeface="Calibri"/>
              </a:defRPr>
            </a:pPr>
            <a:r>
              <a:t>Pasal 5 • Masa &amp; Tahun Pajak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051560"/>
            <a:ext cx="2567863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051560"/>
            <a:ext cx="2567863" cy="45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280160"/>
            <a:ext cx="2567863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2563EB"/>
                </a:solidFill>
                <a:latin typeface="Calibri"/>
              </a:defRPr>
            </a:pPr>
            <a:r>
              <a:t>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965960"/>
            <a:ext cx="2384983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B7288"/>
                </a:solidFill>
                <a:latin typeface="Calibri"/>
              </a:defRPr>
            </a:pPr>
            <a:r>
              <a:t>Bulan</a:t>
            </a:r>
            <a:br/>
            <a:r>
              <a:t>(Permanen)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90823" y="1051560"/>
            <a:ext cx="2567863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90823" y="1051560"/>
            <a:ext cx="2567863" cy="457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90823" y="1280160"/>
            <a:ext cx="2567863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0D9488"/>
                </a:solidFill>
                <a:latin typeface="Calibri"/>
              </a:defRPr>
            </a:pPr>
            <a:r>
              <a:t>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82263" y="1965960"/>
            <a:ext cx="2384983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B7288"/>
                </a:solidFill>
                <a:latin typeface="Calibri"/>
              </a:defRPr>
            </a:pPr>
            <a:r>
              <a:t>Hari</a:t>
            </a:r>
            <a:br/>
            <a:r>
              <a:t>(Insidentil)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3007" y="1051560"/>
            <a:ext cx="2567863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33007" y="1051560"/>
            <a:ext cx="2567863" cy="4572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33007" y="1280160"/>
            <a:ext cx="2567863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B8860B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24447" y="1965960"/>
            <a:ext cx="2384983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B7288"/>
                </a:solidFill>
                <a:latin typeface="Calibri"/>
              </a:defRPr>
            </a:pPr>
            <a:r>
              <a:t>Tahun Pajak</a:t>
            </a:r>
            <a:br/>
            <a:r>
              <a:t>(Kalender)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75191" y="1051560"/>
            <a:ext cx="2567863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075191" y="1051560"/>
            <a:ext cx="2567863" cy="4572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75191" y="1280160"/>
            <a:ext cx="2567863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1B3A6B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66631" y="1965960"/>
            <a:ext cx="2384983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B7288"/>
                </a:solidFill>
                <a:latin typeface="Calibri"/>
              </a:defRPr>
            </a:pPr>
            <a:r>
              <a:t>Bulan</a:t>
            </a:r>
            <a:br/>
            <a:r>
              <a:t>(Bagian Tahun)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3337560"/>
            <a:ext cx="11094415" cy="2743200"/>
          </a:xfrm>
          <a:prstGeom prst="roundRect">
            <a:avLst>
              <a:gd name="adj" fmla="val 4000"/>
            </a:avLst>
          </a:prstGeom>
          <a:solidFill>
            <a:srgbClr val="E8EDF5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3474720"/>
            <a:ext cx="10637215" cy="23774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Masa Pajak Permanen: 12 bulan atau sesuai jangka waktu penayangan reklame</a:t>
            </a:r>
            <a:br/>
            <a:r>
              <a:t>• Masa Pajak Insidentil: dihitung per hari, maksimal 30 hari</a:t>
            </a:r>
            <a:br/>
            <a:r>
              <a:t>• Tahun Pajak: 1 tahun kalender atau sesuai tahun buku wajib pajak</a:t>
            </a:r>
            <a:br/>
            <a:r>
              <a:t>• Bagian Tahun Pajak: 1 bulan penuh (jika tidak mencakup satu tahun penuh)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629400"/>
            <a:ext cx="12191695" cy="27432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6473952"/>
            <a:ext cx="365760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9CA3AF"/>
                </a:solidFill>
                <a:latin typeface="Calibri"/>
              </a:defRPr>
            </a:pPr>
            <a:r>
              <a:t>Sumber: Perwal Bekasi No 51/2024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77295" y="6473952"/>
            <a:ext cx="7315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9CA3AF"/>
                </a:solidFill>
                <a:latin typeface="Calibri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371600" y="-1371600"/>
            <a:ext cx="4572000" cy="4572000"/>
          </a:xfrm>
          <a:prstGeom prst="ellipse">
            <a:avLst/>
          </a:prstGeom>
          <a:solidFill>
            <a:srgbClr val="12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457200" y="-457200"/>
            <a:ext cx="3200400" cy="3200400"/>
          </a:xfrm>
          <a:prstGeom prst="ellipse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686800" y="3657600"/>
            <a:ext cx="4572000" cy="4572000"/>
          </a:xfrm>
          <a:prstGeom prst="ellipse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601200" y="2743200"/>
            <a:ext cx="2743200" cy="2743200"/>
          </a:xfrm>
          <a:prstGeom prst="ellipse">
            <a:avLst/>
          </a:prstGeom>
          <a:solidFill>
            <a:srgbClr val="0E20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2103120"/>
            <a:ext cx="2286000" cy="36576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377440"/>
            <a:ext cx="11094415" cy="1463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3400" b="1">
                <a:solidFill>
                  <a:srgbClr val="FFFFFF"/>
                </a:solidFill>
                <a:latin typeface="Calibri"/>
              </a:defRPr>
            </a:pPr>
            <a:r>
              <a:t>BAB IV</a:t>
            </a:r>
            <a:br/>
            <a:r>
              <a:t>PENDAFTARAN &amp; PENDATAAN WP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840480"/>
            <a:ext cx="11094415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C8962E"/>
                </a:solidFill>
                <a:latin typeface="Calibri"/>
              </a:defRPr>
            </a:pPr>
            <a:r>
              <a:t>Wajib Daftar atau NPWPD Jabatan — Bapenda Berwenang Mendata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160520"/>
            <a:ext cx="11094415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9CA3AF"/>
                </a:solidFill>
                <a:latin typeface="Calibri"/>
              </a:defRPr>
            </a:pPr>
            <a:r>
              <a:t>Pasal 6–8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277295" y="6473952"/>
            <a:ext cx="7315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9CA3AF"/>
                </a:solidFill>
                <a:latin typeface="Calibri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"/>
            <a:ext cx="12191695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09728"/>
            <a:ext cx="64008" cy="548640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137160"/>
            <a:ext cx="10637215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Calibri"/>
              </a:defRPr>
            </a:pPr>
            <a:r>
              <a:t>Pendaftaran Wajib, Pendataan Bapenda, dan Penonaktifan WP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576072"/>
            <a:ext cx="10637215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CA3AF"/>
                </a:solidFill>
                <a:latin typeface="Calibri"/>
              </a:defRPr>
            </a:pPr>
            <a:r>
              <a:t>Pasal 6–8 • Pendaftaran &amp; Pendataan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051560"/>
            <a:ext cx="5410047" cy="5166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051560"/>
            <a:ext cx="45720" cy="51663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188720"/>
            <a:ext cx="5090007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2563EB"/>
                </a:solidFill>
                <a:latin typeface="Calibri"/>
              </a:defRPr>
            </a:pPr>
            <a:r>
              <a:t>PENDAFTARAN (Pasal 6)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481328"/>
            <a:ext cx="5090007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700784"/>
            <a:ext cx="5090007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WP wajib mendaftarkan diri &amp; objek pajak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1920240"/>
            <a:ext cx="5090007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Formulir: ambil/online/dikirim petugas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139696"/>
            <a:ext cx="5090007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Lampirkan: KTP, NPWP, Akta, NIB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359152"/>
            <a:ext cx="5090007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Bapenda terbitkan NPWPD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2578608"/>
            <a:ext cx="5090007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Jika tidak mendaftar → NPWPD jabatan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2798064"/>
            <a:ext cx="5090007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Juga: NOPD &amp; nomor registrasi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33007" y="1051560"/>
            <a:ext cx="5410047" cy="5166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33007" y="1051560"/>
            <a:ext cx="45720" cy="516636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15887" y="1188720"/>
            <a:ext cx="5090007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0D9488"/>
                </a:solidFill>
                <a:latin typeface="Calibri"/>
              </a:defRPr>
            </a:pPr>
            <a:r>
              <a:t>PENDATAAN &amp; NONAKTIF (Pasal 7–8)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15887" y="1481328"/>
            <a:ext cx="5090007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15887" y="1700784"/>
            <a:ext cx="5090007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Bapenda mendata WP &amp; objek pajak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15887" y="1920240"/>
            <a:ext cx="5090007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Termasuk data geografis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5887" y="2139696"/>
            <a:ext cx="5090007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Dapat kerjasama dengan instansi lain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15887" y="2359152"/>
            <a:ext cx="5090007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Penonaktifan: WP tak penuhi syarat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5887" y="2578608"/>
            <a:ext cx="5090007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Keputusan maksimal 3 bulan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15887" y="2798064"/>
            <a:ext cx="5090007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Syarat: tanpa tunggakan &amp; keberatan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629400"/>
            <a:ext cx="12191695" cy="27432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" y="6473952"/>
            <a:ext cx="365760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9CA3AF"/>
                </a:solidFill>
                <a:latin typeface="Calibri"/>
              </a:defRPr>
            </a:pPr>
            <a:r>
              <a:t>Sumber: Perwal Bekasi No 51/2024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77295" y="6473952"/>
            <a:ext cx="7315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9CA3AF"/>
                </a:solidFill>
                <a:latin typeface="Calibri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371600" y="-1371600"/>
            <a:ext cx="4572000" cy="4572000"/>
          </a:xfrm>
          <a:prstGeom prst="ellipse">
            <a:avLst/>
          </a:prstGeom>
          <a:solidFill>
            <a:srgbClr val="12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457200" y="-457200"/>
            <a:ext cx="3200400" cy="3200400"/>
          </a:xfrm>
          <a:prstGeom prst="ellipse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686800" y="3657600"/>
            <a:ext cx="4572000" cy="4572000"/>
          </a:xfrm>
          <a:prstGeom prst="ellipse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601200" y="2743200"/>
            <a:ext cx="2743200" cy="2743200"/>
          </a:xfrm>
          <a:prstGeom prst="ellipse">
            <a:avLst/>
          </a:prstGeom>
          <a:solidFill>
            <a:srgbClr val="0E20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2103120"/>
            <a:ext cx="2286000" cy="36576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377440"/>
            <a:ext cx="11094415" cy="1463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3400" b="1">
                <a:solidFill>
                  <a:srgbClr val="FFFFFF"/>
                </a:solidFill>
                <a:latin typeface="Calibri"/>
              </a:defRPr>
            </a:pPr>
            <a:r>
              <a:t>BAB V</a:t>
            </a:r>
            <a:br/>
            <a:r>
              <a:t>NILAI SEWA REKLAME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840480"/>
            <a:ext cx="11094415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C8962E"/>
                </a:solidFill>
                <a:latin typeface="Calibri"/>
              </a:defRPr>
            </a:pPr>
            <a:r>
              <a:t>7 Faktor Penentu NSR — Jenis, Bahan, Lokasi, Waktu, dll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160520"/>
            <a:ext cx="11094415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9CA3AF"/>
                </a:solidFill>
                <a:latin typeface="Calibri"/>
              </a:defRPr>
            </a:pPr>
            <a:r>
              <a:t>Pasal 9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277295" y="6473952"/>
            <a:ext cx="7315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9CA3AF"/>
                </a:solidFill>
                <a:latin typeface="Calibri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"/>
            <a:ext cx="12191695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09728"/>
            <a:ext cx="64008" cy="548640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137160"/>
            <a:ext cx="10637215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Calibri"/>
              </a:defRPr>
            </a:pPr>
            <a:r>
              <a:t>7 Faktor Penentu Nilai Sewa Reklame (NSR)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530352"/>
            <a:ext cx="10637215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CA3AF"/>
                </a:solidFill>
                <a:latin typeface="Calibri"/>
              </a:defRPr>
            </a:pPr>
            <a:r>
              <a:t>Pasal 9 • 7 Faktor Penentu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3727" y="1051560"/>
            <a:ext cx="2560320" cy="1188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00887" y="1280160"/>
            <a:ext cx="502920" cy="50292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887" y="1280160"/>
            <a:ext cx="502920" cy="5029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95247" y="1234440"/>
            <a:ext cx="1645920" cy="8229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A1A2E"/>
                </a:solidFill>
                <a:latin typeface="Calibri"/>
              </a:defRPr>
            </a:pPr>
            <a:r>
              <a:t>Jenis Reklame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98367" y="1051560"/>
            <a:ext cx="2560320" cy="1188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535527" y="1280160"/>
            <a:ext cx="502920" cy="50292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35527" y="1280160"/>
            <a:ext cx="502920" cy="5029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29887" y="1234440"/>
            <a:ext cx="1645920" cy="8229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A1A2E"/>
                </a:solidFill>
                <a:latin typeface="Calibri"/>
              </a:defRPr>
            </a:pPr>
            <a:r>
              <a:t>Bahan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3007" y="1051560"/>
            <a:ext cx="2560320" cy="1188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370167" y="1280160"/>
            <a:ext cx="502920" cy="502920"/>
          </a:xfrm>
          <a:prstGeom prst="ellipse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70167" y="1280160"/>
            <a:ext cx="502920" cy="5029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64527" y="1234440"/>
            <a:ext cx="1645920" cy="8229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A1A2E"/>
                </a:solidFill>
                <a:latin typeface="Calibri"/>
              </a:defRPr>
            </a:pPr>
            <a:r>
              <a:t>Lokasi (Kelas Jalan)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67647" y="1051560"/>
            <a:ext cx="2560320" cy="1188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204807" y="1280160"/>
            <a:ext cx="502920" cy="502920"/>
          </a:xfrm>
          <a:prstGeom prst="ellipse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04807" y="1280160"/>
            <a:ext cx="502920" cy="5029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99167" y="1234440"/>
            <a:ext cx="1645920" cy="8229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A1A2E"/>
                </a:solidFill>
                <a:latin typeface="Calibri"/>
              </a:defRPr>
            </a:pPr>
            <a:r>
              <a:t>Waktu Tayang</a:t>
            </a:r>
            <a:br/>
            <a:r>
              <a:t>(detik)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3727" y="2514600"/>
            <a:ext cx="2560320" cy="1188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00887" y="2743200"/>
            <a:ext cx="502920" cy="50292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0887" y="2743200"/>
            <a:ext cx="502920" cy="5029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FFFFFF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95247" y="2697480"/>
            <a:ext cx="1645920" cy="8229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A1A2E"/>
                </a:solidFill>
                <a:latin typeface="Calibri"/>
              </a:defRPr>
            </a:pPr>
            <a:r>
              <a:t>Jangka Waktu</a:t>
            </a:r>
            <a:br/>
            <a:r>
              <a:t>(hari)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398367" y="2514600"/>
            <a:ext cx="2560320" cy="1188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535527" y="2743200"/>
            <a:ext cx="502920" cy="50292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535527" y="2743200"/>
            <a:ext cx="502920" cy="5029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FFFFFF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29887" y="2697480"/>
            <a:ext cx="1645920" cy="8229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A1A2E"/>
                </a:solidFill>
                <a:latin typeface="Calibri"/>
              </a:defRPr>
            </a:pPr>
            <a:r>
              <a:t>Jumlah Media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33007" y="2514600"/>
            <a:ext cx="2560320" cy="1188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70167" y="2743200"/>
            <a:ext cx="502920" cy="502920"/>
          </a:xfrm>
          <a:prstGeom prst="ellipse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70167" y="2743200"/>
            <a:ext cx="502920" cy="5029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FFFFFF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64527" y="2697480"/>
            <a:ext cx="1645920" cy="8229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A1A2E"/>
                </a:solidFill>
                <a:latin typeface="Calibri"/>
              </a:defRPr>
            </a:pPr>
            <a:r>
              <a:t>Ukuran (m²)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48640" y="4114800"/>
            <a:ext cx="11094415" cy="1554480"/>
          </a:xfrm>
          <a:prstGeom prst="roundRect">
            <a:avLst>
              <a:gd name="adj" fmla="val 4000"/>
            </a:avLst>
          </a:prstGeom>
          <a:solidFill>
            <a:srgbClr val="E8EDF5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1520" y="4160520"/>
            <a:ext cx="45720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0A1628"/>
                </a:solidFill>
                <a:latin typeface="Calibri"/>
              </a:defRPr>
            </a:pPr>
            <a:r>
              <a:t>KLASIFIKASI KELAS JALAN MENENTUKAN NILAI NSR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520" y="4480560"/>
            <a:ext cx="10728655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1A1A2E"/>
                </a:solidFill>
                <a:latin typeface="Calibri"/>
              </a:defRPr>
            </a:pPr>
            <a:r>
              <a:t>🏛️  Kelas Jalan Khusus — Tol | Premium 1 | Premium 2</a:t>
            </a:r>
            <a:br/>
            <a:r>
              <a:t>🚗  Kelas Jalan I (Kendali Ketat) — Lebar &gt; 3 m, pusat pelayanan</a:t>
            </a:r>
            <a:br/>
            <a:r>
              <a:t>🏡  Kelas Jalan II (Kendali Sedang) — Lebar ≤ 3 m, jalan lingkungan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0" y="6629400"/>
            <a:ext cx="12191695" cy="27432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8640" y="6473952"/>
            <a:ext cx="365760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9CA3AF"/>
                </a:solidFill>
                <a:latin typeface="Calibri"/>
              </a:defRPr>
            </a:pPr>
            <a:r>
              <a:t>Sumber: Perwal Bekasi No 51/2024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277295" y="6473952"/>
            <a:ext cx="7315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9CA3AF"/>
                </a:solidFill>
                <a:latin typeface="Calibri"/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371600" y="-1371600"/>
            <a:ext cx="4572000" cy="4572000"/>
          </a:xfrm>
          <a:prstGeom prst="ellipse">
            <a:avLst/>
          </a:prstGeom>
          <a:solidFill>
            <a:srgbClr val="12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457200" y="-457200"/>
            <a:ext cx="3200400" cy="3200400"/>
          </a:xfrm>
          <a:prstGeom prst="ellipse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686800" y="3657600"/>
            <a:ext cx="4572000" cy="4572000"/>
          </a:xfrm>
          <a:prstGeom prst="ellipse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601200" y="2743200"/>
            <a:ext cx="2743200" cy="2743200"/>
          </a:xfrm>
          <a:prstGeom prst="ellipse">
            <a:avLst/>
          </a:prstGeom>
          <a:solidFill>
            <a:srgbClr val="0E20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2103120"/>
            <a:ext cx="2286000" cy="36576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377440"/>
            <a:ext cx="11094415" cy="1463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3400" b="1">
                <a:solidFill>
                  <a:srgbClr val="FFFFFF"/>
                </a:solidFill>
                <a:latin typeface="Calibri"/>
              </a:defRPr>
            </a:pPr>
            <a:r>
              <a:t>BAB VI</a:t>
            </a:r>
            <a:br/>
            <a:r>
              <a:t>PERHITUNGAN &amp; TARIF PAJAK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840480"/>
            <a:ext cx="11094415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C8962E"/>
                </a:solidFill>
                <a:latin typeface="Calibri"/>
              </a:defRPr>
            </a:pPr>
            <a:r>
              <a:t>Rumus: Pajak = Tarif × NSR — Dengan Berbagai Ketentuan Khusus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160520"/>
            <a:ext cx="11094415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9CA3AF"/>
                </a:solidFill>
                <a:latin typeface="Calibri"/>
              </a:defRPr>
            </a:pPr>
            <a:r>
              <a:t>Pasal 10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277295" y="6473952"/>
            <a:ext cx="7315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9CA3AF"/>
                </a:solidFill>
                <a:latin typeface="Calibri"/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"/>
            <a:ext cx="12191695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09728"/>
            <a:ext cx="64008" cy="548640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137160"/>
            <a:ext cx="10637215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Calibri"/>
              </a:defRPr>
            </a:pPr>
            <a:r>
              <a:t>Rumus: Pajak Reklame = Tarif (50%) × NSR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576072"/>
            <a:ext cx="10637215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CA3AF"/>
                </a:solidFill>
                <a:latin typeface="Calibri"/>
              </a:defRPr>
            </a:pPr>
            <a:r>
              <a:t>Pasal 10 • Rumus Dasar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051560"/>
            <a:ext cx="2567863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051560"/>
            <a:ext cx="2567863" cy="45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280160"/>
            <a:ext cx="2567863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2563EB"/>
                </a:solidFill>
                <a:latin typeface="Calibri"/>
              </a:defRPr>
            </a:pPr>
            <a:r>
              <a:t>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965960"/>
            <a:ext cx="2384983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B7288"/>
                </a:solidFill>
                <a:latin typeface="Calibri"/>
              </a:defRPr>
            </a:pPr>
            <a:r>
              <a:t>Pajak =</a:t>
            </a:r>
            <a:br/>
            <a:r>
              <a:t>Tarif × NSR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90823" y="1051560"/>
            <a:ext cx="2567863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90823" y="1051560"/>
            <a:ext cx="2567863" cy="457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90823" y="1280160"/>
            <a:ext cx="2567863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0D9488"/>
                </a:solidFill>
                <a:latin typeface="Calibri"/>
              </a:defRPr>
            </a:pPr>
            <a:r>
              <a:t>50%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82263" y="1965960"/>
            <a:ext cx="2384983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B7288"/>
                </a:solidFill>
                <a:latin typeface="Calibri"/>
              </a:defRPr>
            </a:pPr>
            <a:r>
              <a:t>Indoor =</a:t>
            </a:r>
            <a:br/>
            <a:r>
              <a:t>50% NSR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3007" y="1051560"/>
            <a:ext cx="2567863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33007" y="1051560"/>
            <a:ext cx="2567863" cy="4572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33007" y="1280160"/>
            <a:ext cx="2567863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B8860B"/>
                </a:solidFill>
                <a:latin typeface="Calibri"/>
              </a:defRPr>
            </a:pPr>
            <a:r>
              <a:t>+20%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24447" y="1965960"/>
            <a:ext cx="2384983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B7288"/>
                </a:solidFill>
                <a:latin typeface="Calibri"/>
              </a:defRPr>
            </a:pPr>
            <a:r>
              <a:t>Tinggi &gt; 15m</a:t>
            </a:r>
            <a:br/>
            <a:r>
              <a:t>tambahan 20%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75191" y="1051560"/>
            <a:ext cx="2567863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075191" y="1051560"/>
            <a:ext cx="2567863" cy="4572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75191" y="1280160"/>
            <a:ext cx="2567863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DC2626"/>
                </a:solidFill>
                <a:latin typeface="Calibri"/>
              </a:defRPr>
            </a:pPr>
            <a:r>
              <a:t>+50%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66631" y="1965960"/>
            <a:ext cx="2384983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B7288"/>
                </a:solidFill>
                <a:latin typeface="Calibri"/>
              </a:defRPr>
            </a:pPr>
            <a:r>
              <a:t>Tembakau &amp;</a:t>
            </a:r>
            <a:br/>
            <a:r>
              <a:t>Miras +50%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3337560"/>
            <a:ext cx="11094415" cy="2743200"/>
          </a:xfrm>
          <a:prstGeom prst="roundRect">
            <a:avLst>
              <a:gd name="adj" fmla="val 4000"/>
            </a:avLst>
          </a:prstGeom>
          <a:solidFill>
            <a:srgbClr val="E8EDF5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3474720"/>
            <a:ext cx="10637215" cy="23774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Rumus: Pajak Reklame = Tarif Pajak × NSR</a:t>
            </a:r>
            <a:br/>
            <a:r>
              <a:t>NSR = Nilai Kelas Jalan × Ukuran (m²) × Jumlah × Jangka Waktu</a:t>
            </a:r>
            <a:br/>
            <a:br/>
            <a:r>
              <a:t>Ketentuan Khusus:</a:t>
            </a:r>
            <a:br/>
            <a:r>
              <a:t>• Reklame indoor: NSR 50% dari NSR normal</a:t>
            </a:r>
            <a:br/>
            <a:r>
              <a:t>• Ketinggian &gt; 15 meter: tambahan 20%</a:t>
            </a:r>
            <a:br/>
            <a:r>
              <a:t>• Produk tembakau &amp; minuman beralkohol: tambahan 50%</a:t>
            </a:r>
            <a:br/>
            <a:r>
              <a:t>• Perubahan naskah/revisi isi reklame: dikecualikan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629400"/>
            <a:ext cx="12191695" cy="27432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6473952"/>
            <a:ext cx="365760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9CA3AF"/>
                </a:solidFill>
                <a:latin typeface="Calibri"/>
              </a:defRPr>
            </a:pPr>
            <a:r>
              <a:t>Sumber: Perwal Bekasi No 51/2024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77295" y="6473952"/>
            <a:ext cx="7315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9CA3AF"/>
                </a:solidFill>
                <a:latin typeface="Calibri"/>
              </a:defRPr>
            </a:pPr>
            <a: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"/>
            <a:ext cx="12191695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09728"/>
            <a:ext cx="64008" cy="548640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137160"/>
            <a:ext cx="10637215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Calibri"/>
              </a:defRPr>
            </a:pPr>
            <a:r>
              <a:t>Tabel NSR — Papan / Billboard (Rp/m²/hari)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576072"/>
            <a:ext cx="10637215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CA3AF"/>
                </a:solidFill>
                <a:latin typeface="Calibri"/>
              </a:defRPr>
            </a:pPr>
            <a:r>
              <a:t>Pasal 10 • Papan / Billboard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051560"/>
          <a:ext cx="11094414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98138"/>
                <a:gridCol w="3698138"/>
                <a:gridCol w="3698138"/>
              </a:tblGrid>
              <a:tr h="384048">
                <a:tc>
                  <a:txBody>
                    <a:bodyPr wrap="square"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Kelas Jalan</a:t>
                      </a:r>
                    </a:p>
                  </a:txBody>
                  <a:tcPr anchor="ctr">
                    <a:solidFill>
                      <a:srgbClr val="0A162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Zona</a:t>
                      </a:r>
                    </a:p>
                  </a:txBody>
                  <a:tcPr anchor="ctr">
                    <a:solidFill>
                      <a:srgbClr val="0A162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NSR (Rp/m²/hari)</a:t>
                      </a:r>
                    </a:p>
                  </a:txBody>
                  <a:tcPr anchor="ctr">
                    <a:solidFill>
                      <a:srgbClr val="0A162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Kelas Jalan Khusus</a:t>
                      </a:r>
                    </a:p>
                  </a:txBody>
                  <a:tcPr anchor="ctr">
                    <a:solidFill>
                      <a:srgbClr val="E8E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Jalan Tol</a:t>
                      </a:r>
                    </a:p>
                  </a:txBody>
                  <a:tcPr anchor="ctr">
                    <a:solidFill>
                      <a:srgbClr val="E8E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23.575</a:t>
                      </a:r>
                    </a:p>
                  </a:txBody>
                  <a:tcPr anchor="ctr">
                    <a:solidFill>
                      <a:srgbClr val="E8ED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Kelas Jalan Khusus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Premium 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16.100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Kelas Jalan Khusus</a:t>
                      </a:r>
                    </a:p>
                  </a:txBody>
                  <a:tcPr anchor="ctr">
                    <a:solidFill>
                      <a:srgbClr val="E8E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Premium 2</a:t>
                      </a:r>
                    </a:p>
                  </a:txBody>
                  <a:tcPr anchor="ctr">
                    <a:solidFill>
                      <a:srgbClr val="E8E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14.950</a:t>
                      </a:r>
                    </a:p>
                  </a:txBody>
                  <a:tcPr anchor="ctr">
                    <a:solidFill>
                      <a:srgbClr val="E8ED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Kelas Jalan I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Kendali Ketat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13.225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Kelas Jalan II</a:t>
                      </a:r>
                    </a:p>
                  </a:txBody>
                  <a:tcPr anchor="ctr">
                    <a:solidFill>
                      <a:srgbClr val="E8E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Kendali Sedang</a:t>
                      </a:r>
                    </a:p>
                  </a:txBody>
                  <a:tcPr anchor="ctr">
                    <a:solidFill>
                      <a:srgbClr val="E8E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11.500</a:t>
                      </a:r>
                    </a:p>
                  </a:txBody>
                  <a:tcPr anchor="ctr">
                    <a:solidFill>
                      <a:srgbClr val="E8EDF5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629400"/>
            <a:ext cx="12191695" cy="27432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73952"/>
            <a:ext cx="365760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9CA3AF"/>
                </a:solidFill>
                <a:latin typeface="Calibri"/>
              </a:defRPr>
            </a:pPr>
            <a:r>
              <a:t>Sumber: Perwal Bekasi No 51/2024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77295" y="6473952"/>
            <a:ext cx="7315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9CA3AF"/>
                </a:solidFill>
                <a:latin typeface="Calibri"/>
              </a:defRPr>
            </a:pPr>
            <a:r>
              <a:t>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"/>
            <a:ext cx="12191695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09728"/>
            <a:ext cx="64008" cy="548640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137160"/>
            <a:ext cx="10637215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Calibri"/>
              </a:defRPr>
            </a:pPr>
            <a:r>
              <a:t>Tabel NSR — Megatron / Videotron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576072"/>
            <a:ext cx="10637215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CA3AF"/>
                </a:solidFill>
                <a:latin typeface="Calibri"/>
              </a:defRPr>
            </a:pPr>
            <a:r>
              <a:t>Pasal 10 • Megatron / Videotron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051560"/>
          <a:ext cx="11094412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73603"/>
                <a:gridCol w="2773603"/>
                <a:gridCol w="2773603"/>
                <a:gridCol w="2773603"/>
              </a:tblGrid>
              <a:tr h="384048">
                <a:tc>
                  <a:txBody>
                    <a:bodyPr wrap="square"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Kelas Jalan</a:t>
                      </a:r>
                    </a:p>
                  </a:txBody>
                  <a:tcPr anchor="ctr">
                    <a:solidFill>
                      <a:srgbClr val="0A162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Zona</a:t>
                      </a:r>
                    </a:p>
                  </a:txBody>
                  <a:tcPr anchor="ctr">
                    <a:solidFill>
                      <a:srgbClr val="0A162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NSR (/30 dtk)</a:t>
                      </a:r>
                    </a:p>
                  </a:txBody>
                  <a:tcPr anchor="ctr">
                    <a:solidFill>
                      <a:srgbClr val="0A162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NSR (/m²/thn)</a:t>
                      </a:r>
                    </a:p>
                  </a:txBody>
                  <a:tcPr anchor="ctr">
                    <a:solidFill>
                      <a:srgbClr val="0A162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Kelas Jalan Khusus</a:t>
                      </a:r>
                    </a:p>
                  </a:txBody>
                  <a:tcPr anchor="ctr">
                    <a:solidFill>
                      <a:srgbClr val="E8E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Jalan Tol</a:t>
                      </a:r>
                    </a:p>
                  </a:txBody>
                  <a:tcPr anchor="ctr">
                    <a:solidFill>
                      <a:srgbClr val="E8E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Rp 17,25</a:t>
                      </a:r>
                    </a:p>
                  </a:txBody>
                  <a:tcPr anchor="ctr">
                    <a:solidFill>
                      <a:srgbClr val="E8E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13.599.900</a:t>
                      </a:r>
                    </a:p>
                  </a:txBody>
                  <a:tcPr anchor="ctr">
                    <a:solidFill>
                      <a:srgbClr val="E8ED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Kelas Jalan Khusus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Premium 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Rp 13,80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10.879.920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Kelas Jalan Khusus</a:t>
                      </a:r>
                    </a:p>
                  </a:txBody>
                  <a:tcPr anchor="ctr">
                    <a:solidFill>
                      <a:srgbClr val="E8E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Premium 2</a:t>
                      </a:r>
                    </a:p>
                  </a:txBody>
                  <a:tcPr anchor="ctr">
                    <a:solidFill>
                      <a:srgbClr val="E8E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Rp 9,20</a:t>
                      </a:r>
                    </a:p>
                  </a:txBody>
                  <a:tcPr anchor="ctr">
                    <a:solidFill>
                      <a:srgbClr val="E8E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7.253.280</a:t>
                      </a:r>
                    </a:p>
                  </a:txBody>
                  <a:tcPr anchor="ctr">
                    <a:solidFill>
                      <a:srgbClr val="E8ED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Kelas Jalan I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Kendali Ketat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Rp 8,05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6.346.620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Kelas Jalan II</a:t>
                      </a:r>
                    </a:p>
                  </a:txBody>
                  <a:tcPr anchor="ctr">
                    <a:solidFill>
                      <a:srgbClr val="E8E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Kendali Sedang</a:t>
                      </a:r>
                    </a:p>
                  </a:txBody>
                  <a:tcPr anchor="ctr">
                    <a:solidFill>
                      <a:srgbClr val="E8E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Rp 5,75</a:t>
                      </a:r>
                    </a:p>
                  </a:txBody>
                  <a:tcPr anchor="ctr">
                    <a:solidFill>
                      <a:srgbClr val="E8E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4.533.300</a:t>
                      </a:r>
                    </a:p>
                  </a:txBody>
                  <a:tcPr anchor="ctr">
                    <a:solidFill>
                      <a:srgbClr val="E8EDF5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629400"/>
            <a:ext cx="12191695" cy="27432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73952"/>
            <a:ext cx="365760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9CA3AF"/>
                </a:solidFill>
                <a:latin typeface="Calibri"/>
              </a:defRPr>
            </a:pPr>
            <a:r>
              <a:t>Sumber: Perwal Bekasi No 51/2024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77295" y="6473952"/>
            <a:ext cx="7315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9CA3AF"/>
                </a:solidFill>
                <a:latin typeface="Calibri"/>
              </a:defRPr>
            </a:pPr>
            <a:r>
              <a:t>16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"/>
            <a:ext cx="12191695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09728"/>
            <a:ext cx="64008" cy="548640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137160"/>
            <a:ext cx="10637215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Calibri"/>
              </a:defRPr>
            </a:pPr>
            <a:r>
              <a:t>Tabel NSR — Kain (Spanduk/Umbul/Baliho) (Rp/m²/hari)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576072"/>
            <a:ext cx="10637215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CA3AF"/>
                </a:solidFill>
                <a:latin typeface="Calibri"/>
              </a:defRPr>
            </a:pPr>
            <a:r>
              <a:t>Pasal 10 • Spanduk / Umbul / Baliho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051560"/>
          <a:ext cx="11094414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98138"/>
                <a:gridCol w="3698138"/>
                <a:gridCol w="3698138"/>
              </a:tblGrid>
              <a:tr h="384048">
                <a:tc>
                  <a:txBody>
                    <a:bodyPr wrap="square"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Kelas Jalan</a:t>
                      </a:r>
                    </a:p>
                  </a:txBody>
                  <a:tcPr anchor="ctr">
                    <a:solidFill>
                      <a:srgbClr val="0A162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Zona</a:t>
                      </a:r>
                    </a:p>
                  </a:txBody>
                  <a:tcPr anchor="ctr">
                    <a:solidFill>
                      <a:srgbClr val="0A162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NSR (Rp/m²/hari)</a:t>
                      </a:r>
                    </a:p>
                  </a:txBody>
                  <a:tcPr anchor="ctr">
                    <a:solidFill>
                      <a:srgbClr val="0A162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Kelas Jalan Khusus</a:t>
                      </a:r>
                    </a:p>
                  </a:txBody>
                  <a:tcPr anchor="ctr">
                    <a:solidFill>
                      <a:srgbClr val="E8E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Jalan Tol</a:t>
                      </a:r>
                    </a:p>
                  </a:txBody>
                  <a:tcPr anchor="ctr">
                    <a:solidFill>
                      <a:srgbClr val="E8E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30.000</a:t>
                      </a:r>
                    </a:p>
                  </a:txBody>
                  <a:tcPr anchor="ctr">
                    <a:solidFill>
                      <a:srgbClr val="E8ED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Kelas Jalan Khusus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Premium 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30.000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Kelas Jalan Khusus</a:t>
                      </a:r>
                    </a:p>
                  </a:txBody>
                  <a:tcPr anchor="ctr">
                    <a:solidFill>
                      <a:srgbClr val="E8E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Premium 2</a:t>
                      </a:r>
                    </a:p>
                  </a:txBody>
                  <a:tcPr anchor="ctr">
                    <a:solidFill>
                      <a:srgbClr val="E8E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25.000</a:t>
                      </a:r>
                    </a:p>
                  </a:txBody>
                  <a:tcPr anchor="ctr">
                    <a:solidFill>
                      <a:srgbClr val="E8ED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Kelas Jalan I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Kendali Ketat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20.000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Kelas Jalan II</a:t>
                      </a:r>
                    </a:p>
                  </a:txBody>
                  <a:tcPr anchor="ctr">
                    <a:solidFill>
                      <a:srgbClr val="E8E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Kendali Sedang</a:t>
                      </a:r>
                    </a:p>
                  </a:txBody>
                  <a:tcPr anchor="ctr">
                    <a:solidFill>
                      <a:srgbClr val="E8E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19.000</a:t>
                      </a:r>
                    </a:p>
                  </a:txBody>
                  <a:tcPr anchor="ctr">
                    <a:solidFill>
                      <a:srgbClr val="E8EDF5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629400"/>
            <a:ext cx="12191695" cy="27432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73952"/>
            <a:ext cx="365760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9CA3AF"/>
                </a:solidFill>
                <a:latin typeface="Calibri"/>
              </a:defRPr>
            </a:pPr>
            <a:r>
              <a:t>Sumber: Perwal Bekasi No 51/2024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77295" y="6473952"/>
            <a:ext cx="7315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9CA3AF"/>
                </a:solidFill>
                <a:latin typeface="Calibri"/>
              </a:defRPr>
            </a:pPr>
            <a:r>
              <a:t>17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"/>
            <a:ext cx="12191695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09728"/>
            <a:ext cx="64008" cy="548640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137160"/>
            <a:ext cx="10637215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Calibri"/>
              </a:defRPr>
            </a:pPr>
            <a:r>
              <a:t>NSR untuk 8 Jenis Reklame Lainnya — Bagian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576072"/>
            <a:ext cx="10637215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CA3AF"/>
                </a:solidFill>
                <a:latin typeface="Calibri"/>
              </a:defRPr>
            </a:pPr>
            <a:r>
              <a:t>Pasal 10 • Jenis Reklame Lainnya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051560"/>
            <a:ext cx="2567863" cy="5257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051560"/>
            <a:ext cx="45720" cy="52578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85800" y="1188720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188720"/>
            <a:ext cx="384048" cy="38404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FFFFFF"/>
                </a:solidFill>
                <a:latin typeface="Calibri"/>
              </a:defRPr>
            </a:pPr>
            <a:r>
              <a:t>🏷️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691640"/>
            <a:ext cx="2293543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2563EB"/>
                </a:solidFill>
                <a:latin typeface="Calibri"/>
              </a:defRPr>
            </a:pPr>
            <a:r>
              <a:t>Stiker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011680"/>
            <a:ext cx="2293543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Rp 7,5/cm²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212848"/>
            <a:ext cx="2293543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Min. Rp 750.000/kali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90823" y="1051560"/>
            <a:ext cx="2567863" cy="5257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90823" y="1051560"/>
            <a:ext cx="45720" cy="52578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27983" y="1188720"/>
            <a:ext cx="384048" cy="384048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27983" y="1188720"/>
            <a:ext cx="384048" cy="38404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FFFFFF"/>
                </a:solidFill>
                <a:latin typeface="Calibri"/>
              </a:defRPr>
            </a:pPr>
            <a:r>
              <a:t>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27983" y="1691640"/>
            <a:ext cx="2293543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0D9488"/>
                </a:solidFill>
                <a:latin typeface="Calibri"/>
              </a:defRPr>
            </a:pPr>
            <a:r>
              <a:t>Melekat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7983" y="2011680"/>
            <a:ext cx="2293543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Rp 750.000/m²/tahun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33007" y="1051560"/>
            <a:ext cx="2567863" cy="5257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33007" y="1051560"/>
            <a:ext cx="45720" cy="525780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70167" y="1188720"/>
            <a:ext cx="384048" cy="384048"/>
          </a:xfrm>
          <a:prstGeom prst="ellipse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70167" y="1188720"/>
            <a:ext cx="384048" cy="38404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FFFFFF"/>
                </a:solidFill>
                <a:latin typeface="Calibri"/>
              </a:defRPr>
            </a:pPr>
            <a:r>
              <a:t>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1691640"/>
            <a:ext cx="2293543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B8860B"/>
                </a:solidFill>
                <a:latin typeface="Calibri"/>
              </a:defRPr>
            </a:pPr>
            <a:r>
              <a:t>Selebaran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70167" y="2011680"/>
            <a:ext cx="2293543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Rp 600/lembar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0167" y="2212848"/>
            <a:ext cx="2293543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Min. Rp 6.000.000/kali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5191" y="1051560"/>
            <a:ext cx="2567863" cy="5257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075191" y="1051560"/>
            <a:ext cx="45720" cy="525780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212351" y="1188720"/>
            <a:ext cx="384048" cy="384048"/>
          </a:xfrm>
          <a:prstGeom prst="ellipse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212351" y="1188720"/>
            <a:ext cx="384048" cy="38404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FFFFFF"/>
                </a:solidFill>
                <a:latin typeface="Calibri"/>
              </a:defRPr>
            </a:pPr>
            <a:r>
              <a:t>🚌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12351" y="1691640"/>
            <a:ext cx="2293543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DC2626"/>
                </a:solidFill>
                <a:latin typeface="Calibri"/>
              </a:defRPr>
            </a:pPr>
            <a:r>
              <a:t>Berjalan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12351" y="2011680"/>
            <a:ext cx="2293543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Rp 6.000/m²/hari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12351" y="2212848"/>
            <a:ext cx="2293543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Termasuk kendaraan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629400"/>
            <a:ext cx="12191695" cy="27432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8640" y="6473952"/>
            <a:ext cx="365760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9CA3AF"/>
                </a:solidFill>
                <a:latin typeface="Calibri"/>
              </a:defRPr>
            </a:pPr>
            <a:r>
              <a:t>Sumber: Perwal Bekasi No 51/2024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277295" y="6473952"/>
            <a:ext cx="7315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9CA3AF"/>
                </a:solidFill>
                <a:latin typeface="Calibri"/>
              </a:defRPr>
            </a:pPr>
            <a:r>
              <a:t>18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"/>
            <a:ext cx="12191695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09728"/>
            <a:ext cx="64008" cy="548640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137160"/>
            <a:ext cx="10637215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Calibri"/>
              </a:defRPr>
            </a:pPr>
            <a:r>
              <a:t>NSR untuk 8 Jenis Reklame Lainnya — Bagian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576072"/>
            <a:ext cx="10637215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CA3AF"/>
                </a:solidFill>
                <a:latin typeface="Calibri"/>
              </a:defRPr>
            </a:pPr>
            <a:r>
              <a:t>Pasal 10 • Jenis Reklame Lainnya (lanjutan)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051560"/>
            <a:ext cx="2567863" cy="5257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051560"/>
            <a:ext cx="45720" cy="52578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85800" y="1188720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188720"/>
            <a:ext cx="384048" cy="38404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FFFFFF"/>
                </a:solidFill>
                <a:latin typeface="Calibri"/>
              </a:defRPr>
            </a:pPr>
            <a:r>
              <a:t>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691640"/>
            <a:ext cx="2293543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2563EB"/>
                </a:solidFill>
                <a:latin typeface="Calibri"/>
              </a:defRPr>
            </a:pPr>
            <a:r>
              <a:t>Udara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011680"/>
            <a:ext cx="2293543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Rp 2.400.000/sekali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212848"/>
            <a:ext cx="2293543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Maks. 1 bulan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90823" y="1051560"/>
            <a:ext cx="2567863" cy="5257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90823" y="1051560"/>
            <a:ext cx="45720" cy="52578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27983" y="1188720"/>
            <a:ext cx="384048" cy="384048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27983" y="1188720"/>
            <a:ext cx="384048" cy="38404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FFFFFF"/>
                </a:solidFill>
                <a:latin typeface="Calibri"/>
              </a:defRPr>
            </a:pPr>
            <a:r>
              <a:t>🌊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27983" y="1691640"/>
            <a:ext cx="2293543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0D9488"/>
                </a:solidFill>
                <a:latin typeface="Calibri"/>
              </a:defRPr>
            </a:pPr>
            <a:r>
              <a:t>Apung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7983" y="2011680"/>
            <a:ext cx="2293543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Rp 600.000/sekali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27983" y="2212848"/>
            <a:ext cx="2293543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Maks. 1 bulan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33007" y="1051560"/>
            <a:ext cx="2567863" cy="5257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33007" y="1051560"/>
            <a:ext cx="45720" cy="525780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70167" y="1188720"/>
            <a:ext cx="384048" cy="384048"/>
          </a:xfrm>
          <a:prstGeom prst="ellipse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70167" y="1188720"/>
            <a:ext cx="384048" cy="38404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FFFFFF"/>
                </a:solidFill>
                <a:latin typeface="Calibri"/>
              </a:defRPr>
            </a:pPr>
            <a:r>
              <a:t>🎬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70167" y="1691640"/>
            <a:ext cx="2293543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B8860B"/>
                </a:solidFill>
                <a:latin typeface="Calibri"/>
              </a:defRPr>
            </a:pPr>
            <a:r>
              <a:t>Film / Slide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0167" y="2011680"/>
            <a:ext cx="2293543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Rp 12.000/15 detik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5191" y="1051560"/>
            <a:ext cx="2567863" cy="5257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075191" y="1051560"/>
            <a:ext cx="45720" cy="525780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212351" y="1188720"/>
            <a:ext cx="384048" cy="384048"/>
          </a:xfrm>
          <a:prstGeom prst="ellipse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212351" y="1188720"/>
            <a:ext cx="384048" cy="38404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FFFFFF"/>
                </a:solidFill>
                <a:latin typeface="Calibri"/>
              </a:defRPr>
            </a:pPr>
            <a:r>
              <a:t>🎭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12351" y="1691640"/>
            <a:ext cx="2293543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DC2626"/>
                </a:solidFill>
                <a:latin typeface="Calibri"/>
              </a:defRPr>
            </a:pPr>
            <a:r>
              <a:t>Peragaan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12351" y="2011680"/>
            <a:ext cx="2293543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Rp 480.000/penyelenggaraan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629400"/>
            <a:ext cx="12191695" cy="27432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48640" y="6473952"/>
            <a:ext cx="365760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9CA3AF"/>
                </a:solidFill>
                <a:latin typeface="Calibri"/>
              </a:defRPr>
            </a:pPr>
            <a:r>
              <a:t>Sumber: Perwal Bekasi No 51/2024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277295" y="6473952"/>
            <a:ext cx="7315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9CA3AF"/>
                </a:solidFill>
                <a:latin typeface="Calibri"/>
              </a:defRPr>
            </a:pPr>
            <a:r>
              <a:t>19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371600" y="-1371600"/>
            <a:ext cx="4572000" cy="4572000"/>
          </a:xfrm>
          <a:prstGeom prst="ellipse">
            <a:avLst/>
          </a:prstGeom>
          <a:solidFill>
            <a:srgbClr val="12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457200" y="-457200"/>
            <a:ext cx="3200400" cy="3200400"/>
          </a:xfrm>
          <a:prstGeom prst="ellipse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686800" y="3657600"/>
            <a:ext cx="4572000" cy="4572000"/>
          </a:xfrm>
          <a:prstGeom prst="ellipse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601200" y="2743200"/>
            <a:ext cx="2743200" cy="2743200"/>
          </a:xfrm>
          <a:prstGeom prst="ellipse">
            <a:avLst/>
          </a:prstGeom>
          <a:solidFill>
            <a:srgbClr val="0E20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2103120"/>
            <a:ext cx="2286000" cy="36576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377440"/>
            <a:ext cx="11094415" cy="1463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3400" b="1">
                <a:solidFill>
                  <a:srgbClr val="FFFFFF"/>
                </a:solidFill>
                <a:latin typeface="Calibri"/>
              </a:defRPr>
            </a:pPr>
            <a:r>
              <a:t>BAB VII</a:t>
            </a:r>
            <a:br/>
            <a:r>
              <a:t>PENETAPAN, TAGIHAN &amp; PEMBAYARAN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840480"/>
            <a:ext cx="11094415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C8962E"/>
                </a:solidFill>
                <a:latin typeface="Calibri"/>
              </a:defRPr>
            </a:pPr>
            <a:r>
              <a:t>4 Langkah: SKPD → Bayar → Telat → STPD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160520"/>
            <a:ext cx="11094415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9CA3AF"/>
                </a:solidFill>
                <a:latin typeface="Calibri"/>
              </a:defRPr>
            </a:pPr>
            <a:r>
              <a:t>Pasal 11–14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277295" y="6473952"/>
            <a:ext cx="7315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9CA3AF"/>
                </a:solidFill>
                <a:latin typeface="Calibri"/>
              </a:defRPr>
            </a:pPr>
            <a:r>
              <a:t>20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"/>
            <a:ext cx="12191695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09728"/>
            <a:ext cx="64008" cy="548640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137160"/>
            <a:ext cx="10637215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Calibri"/>
              </a:defRPr>
            </a:pPr>
            <a:r>
              <a:t>Alur Penetapan hingga Pembayaran: 4 Langkah Wajib Dipahami WP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576072"/>
            <a:ext cx="10637215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CA3AF"/>
                </a:solidFill>
                <a:latin typeface="Calibri"/>
              </a:defRPr>
            </a:pPr>
            <a:r>
              <a:t>Pasal 11–14 • Alur Penetapan → Pembayaran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188720"/>
            <a:ext cx="2533573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188720"/>
            <a:ext cx="2533573" cy="45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586826" y="1325880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586826" y="1325880"/>
            <a:ext cx="457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874520"/>
            <a:ext cx="2350693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2563EB"/>
                </a:solidFill>
                <a:latin typeface="Calibri"/>
              </a:defRPr>
            </a:pPr>
            <a:r>
              <a:t>SKPD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194560"/>
            <a:ext cx="2350693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6B7288"/>
                </a:solidFill>
                <a:latin typeface="Calibri"/>
              </a:defRPr>
            </a:pPr>
            <a:r>
              <a:t>Diterbitkan Bapenda</a:t>
            </a:r>
            <a:br/>
            <a:r>
              <a:t>Masa berlaku 5 tahun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82213" y="1828800"/>
            <a:ext cx="3200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C8962E"/>
                </a:solidFill>
                <a:latin typeface="Calibri"/>
              </a:defRPr>
            </a:pPr>
            <a: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02253" y="1188720"/>
            <a:ext cx="2533573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402253" y="1188720"/>
            <a:ext cx="2533573" cy="457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440440" y="1325880"/>
            <a:ext cx="457200" cy="45720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40440" y="1325880"/>
            <a:ext cx="457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93693" y="1874520"/>
            <a:ext cx="2350693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0D9488"/>
                </a:solidFill>
                <a:latin typeface="Calibri"/>
              </a:defRPr>
            </a:pPr>
            <a:r>
              <a:t>Pembayaran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93693" y="2194560"/>
            <a:ext cx="2350693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6B7288"/>
                </a:solidFill>
                <a:latin typeface="Calibri"/>
              </a:defRPr>
            </a:pPr>
            <a:r>
              <a:t>Lunas 1 bulan</a:t>
            </a:r>
            <a:br/>
            <a:r>
              <a:t>sejak SKPD diterima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35827" y="1828800"/>
            <a:ext cx="3200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C8962E"/>
                </a:solidFill>
                <a:latin typeface="Calibri"/>
              </a:defRPr>
            </a:pPr>
            <a:r>
              <a:t>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55867" y="1188720"/>
            <a:ext cx="2533573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55867" y="1188720"/>
            <a:ext cx="2533573" cy="4572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294054" y="1325880"/>
            <a:ext cx="457200" cy="457200"/>
          </a:xfrm>
          <a:prstGeom prst="ellipse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94054" y="1325880"/>
            <a:ext cx="457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47307" y="1874520"/>
            <a:ext cx="2350693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B8860B"/>
                </a:solidFill>
                <a:latin typeface="Calibri"/>
              </a:defRPr>
            </a:pPr>
            <a:r>
              <a:t>Keterlambatan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47307" y="2194560"/>
            <a:ext cx="2350693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6B7288"/>
                </a:solidFill>
                <a:latin typeface="Calibri"/>
              </a:defRPr>
            </a:pPr>
            <a:r>
              <a:t>Bunga 1%/bln</a:t>
            </a:r>
            <a:br/>
            <a:r>
              <a:t>Diterbitkan STPD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89441" y="1828800"/>
            <a:ext cx="3200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C8962E"/>
                </a:solidFill>
                <a:latin typeface="Calibri"/>
              </a:defRPr>
            </a:pPr>
            <a:r>
              <a:t>›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109481" y="1188720"/>
            <a:ext cx="2533573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109481" y="1188720"/>
            <a:ext cx="2533573" cy="4572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0147668" y="1325880"/>
            <a:ext cx="457200" cy="457200"/>
          </a:xfrm>
          <a:prstGeom prst="ellipse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147668" y="1325880"/>
            <a:ext cx="457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00921" y="1874520"/>
            <a:ext cx="2350693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DC2626"/>
                </a:solidFill>
                <a:latin typeface="Calibri"/>
              </a:defRPr>
            </a:pPr>
            <a:r>
              <a:t>STPD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00921" y="2194560"/>
            <a:ext cx="2350693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6B7288"/>
                </a:solidFill>
                <a:latin typeface="Calibri"/>
              </a:defRPr>
            </a:pPr>
            <a:r>
              <a:t>Harus lunas</a:t>
            </a:r>
            <a:br/>
            <a:r>
              <a:t>≤ 30 hari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8640" y="3383280"/>
            <a:ext cx="11094415" cy="2743200"/>
          </a:xfrm>
          <a:prstGeom prst="roundRect">
            <a:avLst>
              <a:gd name="adj" fmla="val 4000"/>
            </a:avLst>
          </a:prstGeom>
          <a:solidFill>
            <a:srgbClr val="E8EDF5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7240" y="3520440"/>
            <a:ext cx="10637215" cy="23774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Jatuh tempo: 1 bulan sejak tanggal pengiriman SKPD</a:t>
            </a:r>
            <a:br/>
            <a:r>
              <a:t>• Pembayaran: Kas Daerah / Bank Persepsi / tempat lain yang ditunjuk</a:t>
            </a:r>
            <a:br/>
            <a:r>
              <a:t>• Stiker sebagai tanda bukti pembayaran reklame</a:t>
            </a:r>
            <a:br/>
            <a:r>
              <a:t>• STPD dikenakan bunga 1%/bulan (maks. 24 bulan)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629400"/>
            <a:ext cx="12191695" cy="27432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8640" y="6473952"/>
            <a:ext cx="365760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9CA3AF"/>
                </a:solidFill>
                <a:latin typeface="Calibri"/>
              </a:defRPr>
            </a:pPr>
            <a:r>
              <a:t>Sumber: Perwal Bekasi No 51/2024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277295" y="6473952"/>
            <a:ext cx="7315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9CA3AF"/>
                </a:solidFill>
                <a:latin typeface="Calibri"/>
              </a:defRPr>
            </a:pPr>
            <a:r>
              <a:t>21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371600" y="-1371600"/>
            <a:ext cx="4572000" cy="4572000"/>
          </a:xfrm>
          <a:prstGeom prst="ellipse">
            <a:avLst/>
          </a:prstGeom>
          <a:solidFill>
            <a:srgbClr val="12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457200" y="-457200"/>
            <a:ext cx="3200400" cy="3200400"/>
          </a:xfrm>
          <a:prstGeom prst="ellipse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686800" y="3657600"/>
            <a:ext cx="4572000" cy="4572000"/>
          </a:xfrm>
          <a:prstGeom prst="ellipse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601200" y="2743200"/>
            <a:ext cx="2743200" cy="2743200"/>
          </a:xfrm>
          <a:prstGeom prst="ellipse">
            <a:avLst/>
          </a:prstGeom>
          <a:solidFill>
            <a:srgbClr val="0E20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2103120"/>
            <a:ext cx="2286000" cy="36576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377440"/>
            <a:ext cx="11094415" cy="1463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3400" b="1">
                <a:solidFill>
                  <a:srgbClr val="FFFFFF"/>
                </a:solidFill>
                <a:latin typeface="Calibri"/>
              </a:defRPr>
            </a:pPr>
            <a:r>
              <a:t>BAB VIII</a:t>
            </a:r>
            <a:br/>
            <a:r>
              <a:t>PEMBETULAN, KEBERATAN &amp; BANDING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840480"/>
            <a:ext cx="11094415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C8962E"/>
                </a:solidFill>
                <a:latin typeface="Calibri"/>
              </a:defRPr>
            </a:pPr>
            <a:r>
              <a:t>Hak WP: Koreksi, Keberatan, Banding — Dengan Batas Waktu Jelas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160520"/>
            <a:ext cx="11094415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9CA3AF"/>
                </a:solidFill>
                <a:latin typeface="Calibri"/>
              </a:defRPr>
            </a:pPr>
            <a:r>
              <a:t>Pasal 15–20, 29–33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277295" y="6473952"/>
            <a:ext cx="7315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9CA3AF"/>
                </a:solidFill>
                <a:latin typeface="Calibri"/>
              </a:defRPr>
            </a:pPr>
            <a:r>
              <a:t>22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"/>
            <a:ext cx="12191695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09728"/>
            <a:ext cx="64008" cy="548640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137160"/>
            <a:ext cx="10637215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Calibri"/>
              </a:defRPr>
            </a:pPr>
            <a:r>
              <a:t>Pembetulan: Koreksi Kesalahan Tulis, Hitung, dan Penerapan Aturan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576072"/>
            <a:ext cx="10637215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CA3AF"/>
                </a:solidFill>
                <a:latin typeface="Calibri"/>
              </a:defRPr>
            </a:pPr>
            <a:r>
              <a:t>Pasal 15–20 • Pembetulan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051560"/>
            <a:ext cx="5410047" cy="5166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051560"/>
            <a:ext cx="45720" cy="51663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188720"/>
            <a:ext cx="5090007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2563EB"/>
                </a:solidFill>
                <a:latin typeface="Calibri"/>
              </a:defRPr>
            </a:pPr>
            <a:r>
              <a:t>PEMBETULAN (Pasal 15–20)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481328"/>
            <a:ext cx="5090007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700784"/>
            <a:ext cx="5090007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Kesalahan tulis: nama, alamat, NPWPD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1920240"/>
            <a:ext cx="5090007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Kesalahan hitung: jumlah, tarif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139696"/>
            <a:ext cx="5090007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Kekeliruan penerapan aturan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359152"/>
            <a:ext cx="5090007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1 permohonan = 1 ketetapan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2578608"/>
            <a:ext cx="5090007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Keputusan maksimal 6 bulan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2798064"/>
            <a:ext cx="5090007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&gt; 6 bulan tanpa putusan → dikabulkan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3017520"/>
            <a:ext cx="5090007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Dapat dilakukan berulang (Ps 20)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3236976"/>
            <a:ext cx="5090007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Jenis keputusan: kabul / batal / tolak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33007" y="1051560"/>
            <a:ext cx="5410047" cy="5166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33007" y="1051560"/>
            <a:ext cx="45720" cy="516636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15887" y="1188720"/>
            <a:ext cx="5090007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B8860B"/>
                </a:solidFill>
                <a:latin typeface="Calibri"/>
              </a:defRPr>
            </a:pPr>
            <a:r>
              <a:t>JANGKA WAKTU &amp; PROSEDUR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15887" y="1481328"/>
            <a:ext cx="5090007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5887" y="1700784"/>
            <a:ext cx="5090007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Permohonan diajukan ke Bapenda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15887" y="1920240"/>
            <a:ext cx="5090007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Keputusan: kabul (tambah/kurang/hapus)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5887" y="2139696"/>
            <a:ext cx="5090007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Keputusan: batal | tolak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15887" y="2359152"/>
            <a:ext cx="5090007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Pasal 19: pembetulan jabatan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15887" y="2578608"/>
            <a:ext cx="5090007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Pasal 20: berulang jika masih salah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629400"/>
            <a:ext cx="12191695" cy="27432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6473952"/>
            <a:ext cx="365760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9CA3AF"/>
                </a:solidFill>
                <a:latin typeface="Calibri"/>
              </a:defRPr>
            </a:pPr>
            <a:r>
              <a:t>Sumber: Perwal Bekasi No 51/2024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77295" y="6473952"/>
            <a:ext cx="7315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9CA3AF"/>
                </a:solidFill>
                <a:latin typeface="Calibri"/>
              </a:defRPr>
            </a:pPr>
            <a:r>
              <a:t>23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"/>
            <a:ext cx="12191695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09728"/>
            <a:ext cx="64008" cy="548640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137160"/>
            <a:ext cx="10637215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Calibri"/>
              </a:defRPr>
            </a:pPr>
            <a:r>
              <a:t>Keberatan &amp; Banding: Upaya Hukum WP dalam Sengketa Pajak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576072"/>
            <a:ext cx="10637215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CA3AF"/>
                </a:solidFill>
                <a:latin typeface="Calibri"/>
              </a:defRPr>
            </a:pPr>
            <a:r>
              <a:t>Pasal 29–33 • Keberatan &amp; Banding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051560"/>
            <a:ext cx="5410047" cy="5166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051560"/>
            <a:ext cx="45720" cy="51663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188720"/>
            <a:ext cx="5090007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2563EB"/>
                </a:solidFill>
                <a:latin typeface="Calibri"/>
              </a:defRPr>
            </a:pPr>
            <a:r>
              <a:t>KEBERATAN (Pasal 29–31)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481328"/>
            <a:ext cx="5090007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700784"/>
            <a:ext cx="5090007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Objek: SKPD, SKPDKB, SKPDKBT, dll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1920240"/>
            <a:ext cx="5090007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Diajukan maks. 3 bulan sejak SKPD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139696"/>
            <a:ext cx="5090007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Sudah bayar min. yang disetujui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359152"/>
            <a:ext cx="5090007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Keputusan maks. 12 bulan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2578608"/>
            <a:ext cx="5090007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Jika ditolak: denda 30%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2798064"/>
            <a:ext cx="5090007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Jika dikabulkan: + bunga 0,6%/bulan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33007" y="1051560"/>
            <a:ext cx="5410047" cy="5166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33007" y="1051560"/>
            <a:ext cx="45720" cy="516636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15887" y="1188720"/>
            <a:ext cx="5090007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0D9488"/>
                </a:solidFill>
                <a:latin typeface="Calibri"/>
              </a:defRPr>
            </a:pPr>
            <a:r>
              <a:t>BANDING (Pasal 32–33)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15887" y="1481328"/>
            <a:ext cx="5090007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15887" y="1700784"/>
            <a:ext cx="5090007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Objek: Surat Keputusan Keberatan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15887" y="1920240"/>
            <a:ext cx="5090007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Ke badan peradilan pajak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5887" y="2139696"/>
            <a:ext cx="5090007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Maks. 3 bulan sejak keputusan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15887" y="2359152"/>
            <a:ext cx="5090007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Menangguhkan kewajiban bayar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5887" y="2578608"/>
            <a:ext cx="5090007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Jika ditolak: denda 60%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15887" y="2798064"/>
            <a:ext cx="5090007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Jika dikabulkan: + bunga 0,6%/bulan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629400"/>
            <a:ext cx="12191695" cy="27432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" y="6473952"/>
            <a:ext cx="365760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9CA3AF"/>
                </a:solidFill>
                <a:latin typeface="Calibri"/>
              </a:defRPr>
            </a:pPr>
            <a:r>
              <a:t>Sumber: Perwal Bekasi No 51/2024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77295" y="6473952"/>
            <a:ext cx="7315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9CA3AF"/>
                </a:solidFill>
                <a:latin typeface="Calibri"/>
              </a:defRPr>
            </a:pPr>
            <a:r>
              <a:t>24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371600" y="-1371600"/>
            <a:ext cx="4572000" cy="4572000"/>
          </a:xfrm>
          <a:prstGeom prst="ellipse">
            <a:avLst/>
          </a:prstGeom>
          <a:solidFill>
            <a:srgbClr val="12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457200" y="-457200"/>
            <a:ext cx="3200400" cy="3200400"/>
          </a:xfrm>
          <a:prstGeom prst="ellipse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686800" y="3657600"/>
            <a:ext cx="4572000" cy="4572000"/>
          </a:xfrm>
          <a:prstGeom prst="ellipse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601200" y="2743200"/>
            <a:ext cx="2743200" cy="2743200"/>
          </a:xfrm>
          <a:prstGeom prst="ellipse">
            <a:avLst/>
          </a:prstGeom>
          <a:solidFill>
            <a:srgbClr val="0E20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2103120"/>
            <a:ext cx="2286000" cy="36576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377440"/>
            <a:ext cx="11094415" cy="1463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3400" b="1">
                <a:solidFill>
                  <a:srgbClr val="FFFFFF"/>
                </a:solidFill>
                <a:latin typeface="Calibri"/>
              </a:defRPr>
            </a:pPr>
            <a:r>
              <a:t>BAB IX</a:t>
            </a:r>
            <a:br/>
            <a:r>
              <a:t>PEMERIKSAAN, PENAGIHAN &amp; PENGHAPUSAN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840480"/>
            <a:ext cx="11094415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C8962E"/>
                </a:solidFill>
                <a:latin typeface="Calibri"/>
              </a:defRPr>
            </a:pPr>
            <a:r>
              <a:t>Bapenda Berwenang Periksa — Piutang Dihapus Lewat 4 Tahapan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160520"/>
            <a:ext cx="11094415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9CA3AF"/>
                </a:solidFill>
                <a:latin typeface="Calibri"/>
              </a:defRPr>
            </a:pPr>
            <a:r>
              <a:t>Pasal 22–26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277295" y="6473952"/>
            <a:ext cx="7315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9CA3AF"/>
                </a:solidFill>
                <a:latin typeface="Calibri"/>
              </a:defRPr>
            </a:pPr>
            <a:r>
              <a:t>25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"/>
            <a:ext cx="12191695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09728"/>
            <a:ext cx="64008" cy="548640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137160"/>
            <a:ext cx="10637215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Calibri"/>
              </a:defRPr>
            </a:pPr>
            <a:r>
              <a:t>Pemeriksaan &amp; Penagihan: 3 Pilar Penegakan Kepatuhan WP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576072"/>
            <a:ext cx="10637215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CA3AF"/>
                </a:solidFill>
                <a:latin typeface="Calibri"/>
              </a:defRPr>
            </a:pPr>
            <a:r>
              <a:t>Pasal 22–25 • Pemeriksaan &amp; Penagihan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051560"/>
            <a:ext cx="3515258" cy="5257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051560"/>
            <a:ext cx="45720" cy="52578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85800" y="1188720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188720"/>
            <a:ext cx="384048" cy="38404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FFFFFF"/>
                </a:solidFill>
                <a:latin typeface="Calibri"/>
              </a:defRPr>
            </a:pPr>
            <a:r>
              <a:t>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691640"/>
            <a:ext cx="3240938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2563EB"/>
                </a:solidFill>
                <a:latin typeface="Calibri"/>
              </a:defRPr>
            </a:pPr>
            <a:r>
              <a:t>Pemeriksaan (Ps 22–23)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011680"/>
            <a:ext cx="3240938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Kepala Bapenda berwenang periksa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212848"/>
            <a:ext cx="3240938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Menguji kepatuhan WP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414016"/>
            <a:ext cx="3240938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WP wajib: buka buku/dokumen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2615184"/>
            <a:ext cx="3240938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Beri akses tempat &amp; keterangan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2816352"/>
            <a:ext cx="3240938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Jika tidak → pajak ditetapkan jabatan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38218" y="1051560"/>
            <a:ext cx="3515258" cy="5257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38218" y="1051560"/>
            <a:ext cx="45720" cy="52578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475378" y="1188720"/>
            <a:ext cx="384048" cy="384048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75378" y="1188720"/>
            <a:ext cx="384048" cy="38404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FFFFFF"/>
                </a:solidFill>
                <a:latin typeface="Calibri"/>
              </a:defRPr>
            </a:pPr>
            <a:r>
              <a:t>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75378" y="1691640"/>
            <a:ext cx="3240938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0D9488"/>
                </a:solidFill>
                <a:latin typeface="Calibri"/>
              </a:defRPr>
            </a:pPr>
            <a:r>
              <a:t>Penagihan (Ps 24)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75378" y="2011680"/>
            <a:ext cx="3240938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Dasar: SKPD, SKPDKB, SKPDKBT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75378" y="2212848"/>
            <a:ext cx="3240938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STPD, SK Pembetulan/Keberatan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75378" y="2414016"/>
            <a:ext cx="3240938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Putusan Banding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27796" y="1051560"/>
            <a:ext cx="3515258" cy="5257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127796" y="1051560"/>
            <a:ext cx="45720" cy="525780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264956" y="1188720"/>
            <a:ext cx="384048" cy="384048"/>
          </a:xfrm>
          <a:prstGeom prst="ellipse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64956" y="1188720"/>
            <a:ext cx="384048" cy="38404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FFFFFF"/>
                </a:solidFill>
                <a:latin typeface="Calibri"/>
              </a:defRPr>
            </a:pPr>
            <a:r>
              <a:t>⏳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64956" y="1691640"/>
            <a:ext cx="3240938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B8860B"/>
                </a:solidFill>
                <a:latin typeface="Calibri"/>
              </a:defRPr>
            </a:pPr>
            <a:r>
              <a:t>Kedaluwarsa (Ps 25)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64956" y="2011680"/>
            <a:ext cx="3240938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5 tahun sejak pajak terutang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64956" y="2212848"/>
            <a:ext cx="3240938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Tertangguh jika ada: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64956" y="2414016"/>
            <a:ext cx="3240938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Surat Teguran / Paksa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64956" y="2615184"/>
            <a:ext cx="3240938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Pengakuan utang dari WP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629400"/>
            <a:ext cx="12191695" cy="27432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8640" y="6473952"/>
            <a:ext cx="365760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9CA3AF"/>
                </a:solidFill>
                <a:latin typeface="Calibri"/>
              </a:defRPr>
            </a:pPr>
            <a:r>
              <a:t>Sumber: Perwal Bekasi No 51/2024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277295" y="6473952"/>
            <a:ext cx="7315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9CA3AF"/>
                </a:solidFill>
                <a:latin typeface="Calibri"/>
              </a:defRPr>
            </a:pPr>
            <a:r>
              <a:t>26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"/>
            <a:ext cx="12191695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09728"/>
            <a:ext cx="64008" cy="548640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137160"/>
            <a:ext cx="10637215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Calibri"/>
              </a:defRPr>
            </a:pPr>
            <a:r>
              <a:t>Penghapusan Piutang Pajak: 4 Langkah dari Penelitian hingga SK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576072"/>
            <a:ext cx="10637215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CA3AF"/>
                </a:solidFill>
                <a:latin typeface="Calibri"/>
              </a:defRPr>
            </a:pPr>
            <a:r>
              <a:t>Pasal 26 • Penghapusan Piutang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188720"/>
            <a:ext cx="2533573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188720"/>
            <a:ext cx="2533573" cy="45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586826" y="1325880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586826" y="1325880"/>
            <a:ext cx="457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874520"/>
            <a:ext cx="2350693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2563EB"/>
                </a:solidFill>
                <a:latin typeface="Calibri"/>
              </a:defRPr>
            </a:pPr>
            <a:r>
              <a:t>Penelitian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194560"/>
            <a:ext cx="2350693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6B7288"/>
                </a:solidFill>
                <a:latin typeface="Calibri"/>
              </a:defRPr>
            </a:pPr>
            <a:r>
              <a:t>Dilakukan Bapenda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82213" y="1828800"/>
            <a:ext cx="3200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C8962E"/>
                </a:solidFill>
                <a:latin typeface="Calibri"/>
              </a:defRPr>
            </a:pPr>
            <a: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02253" y="1188720"/>
            <a:ext cx="2533573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402253" y="1188720"/>
            <a:ext cx="2533573" cy="457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440440" y="1325880"/>
            <a:ext cx="457200" cy="45720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40440" y="1325880"/>
            <a:ext cx="457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93693" y="1874520"/>
            <a:ext cx="2350693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0D9488"/>
                </a:solidFill>
                <a:latin typeface="Calibri"/>
              </a:defRPr>
            </a:pPr>
            <a:r>
              <a:t>Penetapan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93693" y="2194560"/>
            <a:ext cx="2350693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6B7288"/>
                </a:solidFill>
                <a:latin typeface="Calibri"/>
              </a:defRPr>
            </a:pPr>
            <a:r>
              <a:t>Keputusan Wali Kota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35827" y="1828800"/>
            <a:ext cx="3200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C8962E"/>
                </a:solidFill>
                <a:latin typeface="Calibri"/>
              </a:defRPr>
            </a:pPr>
            <a:r>
              <a:t>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55867" y="1188720"/>
            <a:ext cx="2533573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55867" y="1188720"/>
            <a:ext cx="2533573" cy="4572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294054" y="1325880"/>
            <a:ext cx="457200" cy="457200"/>
          </a:xfrm>
          <a:prstGeom prst="ellipse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94054" y="1325880"/>
            <a:ext cx="457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47307" y="1874520"/>
            <a:ext cx="2350693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B8860B"/>
                </a:solidFill>
                <a:latin typeface="Calibri"/>
              </a:defRPr>
            </a:pPr>
            <a:r>
              <a:t>Koordinasi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47307" y="2194560"/>
            <a:ext cx="2350693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6B7288"/>
                </a:solidFill>
                <a:latin typeface="Calibri"/>
              </a:defRPr>
            </a:pPr>
            <a:r>
              <a:t>Dengan Inspektorat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89441" y="1828800"/>
            <a:ext cx="3200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C8962E"/>
                </a:solidFill>
                <a:latin typeface="Calibri"/>
              </a:defRPr>
            </a:pPr>
            <a:r>
              <a:t>›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109481" y="1188720"/>
            <a:ext cx="2533573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109481" y="1188720"/>
            <a:ext cx="2533573" cy="4572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0147668" y="1325880"/>
            <a:ext cx="457200" cy="457200"/>
          </a:xfrm>
          <a:prstGeom prst="ellipse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147668" y="1325880"/>
            <a:ext cx="457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00921" y="1874520"/>
            <a:ext cx="2350693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1B3A6B"/>
                </a:solidFill>
                <a:latin typeface="Calibri"/>
              </a:defRPr>
            </a:pPr>
            <a:r>
              <a:t>SK Penghapusan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00921" y="2194560"/>
            <a:ext cx="2350693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6B7288"/>
                </a:solidFill>
                <a:latin typeface="Calibri"/>
              </a:defRPr>
            </a:pPr>
            <a:r>
              <a:t>Diterbitkan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8640" y="3383280"/>
            <a:ext cx="11094415" cy="2743200"/>
          </a:xfrm>
          <a:prstGeom prst="roundRect">
            <a:avLst>
              <a:gd name="adj" fmla="val 4000"/>
            </a:avLst>
          </a:prstGeom>
          <a:solidFill>
            <a:srgbClr val="E8EDF5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7240" y="3520440"/>
            <a:ext cx="10637215" cy="23774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Syarat penghapusan piutang pajak:</a:t>
            </a:r>
            <a:br/>
            <a:r>
              <a:t>• Piutang tidak mungkin ditagih lagi karena kedaluwarsa</a:t>
            </a:r>
            <a:br/>
            <a:r>
              <a:t>• Ada koordinasi dengan Inspektorat Daerah</a:t>
            </a:r>
            <a:br/>
            <a:r>
              <a:t>• Dibuktikan dengan dokumen pelaksanaan penagihan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629400"/>
            <a:ext cx="12191695" cy="27432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8640" y="6473952"/>
            <a:ext cx="365760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9CA3AF"/>
                </a:solidFill>
                <a:latin typeface="Calibri"/>
              </a:defRPr>
            </a:pPr>
            <a:r>
              <a:t>Sumber: Perwal Bekasi No 51/2024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277295" y="6473952"/>
            <a:ext cx="7315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9CA3AF"/>
                </a:solidFill>
                <a:latin typeface="Calibri"/>
              </a:defRPr>
            </a:pPr>
            <a:r>
              <a:t>27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371600" y="-1371600"/>
            <a:ext cx="4572000" cy="4572000"/>
          </a:xfrm>
          <a:prstGeom prst="ellipse">
            <a:avLst/>
          </a:prstGeom>
          <a:solidFill>
            <a:srgbClr val="12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457200" y="-457200"/>
            <a:ext cx="3200400" cy="3200400"/>
          </a:xfrm>
          <a:prstGeom prst="ellipse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686800" y="3657600"/>
            <a:ext cx="4572000" cy="4572000"/>
          </a:xfrm>
          <a:prstGeom prst="ellipse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601200" y="2743200"/>
            <a:ext cx="2743200" cy="2743200"/>
          </a:xfrm>
          <a:prstGeom prst="ellipse">
            <a:avLst/>
          </a:prstGeom>
          <a:solidFill>
            <a:srgbClr val="0E20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2103120"/>
            <a:ext cx="2286000" cy="36576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377440"/>
            <a:ext cx="11094415" cy="1463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3400" b="1">
                <a:solidFill>
                  <a:srgbClr val="FFFFFF"/>
                </a:solidFill>
                <a:latin typeface="Calibri"/>
              </a:defRPr>
            </a:pPr>
            <a:r>
              <a:t>BAB X</a:t>
            </a:r>
            <a:br/>
            <a:r>
              <a:t>KERINGANAN, KEMUDAHAN &amp; PENGHARGAAN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840480"/>
            <a:ext cx="11094415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C8962E"/>
                </a:solidFill>
                <a:latin typeface="Calibri"/>
              </a:defRPr>
            </a:pPr>
            <a:r>
              <a:t>3 Fasilitas WP: Keringanan, Kemudahan Angsuran, dan Penghargaan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160520"/>
            <a:ext cx="11094415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9CA3AF"/>
                </a:solidFill>
                <a:latin typeface="Calibri"/>
              </a:defRPr>
            </a:pPr>
            <a:r>
              <a:t>Pasal 27–28, 34–35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277295" y="6473952"/>
            <a:ext cx="7315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9CA3AF"/>
                </a:solidFill>
                <a:latin typeface="Calibri"/>
              </a:defRPr>
            </a:pPr>
            <a:r>
              <a:t>28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"/>
            <a:ext cx="12191695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09728"/>
            <a:ext cx="64008" cy="548640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137160"/>
            <a:ext cx="10637215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Calibri"/>
              </a:defRPr>
            </a:pPr>
            <a:r>
              <a:t>3 Fasilitas untuk WP: Keringanan, Kemudahan Angsuran, Penghargaan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576072"/>
            <a:ext cx="10637215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CA3AF"/>
                </a:solidFill>
                <a:latin typeface="Calibri"/>
              </a:defRPr>
            </a:pPr>
            <a:r>
              <a:t>Pasal 27–28, 34–35 • Keringanan, Kemudahan &amp; Penghargaan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051560"/>
            <a:ext cx="3515258" cy="5257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051560"/>
            <a:ext cx="45720" cy="52578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85800" y="1188720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188720"/>
            <a:ext cx="384048" cy="38404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FFFFFF"/>
                </a:solidFill>
                <a:latin typeface="Calibri"/>
              </a:defRPr>
            </a:pPr>
            <a:r>
              <a:t>🎯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691640"/>
            <a:ext cx="3240938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2563EB"/>
                </a:solidFill>
                <a:latin typeface="Calibri"/>
              </a:defRPr>
            </a:pPr>
            <a:r>
              <a:t>Keringanan (Ps 27)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011680"/>
            <a:ext cx="3240938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Keringanan / Pengurangan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212848"/>
            <a:ext cx="3240938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Pembebasan / Penundaan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414016"/>
            <a:ext cx="3240938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Atas pokok &amp; sanksi pajak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2615184"/>
            <a:ext cx="3240938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WP dengan likuiditas rendah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2816352"/>
            <a:ext cx="3240938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Objek terdampak bencana/kebakaran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38218" y="1051560"/>
            <a:ext cx="3515258" cy="5257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38218" y="1051560"/>
            <a:ext cx="45720" cy="52578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475378" y="1188720"/>
            <a:ext cx="384048" cy="384048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75378" y="1188720"/>
            <a:ext cx="384048" cy="38404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FFFFFF"/>
                </a:solidFill>
                <a:latin typeface="Calibri"/>
              </a:defRPr>
            </a:pPr>
            <a:r>
              <a:t>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75378" y="1691640"/>
            <a:ext cx="3240938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0D9488"/>
                </a:solidFill>
                <a:latin typeface="Calibri"/>
              </a:defRPr>
            </a:pPr>
            <a:r>
              <a:t>Kemudahan (Ps 28)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75378" y="2011680"/>
            <a:ext cx="3240938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Perpanjangan waktu bayar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75378" y="2212848"/>
            <a:ext cx="3240938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Angsuran maks. 24 bulan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75378" y="2414016"/>
            <a:ext cx="3240938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Bunga 0,6%/bulan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75378" y="2615184"/>
            <a:ext cx="3240938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Keadaan kahar: bencana, wabah, kerusuhan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27796" y="1051560"/>
            <a:ext cx="3515258" cy="5257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127796" y="1051560"/>
            <a:ext cx="45720" cy="525780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8264956" y="1188720"/>
            <a:ext cx="384048" cy="384048"/>
          </a:xfrm>
          <a:prstGeom prst="ellipse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64956" y="1188720"/>
            <a:ext cx="384048" cy="38404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FFFFFF"/>
                </a:solidFill>
                <a:latin typeface="Calibri"/>
              </a:defRPr>
            </a:pPr>
            <a:r>
              <a:t>🏆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64956" y="1691640"/>
            <a:ext cx="3240938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B8860B"/>
                </a:solidFill>
                <a:latin typeface="Calibri"/>
              </a:defRPr>
            </a:pPr>
            <a:r>
              <a:t>Penghargaan (Ps 34–35)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64956" y="2011680"/>
            <a:ext cx="3240938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WP Taat Pajak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64956" y="2212848"/>
            <a:ext cx="3240938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Bayar tepat waktu ≥ 1 tahun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64956" y="2414016"/>
            <a:ext cx="3240938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Tanpa tunggakan 3 tahun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64956" y="2615184"/>
            <a:ext cx="3240938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Kontribusi signifikan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64956" y="2816352"/>
            <a:ext cx="3240938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Piagam / Hadiah (APBD)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629400"/>
            <a:ext cx="12191695" cy="27432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8640" y="6473952"/>
            <a:ext cx="365760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9CA3AF"/>
                </a:solidFill>
                <a:latin typeface="Calibri"/>
              </a:defRPr>
            </a:pPr>
            <a:r>
              <a:t>Sumber: Perwal Bekasi No 51/2024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277295" y="6473952"/>
            <a:ext cx="7315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9CA3AF"/>
                </a:solidFill>
                <a:latin typeface="Calibri"/>
              </a:defRPr>
            </a:pPr>
            <a:r>
              <a:t>29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371600" y="-1371600"/>
            <a:ext cx="4572000" cy="4572000"/>
          </a:xfrm>
          <a:prstGeom prst="ellipse">
            <a:avLst/>
          </a:prstGeom>
          <a:solidFill>
            <a:srgbClr val="12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457200" y="-457200"/>
            <a:ext cx="3200400" cy="3200400"/>
          </a:xfrm>
          <a:prstGeom prst="ellipse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686800" y="3657600"/>
            <a:ext cx="4572000" cy="4572000"/>
          </a:xfrm>
          <a:prstGeom prst="ellipse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601200" y="2743200"/>
            <a:ext cx="2743200" cy="2743200"/>
          </a:xfrm>
          <a:prstGeom prst="ellipse">
            <a:avLst/>
          </a:prstGeom>
          <a:solidFill>
            <a:srgbClr val="0E20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2103120"/>
            <a:ext cx="2286000" cy="36576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377440"/>
            <a:ext cx="11094415" cy="1463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3400" b="1">
                <a:solidFill>
                  <a:srgbClr val="FFFFFF"/>
                </a:solidFill>
                <a:latin typeface="Calibri"/>
              </a:defRPr>
            </a:pPr>
            <a:r>
              <a:t>BAB XI</a:t>
            </a:r>
            <a:br/>
            <a:r>
              <a:t>KETENTUAN PENUTUP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840480"/>
            <a:ext cx="11094415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C8962E"/>
                </a:solidFill>
                <a:latin typeface="Calibri"/>
              </a:defRPr>
            </a:pPr>
            <a:r>
              <a:t>Perwal No 48/2012 Dicabut — Berlaku Sejak 20 Desember 2024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160520"/>
            <a:ext cx="11094415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9CA3AF"/>
                </a:solidFill>
                <a:latin typeface="Calibri"/>
              </a:defRPr>
            </a:pPr>
            <a:r>
              <a:t>Pasal 36–37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277295" y="6473952"/>
            <a:ext cx="7315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9CA3AF"/>
                </a:solidFill>
                <a:latin typeface="Calibri"/>
              </a:defRPr>
            </a:pPr>
            <a:r>
              <a:t>30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"/>
            <a:ext cx="12191695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09728"/>
            <a:ext cx="64008" cy="548640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137160"/>
            <a:ext cx="10637215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Calibri"/>
              </a:defRPr>
            </a:pPr>
            <a:r>
              <a:t>Perwal Lama Dicabut, Peraturan Baru Berlaku Mulai Diundangkan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576072"/>
            <a:ext cx="10637215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CA3AF"/>
                </a:solidFill>
                <a:latin typeface="Calibri"/>
              </a:defRPr>
            </a:pPr>
            <a:r>
              <a:t>Pasal 36–37 • Penutup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051560"/>
            <a:ext cx="5410047" cy="5166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051560"/>
            <a:ext cx="45720" cy="51663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188720"/>
            <a:ext cx="5090007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2563EB"/>
                </a:solidFill>
                <a:latin typeface="Calibri"/>
              </a:defRPr>
            </a:pPr>
            <a:r>
              <a:t>PERATURAN YANG DICABUT (Pasal 36)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481328"/>
            <a:ext cx="5090007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700784"/>
            <a:ext cx="5090007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Perwal No. 48 Tahun 2012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1920240"/>
            <a:ext cx="5090007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Petunjuk Pelaksanaan Perda 14/2012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139696"/>
            <a:ext cx="5090007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Perwal No. 52 Tahun 2013 (Perubahan)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3007" y="1051560"/>
            <a:ext cx="5410047" cy="5166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33007" y="1051560"/>
            <a:ext cx="45720" cy="516636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5887" y="1188720"/>
            <a:ext cx="5090007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1B3A6B"/>
                </a:solidFill>
                <a:latin typeface="Calibri"/>
              </a:defRPr>
            </a:pPr>
            <a:r>
              <a:t>MULAI BERLAKU (Pasal 37)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5887" y="1481328"/>
            <a:ext cx="5090007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15887" y="1700784"/>
            <a:ext cx="5090007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Sejak diundangkan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15887" y="1920240"/>
            <a:ext cx="5090007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20 Desember 2024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15887" y="2139696"/>
            <a:ext cx="5090007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15887" y="2359152"/>
            <a:ext cx="5090007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Pj. WALI KOTA BEKASI,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15887" y="2578608"/>
            <a:ext cx="5090007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ttd.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5887" y="2798064"/>
            <a:ext cx="5090007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R. GANI MUHAMAD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629400"/>
            <a:ext cx="12191695" cy="27432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6473952"/>
            <a:ext cx="365760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9CA3AF"/>
                </a:solidFill>
                <a:latin typeface="Calibri"/>
              </a:defRPr>
            </a:pPr>
            <a:r>
              <a:t>Sumber: Perwal Bekasi No 51/2024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277295" y="6473952"/>
            <a:ext cx="7315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9CA3AF"/>
                </a:solidFill>
                <a:latin typeface="Calibri"/>
              </a:defRPr>
            </a:pPr>
            <a:r>
              <a:t>31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914400" y="-1371600"/>
            <a:ext cx="4114800" cy="4114800"/>
          </a:xfrm>
          <a:prstGeom prst="ellipse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772400" y="-1828800"/>
            <a:ext cx="6400800" cy="6400800"/>
          </a:xfrm>
          <a:prstGeom prst="ellipse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144000" y="4114800"/>
            <a:ext cx="4572000" cy="4572000"/>
          </a:xfrm>
          <a:prstGeom prst="ellipse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3291840"/>
            <a:ext cx="3200400" cy="36576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11094415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C8962E"/>
                </a:solidFill>
                <a:latin typeface="Calibri"/>
              </a:defRPr>
            </a:pPr>
            <a:r>
              <a:t>BERITA DAERAH KOTA BEKASI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194560"/>
            <a:ext cx="11094415" cy="1371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4800" b="1">
                <a:solidFill>
                  <a:srgbClr val="FFFFFF"/>
                </a:solidFill>
                <a:latin typeface="Calibri"/>
              </a:defRPr>
            </a:pPr>
            <a:r>
              <a:t>TERIMA KASIH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749039"/>
            <a:ext cx="11094415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E8EDF5"/>
                </a:solidFill>
                <a:latin typeface="Calibri"/>
              </a:defRPr>
            </a:pPr>
            <a:r>
              <a:t>Peraturan Wali Kota Bekasi Nomor 51 Tahun 2024</a:t>
            </a:r>
            <a:br/>
            <a:r>
              <a:t>Tentang Pengelolaan Pajak Reklame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663440"/>
            <a:ext cx="11094415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9CA3AF"/>
                </a:solidFill>
                <a:latin typeface="Calibri"/>
              </a:defRPr>
            </a:pPr>
            <a:r>
              <a:t>Sumber: https://jdih.bekasikota.go.id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