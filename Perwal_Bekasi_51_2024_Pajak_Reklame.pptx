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2194560"/>
            <a:ext cx="32004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5303520"/>
            <a:ext cx="2286000" cy="3657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DAERAH KOTA BEKASI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51  ·  TAHUN 2024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WALI KOTA BEKASI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NOMOR 51 TAHUN 2024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TENTANG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PAJAK REKLAME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Pemerintah Kota Bekasi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846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Ditetapkan: 20 Desember 2024  ·  Berlaku sejak diundangkan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ISI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Wali Kota Bekasi Nomor 51 Tahun 2024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05840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2412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691640" y="102412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Umum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481328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9961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49961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Pajak, Subjek Pajak, Wajib Pajak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1956816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75104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91640" y="1975104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Pajak, Tahun Pajak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2432304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450592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91640" y="245059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 &amp; Pendataan WP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2907792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92608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292608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Sewa Reklame (NSR)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40156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691640" y="34015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Pajak Reklame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858768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877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691640" y="387705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 Pajak Terutang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334256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352544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VIII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691640" y="4352544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Tagihan Pajak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809744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828032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691640" y="482803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&amp; Penyetoran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8640" y="5285232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5303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691640" y="53035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Pembetulan &amp; Pembatalan Ketetapan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17920" y="1005840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102412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0920" y="102412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Pengembalian Kelebihan Bayar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217920" y="1481328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41" name="Text 39"/>
          <p:cNvSpPr/>
          <p:nvPr/>
        </p:nvSpPr>
        <p:spPr>
          <a:xfrm>
            <a:off x="6217920" y="149961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XII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360920" y="149961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 Pajak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217920" y="1956816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44" name="Text 42"/>
          <p:cNvSpPr/>
          <p:nvPr/>
        </p:nvSpPr>
        <p:spPr>
          <a:xfrm>
            <a:off x="6217920" y="1975104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XIII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360920" y="1975104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Penagihan Pajak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217920" y="2432304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47" name="Text 45"/>
          <p:cNvSpPr/>
          <p:nvPr/>
        </p:nvSpPr>
        <p:spPr>
          <a:xfrm>
            <a:off x="6217920" y="2450592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XIV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60920" y="245059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Penagihan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6217920" y="2907792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50" name="Text 48"/>
          <p:cNvSpPr/>
          <p:nvPr/>
        </p:nvSpPr>
        <p:spPr>
          <a:xfrm>
            <a:off x="6217920" y="292608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XV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360920" y="292608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Penghapusan Piutang Pajak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217920" y="3383280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3401568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XVI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360920" y="34015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Keringanan, Pengurangan, Pembebasan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217920" y="3858768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56" name="Text 54"/>
          <p:cNvSpPr/>
          <p:nvPr/>
        </p:nvSpPr>
        <p:spPr>
          <a:xfrm>
            <a:off x="6217920" y="3877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XVII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360920" y="387705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Kemudahan Perpajakan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6217920" y="4334256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59" name="Text 57"/>
          <p:cNvSpPr/>
          <p:nvPr/>
        </p:nvSpPr>
        <p:spPr>
          <a:xfrm>
            <a:off x="6217920" y="4352544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XVIII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360920" y="4352544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Keberatan &amp; Banding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6217920" y="4809744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62" name="Text 60"/>
          <p:cNvSpPr/>
          <p:nvPr/>
        </p:nvSpPr>
        <p:spPr>
          <a:xfrm>
            <a:off x="6217920" y="4828032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XIX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7360920" y="482803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Penghargaan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217920" y="5285232"/>
            <a:ext cx="1005840" cy="347472"/>
          </a:xfrm>
          <a:prstGeom prst="roundRect">
            <a:avLst/>
          </a:prstGeom>
          <a:solidFill>
            <a:srgbClr val="2D7DD2"/>
          </a:solidFill>
          <a:ln/>
        </p:spPr>
      </p:sp>
      <p:sp>
        <p:nvSpPr>
          <p:cNvPr id="65" name="Text 63"/>
          <p:cNvSpPr/>
          <p:nvPr/>
        </p:nvSpPr>
        <p:spPr>
          <a:xfrm>
            <a:off x="6217920" y="5303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XX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360920" y="53035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Penutup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68" name="Text 6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I: KETENTUAN UMUM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 — 45 Definisi dan Istilah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Definisi Kunci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Daerah — Daerah Kota Bekasi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Pemerintah Daerah — Wali Kota sebagai unsur penyelenggara pemerintahan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 — Badan Pendapatan Daerah Kota Bekasi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— Benda/alat/media untuk tujuan komersial memperkenalkan, mempromosikan sesuatu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Pajak Reklame — Pajak atas penyelenggaraan reklame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Sewa Reklame (NSR) — Dasar pengenaan Pajak Reklame (nilai jual + nilai strategis)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NPWPD — Nomor Pokok Wajib Pajak Daerah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NOPD — Nomor Objek Pajak Daerah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 — Surat Ketetapan Pajak Daerah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Pajak — Orang pribadi/badan dengan hak dan kewajiban perpajakan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Penanggung Pajak — Pihak bertanggung jawab atas pembayaran pajak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 — hanya definisi kunci yang ditampilkan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II: OBJEK PAJAK, SUBJEK PAJAK, DAN WAJIB PAJAK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2–4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&amp; Pengecualian Objek Pajak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029200" cy="5029200"/>
          </a:xfrm>
          <a:prstGeom prst="roundRect">
            <a:avLst/>
          </a:prstGeom>
          <a:solidFill>
            <a:srgbClr val="E8EDF5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Pajak Reklame (Pasal 2 ayat 1-2):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penyelenggaraan reklame: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Papan/Billboard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Videotron/Megatron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Kain (spanduk, umbul, baliho)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Melekat/Stiker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Selebaran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Berjalan (kendaraan)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Udara (balon gas)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Apung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Film/Slide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Peragaan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0" y="914400"/>
            <a:ext cx="5029200" cy="5029200"/>
          </a:xfrm>
          <a:prstGeom prst="roundRect">
            <a:avLst/>
          </a:prstGeom>
          <a:solidFill>
            <a:srgbClr val="E6F7E6">
              <a:alpha val="5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0807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Dikecualikan dari Objek (Pasal 2 ayat 3):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Internet, TV, radio, media cetak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Label/merek produk pada barang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usaha/profesi ≤ 1 m² di tempat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Pemerintah/Pemerintah Daerah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tempat ibadah &amp; panti asuhan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tanah ≤ 1 m²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Kegiatan politik (masa kampanye KPU)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Sosial/keagamaan (≤ 30 hari)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Olahraga KONI (≤ 30 hari)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 &amp; Wajib Pajak (Pasal 3–4)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 Pajak Reklame (Pasal 3): Orang pribadi atau Badan yang menggunakan Reklame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Pajak Reklame (Pasal 4):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 pribadi atau Badan yang menyelenggarakan Reklame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reklame diselenggarakan pihak ketiga → pihak ketiga menjadi Wajib Pajak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III: MASA PAJAK, TAHUN PAJAK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Pajak &amp; Tahun Pajak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0944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9448" y="1005840"/>
            <a:ext cx="34747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8" name="Text 6"/>
          <p:cNvSpPr/>
          <p:nvPr/>
        </p:nvSpPr>
        <p:spPr>
          <a:xfrm>
            <a:off x="74660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Pajak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660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Permanen: 12 bulan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Sesuai masa penayangan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Insidentil: per hari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30 hari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5848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58488" y="1005840"/>
            <a:ext cx="34747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449564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Tahun Pajak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9564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tahun kalender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Atau sesuai tahun buku WP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752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07528" y="1005840"/>
            <a:ext cx="34747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824468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Tahun Pajak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4468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tahun pajak atas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bulan kalender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Beberapa bulan kalender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9" name="Text 1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IV: PENDAFTARAN &amp; PENDATAAN WAJIB PAJAK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6–8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Pendaftaran, Pendataan &amp; Penonaktifan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0944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9448" y="1005840"/>
            <a:ext cx="34747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8" name="Text 6"/>
          <p:cNvSpPr/>
          <p:nvPr/>
        </p:nvSpPr>
        <p:spPr>
          <a:xfrm>
            <a:off x="74660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Pendaftaran WP (Pasal 6)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660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wajib daftarkan diri &amp; objek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ambil di Bapenda/online/dikirim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Lampirkan: KTP, NPWP, Akta, NIB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kuasa (jika dikuasakan)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 terbitkan NPWPD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tidak daftar → NPWPD jabatan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5848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58488" y="1005840"/>
            <a:ext cx="34747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449564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Pendataan (Pasal 7)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9564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 lakukan pendataan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&amp; objek Pajak Reklame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Termasuk data geografis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 kerjasama dg instansi lain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752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07528" y="1005840"/>
            <a:ext cx="34747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824468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Penonaktifan (Pasal 8)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4468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WP tak penuhi syarat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Jabatan atau permohonan WP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maks. 3 bulan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Syarat: tanpa tunggakan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sedang ajukan keberatan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nonaktif wajib lapor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9" name="Text 1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V: NILAI SEWA REKLAME (NSR)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9 — Dasar Pengenaan Pajak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Faktor Penentu NSR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 pengenaan Pajak Reklame adalah Nilai Sewa Reklame (NSR)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= Nilai Jual Objek Pajak Reklame + Nilai Strategis Pemasangan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Faktor Perhitungan NSR: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reklame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Bahan yang digunakan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penempatan (Kelas Jalan)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(satuan detik)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Jangka waktu (hari kalender)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media reklame (lembar)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media reklame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9 ayat (1)–(2)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Klasifikasi Kelas Jalan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Jalan Khusus: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Tol | Zona Premium I | Zona Premium II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I: Jl. A. Yani, Cut Mutia, Juanda, Sudirman, Sultan Agung, Transyogi, KH. Noer Ali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II: Jl. Narogong Siliwangi, Jatiwaringin, Pekayon Jatiasih, Jatiasih Pondokgede, Jatimakmur, Joyo Martono, Chairil Anwar, Bintara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Jalan I (Kendali Ketat):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Lebar &gt; 3 m, pusat pelayanan/permukiman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Kelas Jalan II (Kendali Sedang):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Lebar ≤ 3 m atau jalan lingkungan perumahan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9 ayat (3)–(8)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VI: PERHITUNGAN PAJAK REKLAME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10 — Tarif &amp; Rumus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 Dasar Perhitungan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 Dasar: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Pajak Reklame = Tarif Pajak Reklame × NSR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 NSR Papan/Billboard &amp; Megatron/Videotron: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Kelas Jalan × Ukuran (m²) × Jumlah × Jangka Waktu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Khusus: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indoor: NSR = 50% dari hasil perhitungan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Ketinggian &gt; 15 m: tambahan 20% dari NSR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tembakau &amp; minuman keras: tambahan 50% dari NSR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naskah dalam 1 badan usaha: dikecualikan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bentuk/ukuran: pajak atas selisih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10 ayat (1)–(13)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Reklame Papan/Billboard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(Rp/m²/hari)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 Tol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23.575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16.100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14.950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Ketat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13.225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Sedang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11.500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10 ayat (5) huruf a · Satuan: 1 m², 1 buah, 1 hari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Megatron/Videotron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246888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(/30 detik)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(/m²/tahun)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 Tol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17,25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13.599.900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13,80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10.879.920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9,20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7.253.280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Ketat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8,05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6.346.620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Sedang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5,75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4.533.300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10 ayat (5) huruf b · 18 jam/hari = 2.160 tayangan/hari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Reklame Kain (Spanduk, Umbul, Baliho)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NSR (Rp/m²/hari)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Jalan Tol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30.000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Khusus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25.000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Ketat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20.000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Kelas Jalan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Kendali Sedang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 19.000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10 ayat (5) huruf c · Satuan: 1 m², 1 buah, 1 hari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Jenis Reklame Lainnya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7228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2288" y="1005840"/>
            <a:ext cx="260604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8" name="Text 6"/>
          <p:cNvSpPr/>
          <p:nvPr/>
        </p:nvSpPr>
        <p:spPr>
          <a:xfrm>
            <a:off x="60944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Stiker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44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7,5/cm²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Rp 750.000/kali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5264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52648" y="1005840"/>
            <a:ext cx="26060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8980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80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750.000/m²/tahun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33008" y="1005840"/>
            <a:ext cx="260604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Selebaran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7016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600/lembar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Rp 6.000.000/kali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1336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13368" y="1005840"/>
            <a:ext cx="2606040" cy="54864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0" name="Text 18"/>
          <p:cNvSpPr/>
          <p:nvPr/>
        </p:nvSpPr>
        <p:spPr>
          <a:xfrm>
            <a:off x="925052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Berjalan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5052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6.000/m²/hari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Termasuk kendaraan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3" name="Text 21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NSR — Jenis Reklame Lainnya (lanjutan)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7228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2288" y="1005840"/>
            <a:ext cx="260604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8" name="Text 6"/>
          <p:cNvSpPr/>
          <p:nvPr/>
        </p:nvSpPr>
        <p:spPr>
          <a:xfrm>
            <a:off x="60944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44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2.400.000/sekali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1 bulan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5264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52648" y="1005840"/>
            <a:ext cx="26060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8980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80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600.000/sekali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1 bulan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33008" y="1005840"/>
            <a:ext cx="260604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Film/Slide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7016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12.000/15 detik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Kurang 15" dibulatkan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1336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13368" y="1005840"/>
            <a:ext cx="2606040" cy="54864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0" name="Text 18"/>
          <p:cNvSpPr/>
          <p:nvPr/>
        </p:nvSpPr>
        <p:spPr>
          <a:xfrm>
            <a:off x="925052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Peragaan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5052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 480.000/penyelenggaraan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3" name="Text 21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VII: PENETAPAN PAJAK TERUTANG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Skema Penetapan Pajak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7228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2288" y="1005840"/>
            <a:ext cx="260604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8" name="Text 6"/>
          <p:cNvSpPr/>
          <p:nvPr/>
        </p:nvSpPr>
        <p:spPr>
          <a:xfrm>
            <a:off x="60944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Mendaftar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944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 berdasarkan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pendaftaran WP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5264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52648" y="1005840"/>
            <a:ext cx="26060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8980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Tidak Mendaftar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80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 diterbitkan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secara JABATAN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33008" y="1005840"/>
            <a:ext cx="260604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Pemeriksaan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7016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pajak &gt; laporan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 sesuai temuan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sanksi admin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13368" y="1005840"/>
            <a:ext cx="260604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13368" y="1005840"/>
            <a:ext cx="2606040" cy="54864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0" name="Text 18"/>
          <p:cNvSpPr/>
          <p:nvPr/>
        </p:nvSpPr>
        <p:spPr>
          <a:xfrm>
            <a:off x="9250528" y="11430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Waktu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50528" y="1554480"/>
            <a:ext cx="2331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5 tahun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sejak terutangnya pajak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3" name="Text 21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VIII: SURAT TAGIHAN PAJAK (STPD)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STPD — Surat Tagihan Pajak Daerah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029200" cy="5029200"/>
          </a:xfrm>
          <a:prstGeom prst="roundRect">
            <a:avLst/>
          </a:prstGeom>
          <a:solidFill>
            <a:srgbClr val="E8EDF5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 Penerbitan STPD: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Jangka waktu ≤ 5 tahun sejak terutang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Pajak SKPD tidak/kurang dibayar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setelah jatuh tempo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SK Pembetulan/Keberatan/Banding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tidak/kurang dibayar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WP dikenakan sanksi admin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berupa bunga/denda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0" y="914400"/>
            <a:ext cx="5029200" cy="5029200"/>
          </a:xfrm>
          <a:prstGeom prst="roundRect">
            <a:avLst/>
          </a:prstGeom>
          <a:solidFill>
            <a:srgbClr val="E6F7E6">
              <a:alpha val="5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0807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Sanksi Bunga: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Huruf a: Bunga 1% per bulan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pajak kurang bayar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24 bulan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Huruf b: Bunga 0,6% per bulan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pajak kurang bayar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24 bulan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bulan dihitung 1 bulan penuh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IX: PEMBAYARAN DAN PENYETORAN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13–14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Cara Pembayaran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Pembayaran: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Lunas melalui Kas Daerah / tempat ditunjuk Wali Kota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Prioritas: sistem pembayaran elektronik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tidak tersedia: pembayaran tunai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Jatuh Tempo: Paling lama 1 bulan sejak pengiriman SKPD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Keterlambatan: Sanksi bunga 1%/bulan (maks. 24 bulan) + STPD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STPD harus dilunasi ≤ 30 hari sejak pengiriman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Tanda Bukti: Stiker reklame + bukti dari Bank Persepsi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13–14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X: PEMBETULAN &amp; PEMBATALAN KETETAPAN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15–20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 &amp; Prosedur Pembetulan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029200" cy="5029200"/>
          </a:xfrm>
          <a:prstGeom prst="roundRect">
            <a:avLst/>
          </a:prstGeom>
          <a:solidFill>
            <a:srgbClr val="E8EDF5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 Pembetulan (Pasal 15):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Kesalahan tulis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Nama, alamat, NPWPD, nomor surat,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pajak, SKPD ganda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Kesalahan hitung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Penjumlahan, pengurangan,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perkalian, pembagian, tarif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Kekeliruan penerapan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 perundang-undangan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0" y="914400"/>
            <a:ext cx="5029200" cy="5029200"/>
          </a:xfrm>
          <a:prstGeom prst="roundRect">
            <a:avLst/>
          </a:prstGeom>
          <a:solidFill>
            <a:srgbClr val="E6F7E6">
              <a:alpha val="5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0807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 (Pasal 16–20):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permohonan = 1 ketetapan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Diajukan tertulis (B. Indonesia)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Lampirkan identitas + dokumen asli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Keputusan: maks. 6 bulan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&gt; 6 bulan → dikabulkan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Keputusan: kabul/tambah/kurang/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hapus/batal/tolak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Pembetulan jabatan (Pasal 19)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 diulang jika masih salah (Pasal 20)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XI: PENGEMBALIAN KELEBIHAN PEMBAYARAN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 Pengembalian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berhak mengajukan permohonan pengembalian kelebihan pembayaran pajak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Pengembalian: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mengajukan → Keputusan maks. 12 bulan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&gt; 12 bulan tanpa keputusan → dianggap dikabulkan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SKPDLB diterbitkan dalam 1 bulan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WP punya utang pajak lain → kelebihan diperhitungkan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Pengembalian dana: maks. 2 bulan sejak SKPDLB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terlambat → imbalan bunga 0,6%/bulan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XII: PEMERIKSAAN PAJAK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22–23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 Pajak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0944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9448" y="1005840"/>
            <a:ext cx="34747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8" name="Text 6"/>
          <p:cNvSpPr/>
          <p:nvPr/>
        </p:nvSpPr>
        <p:spPr>
          <a:xfrm>
            <a:off x="74660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Kewenangan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660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Kepala Bapenda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berwenang periksa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kepatuhan WP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lain: NPWPD,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keberatan, penagihan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5848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58488" y="1005840"/>
            <a:ext cx="34747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449564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Kewajiban WP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9564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Tunjukkan buku/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catatan/dokumen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akses tempat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keterangan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tidak → pajak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ditetapkan jabatan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752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07528" y="1005840"/>
            <a:ext cx="34747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824468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WP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4468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Minta identitas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Minta penjelasan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tujuan periksa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hasil periksa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tanggapan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9" name="Text 1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XIII: PENAGIHAN PAJAK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Penagihan Pajak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 Penagihan Pajak: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 | SKPDKB | SKPDKBT | STPD | SK Pembetulan | SK Keberatan | Putusan Banding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Sebelum jatuh tempo → imbauan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Setelah jatuh tempo &amp; belum lunas → Penagihan Pajak sesuai peraturan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XIV: KEDALUWARSA PENAGIHAN PAJAK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Penagihan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Jangka Waktu: 5 tahun sejak terutangnya pajak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Kecuali WP melakukan tindak pidana perpajakan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Tertangguh jika: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Diterbitkan Surat Teguran dan/atau Surat Paksa</a:t>
            </a:r>
            <a:endParaRPr lang="en-US" sz="15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Dihitung sejak tanggal penyampaian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Ada pengakuan utang pajak dari WP</a:t>
            </a:r>
            <a:endParaRPr lang="en-US" sz="15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Langsung: WP menyatakan masih punya utang</a:t>
            </a:r>
            <a:endParaRPr lang="en-US" sz="15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Tidak langsung: ajukan angsuran/penundaan/keberatan</a:t>
            </a:r>
            <a:endParaRPr lang="en-US" sz="15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Dihitung sejak tanggal pengakuan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XV: PENGHAPUSAN PIUTANG PAJAK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 Penghapusan Piutang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Piutang yang tidak mungkin ditagih lagi karena kedaluwarsa → dapat dihapuskan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Bapenda melakukan penelitian → Berita Acara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peneliti ditetapkan Keputusan Wali Kota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Kepala Bapenda susun daftar usulan penghapusan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Disampaikan ke Wali Kota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Ditetapkan dengan Keputusan Wali Kota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Pertimbangan: Penagihan sampai batas kedaluwarsa + koordinasi Inspektorat Daerah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XVI: KERINGANAN, PENGURANGAN, &amp; PEMBEBASAN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27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Fasilitas Pajak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0944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9448" y="1005840"/>
            <a:ext cx="3474720" cy="54864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8" name="Text 6"/>
          <p:cNvSpPr/>
          <p:nvPr/>
        </p:nvSpPr>
        <p:spPr>
          <a:xfrm>
            <a:off x="74660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Bentuk Fasilitas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660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Keringanan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Pengurangan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Pembebasan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Penundaan bayar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Atas pokok &amp;/ sanksi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5848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58488" y="1005840"/>
            <a:ext cx="347472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449564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Kondisi WP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9564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Kemampuan membayar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likuiditas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07528" y="1005840"/>
            <a:ext cx="3474720" cy="5029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07528" y="1005840"/>
            <a:ext cx="3474720" cy="548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6" name="Text 14"/>
          <p:cNvSpPr/>
          <p:nvPr/>
        </p:nvSpPr>
        <p:spPr>
          <a:xfrm>
            <a:off x="8244688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Kondisi Objek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44688" y="1554480"/>
            <a:ext cx="32004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Bencana alam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Kebakaran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Huru-hara/kerusuhan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9" name="Text 1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XVII: KEMUDAHAN PERPAJAKAN DAERAH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28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Kemudahan Perpajakan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Bentuk Kemudahan: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Perpanjangan batas waktu bayar — untuk WP keadaan kahar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Fasilitas angsuran/penundaan — untuk WP kesulitan likuiditas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Keadaan Kahar: Bencana alam | Kebakaran | Kerusuhan | Wabah | Keadaan lain (keputusan Wali Kota)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Ketentuan: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Jangka waktu: maks. 24 bulan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Bunga: 0,6%/bulan dari jumlah pajak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Wali Kota lihat kepatuhan WP 2 tahun terakhir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XVIII: KEBERATAN DAN BANDING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29–33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Keberatan (Pasal 29–31)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029200" cy="5029200"/>
          </a:xfrm>
          <a:prstGeom prst="roundRect">
            <a:avLst/>
          </a:prstGeom>
          <a:solidFill>
            <a:srgbClr val="E8EDF5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Keberatan: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SKPD, SKPDKB, SKPDKBT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SKPDLB, SKPDN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Pemotongan pihak ke-3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Tertulis B. Indonesia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3 bulan sejak SKPD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 bayar min. yg disetujui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Keputusan: maks. 12 bulan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tanpa keputusan → dikabulkan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ditolak: denda 30%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0" y="914400"/>
            <a:ext cx="5029200" cy="5029200"/>
          </a:xfrm>
          <a:prstGeom prst="roundRect">
            <a:avLst/>
          </a:prstGeom>
          <a:solidFill>
            <a:srgbClr val="E6F7E6">
              <a:alpha val="5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0807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Banding (Pasal 32–33):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Banding: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 Keberatan → badan peradilan pajak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3 bulan sejak keputusan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Efek: Menangguhkan kewajiban bayar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Sampai 1 bulan sejak Putusan Banding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ditolak: denda 60%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Jika dikabulkan: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kelebihan + bunga 0,6%/bln (maks. 24 bln)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Sanksi 30% tidak dikenakan jika banding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XIX: PENGHARGAAN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34–35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82296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82880"/>
            <a:ext cx="73152" cy="50292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Penghargaan WP Taat Pajak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51560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Bentuk: Piagam | Hadiah | dan/atau sejenisnya (dibebankan ke APBD)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Kriteria WP Taat Pajak: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Bayar tepat waktu minimal 1 tahun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tunggakan 3 tahun terakhir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signifikan pada program Pemda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Penetapan: Keputusan Wali Kota + tim penilai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34–35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9" name="Text 7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3657600" cy="36576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828800"/>
            <a:ext cx="18288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1031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XX: KETENTUAN PENUTUP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36–37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"/>
            <a:ext cx="12191695" cy="731520"/>
          </a:xfrm>
          <a:prstGeom prst="rect">
            <a:avLst/>
          </a:prstGeom>
          <a:solidFill>
            <a:srgbClr val="F0F2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"/>
            <a:ext cx="73152" cy="457200"/>
          </a:xfrm>
          <a:prstGeom prst="rect">
            <a:avLst/>
          </a:prstGeom>
          <a:solidFill>
            <a:srgbClr val="2D7DD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Pencabutan &amp; Mulai Berlaku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029200" cy="5029200"/>
          </a:xfrm>
          <a:prstGeom prst="roundRect">
            <a:avLst/>
          </a:prstGeom>
          <a:solidFill>
            <a:srgbClr val="E8EDF5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36 — Pencabutan: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dicabut: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Perwal No. 48/2012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Petunjuk Pelaksanaan Perda 14/2012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Perwal No. 52/2013</a:t>
            </a:r>
            <a:endParaRPr lang="en-US" sz="14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Perwal 48/2012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0" y="914400"/>
            <a:ext cx="5029200" cy="5029200"/>
          </a:xfrm>
          <a:prstGeom prst="roundRect">
            <a:avLst/>
          </a:prstGeom>
          <a:solidFill>
            <a:srgbClr val="E6F7E6">
              <a:alpha val="5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080760" y="1005840"/>
            <a:ext cx="47548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37 — Mulai Berlaku: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Berlaku sejak diundangkan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━━━━━━━━━━━━━━━━━━━━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Ditetapkan: 20 Des 2024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Pj. WALI KOTA BEKASI,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ttd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 GANI MUHAMAD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Diundangkan: 20 Des 2024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SEKDA KOTA BEKASI,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ttd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JUNAEDI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1" name="Text 9"/>
          <p:cNvSpPr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5486400" cy="54864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657600"/>
            <a:ext cx="4572000" cy="4572000"/>
          </a:xfrm>
          <a:prstGeom prst="ellipse">
            <a:avLst/>
          </a:prstGeom>
          <a:solidFill>
            <a:srgbClr val="1229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3108960"/>
            <a:ext cx="32004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DAERAH KOTA BEKASI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3657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Wali Kota Bekasi Nomor 51 Tahun 2024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Tentang Pengelolaan Pajak Reklame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https://jdih.bekasikota.go.id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01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Peraturan Wali Kota Bekasi Nomor 51 Tahun 2024 — Pengelolaan Pajak Reklame</dc:title>
  <dc:subject>Peraturan Daerah</dc:subject>
  <dc:creator>Pemerintah Kota Bekasi</dc:creator>
  <cp:lastModifiedBy>Pemerintah Kota Bekasi</cp:lastModifiedBy>
  <cp:revision>1</cp:revision>
  <dcterms:created xsi:type="dcterms:W3CDTF">2026-06-20T11:35:37Z</dcterms:created>
  <dcterms:modified xsi:type="dcterms:W3CDTF">2026-06-20T11:35:37Z</dcterms:modified>
</cp:coreProperties>
</file>