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377440"/>
            <a:ext cx="36576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BEKASI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1277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51 TAHUN 2024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112772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PAJAK REKLAME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457200" y="4937760"/>
            <a:ext cx="6858000" cy="822960"/>
          </a:xfrm>
          <a:prstGeom prst="roundRect">
            <a:avLst/>
          </a:prstGeom>
          <a:solidFill>
            <a:srgbClr val="0D1F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983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Kota Bekasi  ·  20 Desember 2024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sejak diundangkan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ISI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Bekasi No 51/2024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6628" y="100584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8068" y="1078992"/>
            <a:ext cx="457200" cy="457200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998068" y="10972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92428" y="10789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Umum &amp; Definisi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06628" y="178308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8068" y="1856232"/>
            <a:ext cx="457200" cy="457200"/>
          </a:xfrm>
          <a:prstGeom prst="round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998068" y="1874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92428" y="18562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Objek, Subjek &amp; Wajib Pajak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6628" y="256032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068" y="2633472"/>
            <a:ext cx="457200" cy="457200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98068" y="26517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92428" y="263347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&amp; Tahun Pajak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28" y="333756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8068" y="3410712"/>
            <a:ext cx="457200" cy="457200"/>
          </a:xfrm>
          <a:prstGeom prst="roundRect">
            <a:avLst/>
          </a:prstGeom>
          <a:solidFill>
            <a:srgbClr val="1B3A6B"/>
          </a:solidFill>
          <a:ln/>
        </p:spPr>
      </p:sp>
      <p:sp>
        <p:nvSpPr>
          <p:cNvPr id="21" name="Text 19"/>
          <p:cNvSpPr/>
          <p:nvPr/>
        </p:nvSpPr>
        <p:spPr>
          <a:xfrm>
            <a:off x="998068" y="34290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92428" y="34107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 WP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6628" y="411480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8068" y="4187952"/>
            <a:ext cx="457200" cy="457200"/>
          </a:xfrm>
          <a:prstGeom prst="roundRect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998068" y="42062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92428" y="418795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(NSR)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628" y="489204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8068" y="4965192"/>
            <a:ext cx="457200" cy="457200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998068" y="49834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92428" y="49651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&amp; Tarif Pajak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55868" y="100584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47308" y="1078992"/>
            <a:ext cx="457200" cy="457200"/>
          </a:xfrm>
          <a:prstGeom prst="round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6347308" y="10972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41668" y="10789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Penetapan, Tagihan &amp; Pembayaran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55868" y="178308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47308" y="1856232"/>
            <a:ext cx="457200" cy="457200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37" name="Text 35"/>
          <p:cNvSpPr/>
          <p:nvPr/>
        </p:nvSpPr>
        <p:spPr>
          <a:xfrm>
            <a:off x="6347308" y="1874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1668" y="18562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Pembetulan, Keberatan &amp; Banding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255868" y="256032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47308" y="2633472"/>
            <a:ext cx="457200" cy="457200"/>
          </a:xfrm>
          <a:prstGeom prst="roundRect">
            <a:avLst/>
          </a:prstGeom>
          <a:solidFill>
            <a:srgbClr val="1B3A6B"/>
          </a:solidFill>
          <a:ln/>
        </p:spPr>
      </p:sp>
      <p:sp>
        <p:nvSpPr>
          <p:cNvPr id="41" name="Text 39"/>
          <p:cNvSpPr/>
          <p:nvPr/>
        </p:nvSpPr>
        <p:spPr>
          <a:xfrm>
            <a:off x="6347308" y="26517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41668" y="263347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Pemeriksaan, Penagihan &amp; Penghapusan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255868" y="333756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47308" y="3410712"/>
            <a:ext cx="457200" cy="457200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45" name="Text 43"/>
          <p:cNvSpPr/>
          <p:nvPr/>
        </p:nvSpPr>
        <p:spPr>
          <a:xfrm>
            <a:off x="6347308" y="34290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41668" y="34107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Keringanan, Kemudahan &amp; Penghargaan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255868" y="4114800"/>
            <a:ext cx="5029200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47308" y="4187952"/>
            <a:ext cx="457200" cy="457200"/>
          </a:xfrm>
          <a:prstGeom prst="roundRect">
            <a:avLst/>
          </a:prstGeom>
          <a:solidFill>
            <a:srgbClr val="0D9488"/>
          </a:solidFill>
          <a:ln/>
        </p:spPr>
      </p:sp>
      <p:sp>
        <p:nvSpPr>
          <p:cNvPr id="49" name="Text 47"/>
          <p:cNvSpPr/>
          <p:nvPr/>
        </p:nvSpPr>
        <p:spPr>
          <a:xfrm>
            <a:off x="6347308" y="42062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41668" y="418795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Penutup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2" name="Text 50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UMUM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 — Definisi Kunci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 Penting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78992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10185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🏛️</a:t>
            </a:r>
            <a:endParaRPr lang="en-US" sz="23" dirty="0"/>
          </a:p>
        </p:txBody>
      </p:sp>
      <p:sp>
        <p:nvSpPr>
          <p:cNvPr id="9" name="Text 7"/>
          <p:cNvSpPr/>
          <p:nvPr/>
        </p:nvSpPr>
        <p:spPr>
          <a:xfrm>
            <a:off x="1143000" y="1042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Daerah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298448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Bekasi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19072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792224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181508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endParaRPr lang="en-US" sz="23" dirty="0"/>
          </a:p>
        </p:txBody>
      </p:sp>
      <p:sp>
        <p:nvSpPr>
          <p:cNvPr id="14" name="Text 12"/>
          <p:cNvSpPr/>
          <p:nvPr/>
        </p:nvSpPr>
        <p:spPr>
          <a:xfrm>
            <a:off x="1143000" y="175564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01168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Badan Pendapatan Daerah Kota Bekasi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505456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52831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📢</a:t>
            </a:r>
            <a:endParaRPr lang="en-US" sz="23" dirty="0"/>
          </a:p>
        </p:txBody>
      </p:sp>
      <p:sp>
        <p:nvSpPr>
          <p:cNvPr id="19" name="Text 17"/>
          <p:cNvSpPr/>
          <p:nvPr/>
        </p:nvSpPr>
        <p:spPr>
          <a:xfrm>
            <a:off x="114300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272491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untuk promosi &amp; pengenalan komersial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145536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2415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💰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1143000" y="31821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Reklame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" y="3438144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atas penyelenggaraan reklame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858768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3931920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9547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📐</a:t>
            </a:r>
            <a:endParaRPr lang="en-US" sz="23" dirty="0"/>
          </a:p>
        </p:txBody>
      </p:sp>
      <p:sp>
        <p:nvSpPr>
          <p:cNvPr id="29" name="Text 27"/>
          <p:cNvSpPr/>
          <p:nvPr/>
        </p:nvSpPr>
        <p:spPr>
          <a:xfrm>
            <a:off x="1143000" y="389534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43000" y="41513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— dasar pengenaan pajak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645152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6680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🆔</a:t>
            </a:r>
            <a:endParaRPr lang="en-US" sz="23" dirty="0"/>
          </a:p>
        </p:txBody>
      </p:sp>
      <p:sp>
        <p:nvSpPr>
          <p:cNvPr id="34" name="Text 32"/>
          <p:cNvSpPr/>
          <p:nvPr/>
        </p:nvSpPr>
        <p:spPr>
          <a:xfrm>
            <a:off x="1143000" y="46085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NPWPD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3000" y="4864608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Pokok Wajib Pajak Daerah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85232"/>
            <a:ext cx="11277295" cy="5943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5358384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538124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👤</a:t>
            </a:r>
            <a:endParaRPr lang="en-US" sz="23" dirty="0"/>
          </a:p>
        </p:txBody>
      </p:sp>
      <p:sp>
        <p:nvSpPr>
          <p:cNvPr id="39" name="Text 37"/>
          <p:cNvSpPr/>
          <p:nvPr/>
        </p:nvSpPr>
        <p:spPr>
          <a:xfrm>
            <a:off x="1143000" y="53218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143000" y="557784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pribadi/badan dengan hak &amp; kewajiban pajak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2" name="Text 40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OBJEK, SUBJEK &amp; WAJIB PAJAK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2–4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Pajak Reklame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53492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44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74660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4660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746608" y="160020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Jenis Reklame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6608" y="1965960"/>
            <a:ext cx="50749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/ Billboard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Videotron / Megatron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Kain (Spanduk, Umbul, Baliho)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Melekat / Stiker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Selebaran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 (Kendaraan)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(Balon Gas)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Apung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/ Slide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Peragaan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33008" y="1005840"/>
            <a:ext cx="53492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300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7016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37016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🚫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6370168" y="160020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Dikecualikan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0168" y="1965960"/>
            <a:ext cx="50749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Internet, TV, radio, media cetak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merek produk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usaha ≤ 1 m² di tempat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Pemerintah / Pemda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ibadah &amp; panti asuhan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Sosial &amp; keagamaan ≤ 30 hari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Kegiatan politik (masa kampanye)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Olahraga KONI ≤ 30 hari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&amp; Wajib Pajak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53492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44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74660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4660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👤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746608" y="160020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Pajak (Pasal 3)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6608" y="1965960"/>
            <a:ext cx="50749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 atau Badan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menggunakan Reklame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33008" y="1005840"/>
            <a:ext cx="53492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300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7016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37016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✋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6370168" y="160020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 (Pasal 4)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0168" y="1965960"/>
            <a:ext cx="50749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 atau Badan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menyelenggarakan Reklame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pihak ketiga → menjadi WP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&amp; TAHUN PAJAK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&amp; Tahun Pajak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514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5148" y="118872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9514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658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(Permanen)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550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5508" y="1188720"/>
            <a:ext cx="25603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37550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6694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(Insidentil)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5586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5868" y="1188720"/>
            <a:ext cx="256032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625586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730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Pajak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622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36228" y="1188720"/>
            <a:ext cx="2560320" cy="4572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9"/>
          <p:cNvSpPr/>
          <p:nvPr/>
        </p:nvSpPr>
        <p:spPr>
          <a:xfrm>
            <a:off x="913622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22766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(Bagian Tahun)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77295" cy="228600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56616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Masa Pajak Permanen: 12 bulan atau sesuai jangka waktu penayangan reklame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Masa Pajak Insidentil: dihitung per hari, maksimal 30 hari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Tahun Pajak: 1 tahun kalender atau sesuai tahun buku wajib pajak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Bagian Tahun Pajak: 1 bulan penuh (jika tidak mencakup satu tahun penuh)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6" name="Text 24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 WP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6–8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(Pasal 6)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wajib mendaftarkan diri &amp; objek pajak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Formulir: ambil/online/dikirim petugas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Lampirkan: KTP, NPWP, Akta, NIB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terbitkan NPWPD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mendaftar → NPWPD jabatan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Juga: NOPD &amp; nomor registrasi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PENDATAAN &amp; NONAKTIF (Pasal 7–8)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mendata WP &amp; objek pajak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data geografis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kerjasama dengan instansi lain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Penonaktifan: WP tak penuhi syarat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maksimal 3 bulan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Syarat: tanpa tunggakan &amp; keberatan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9 — Dasar Pengenaan Pajak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Faktor Penentu NSR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3728" y="10058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0888" y="12344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700888" y="125958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5" dirty="0"/>
          </a:p>
        </p:txBody>
      </p:sp>
      <p:sp>
        <p:nvSpPr>
          <p:cNvPr id="9" name="Text 7"/>
          <p:cNvSpPr/>
          <p:nvPr/>
        </p:nvSpPr>
        <p:spPr>
          <a:xfrm>
            <a:off x="1295248" y="1188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Reklame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98368" y="10058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5528" y="1234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5528" y="125958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5" dirty="0"/>
          </a:p>
        </p:txBody>
      </p:sp>
      <p:sp>
        <p:nvSpPr>
          <p:cNvPr id="13" name="Text 11"/>
          <p:cNvSpPr/>
          <p:nvPr/>
        </p:nvSpPr>
        <p:spPr>
          <a:xfrm>
            <a:off x="4129888" y="1188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10058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70168" y="1234440"/>
            <a:ext cx="502920" cy="50292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25958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5" dirty="0"/>
          </a:p>
        </p:txBody>
      </p:sp>
      <p:sp>
        <p:nvSpPr>
          <p:cNvPr id="17" name="Text 15"/>
          <p:cNvSpPr/>
          <p:nvPr/>
        </p:nvSpPr>
        <p:spPr>
          <a:xfrm>
            <a:off x="6964528" y="1188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(Kelas Jalan)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67648" y="10058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04808" y="123444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0" name="Text 18"/>
          <p:cNvSpPr/>
          <p:nvPr/>
        </p:nvSpPr>
        <p:spPr>
          <a:xfrm>
            <a:off x="9204808" y="125958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5" dirty="0"/>
          </a:p>
        </p:txBody>
      </p:sp>
      <p:sp>
        <p:nvSpPr>
          <p:cNvPr id="21" name="Text 19"/>
          <p:cNvSpPr/>
          <p:nvPr/>
        </p:nvSpPr>
        <p:spPr>
          <a:xfrm>
            <a:off x="9799168" y="1188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Tayang (detik)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3728" y="246888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0888" y="26974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700888" y="272262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5</a:t>
            </a:r>
            <a:endParaRPr lang="en-US" sz="25" dirty="0"/>
          </a:p>
        </p:txBody>
      </p:sp>
      <p:sp>
        <p:nvSpPr>
          <p:cNvPr id="25" name="Text 23"/>
          <p:cNvSpPr/>
          <p:nvPr/>
        </p:nvSpPr>
        <p:spPr>
          <a:xfrm>
            <a:off x="1295248" y="265176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 (hari)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98368" y="246888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5528" y="269748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3535528" y="272262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6</a:t>
            </a:r>
            <a:endParaRPr lang="en-US" sz="25" dirty="0"/>
          </a:p>
        </p:txBody>
      </p:sp>
      <p:sp>
        <p:nvSpPr>
          <p:cNvPr id="29" name="Text 27"/>
          <p:cNvSpPr/>
          <p:nvPr/>
        </p:nvSpPr>
        <p:spPr>
          <a:xfrm>
            <a:off x="4129888" y="265176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Media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33008" y="246888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70168" y="2697480"/>
            <a:ext cx="502920" cy="50292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370168" y="2722626"/>
            <a:ext cx="50292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7</a:t>
            </a:r>
            <a:endParaRPr lang="en-US" sz="25" dirty="0"/>
          </a:p>
        </p:txBody>
      </p:sp>
      <p:sp>
        <p:nvSpPr>
          <p:cNvPr id="33" name="Text 31"/>
          <p:cNvSpPr/>
          <p:nvPr/>
        </p:nvSpPr>
        <p:spPr>
          <a:xfrm>
            <a:off x="6964528" y="265176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(m²)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11277295" cy="155448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KELAS JALAN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43891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Kelas Jalan Khusus — Tol | Premium 1 | Premium 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70916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Kelas Jalan I (Kendali Ketat) — Lebar &gt; 3 m, pusat pelayanan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" y="5029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🏡  Kelas Jalan II (Kendali Sedang) — Lebar ≤ 3 m, jalan lingkungan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0" name="Text 38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&amp; TARIF PAJAK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Dasar Perhitungan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514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5148" y="118872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9514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658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= Tarif × NSR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550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5508" y="1188720"/>
            <a:ext cx="25603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37550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6694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= 50% NSR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5586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5868" y="1188720"/>
            <a:ext cx="256032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625586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730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 &gt; 15 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6228" y="1188720"/>
            <a:ext cx="2560320" cy="1920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36228" y="1188720"/>
            <a:ext cx="25603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9136228" y="1463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227668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Tembakau &amp; Miras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77295" cy="228600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56616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Rumus: Pajak Reklame = Tarif Pajak × NSR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= Nilai Kelas Jalan × Ukuran (m²) × Jumlah × Jangka Waktu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Khusus: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Reklame indoor: NSR 50% dari NSR normal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Ketinggian &gt; 15 meter: tambahan 20%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Produk tembakau &amp; minuman beralkohol: tambahan 50%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Perubahan naskah/revisi isi reklame: dikecualikan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6" name="Text 24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Papan / Billboard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02920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5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Megatron / Videotron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228600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(/30 dtk)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(/m²/thn)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17,25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13.599.900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13,80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10.879.920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9,20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7.253.280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8,05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6.346.620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5,75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4.533.300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5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Kain (Spanduk/Umbul/Baliho)</a:t>
            </a:r>
            <a:endParaRPr lang="en-US" sz="2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02920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5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Reklame Lainnya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7228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228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0944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0944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🏷️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60944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Stiker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44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7,5/cm²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750.000/kali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264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5264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348980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348980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🧱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348980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Melekat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8980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750.000/m²/tahun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33008" y="1005840"/>
            <a:ext cx="45720" cy="493776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0168" y="1143000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637016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📄</a:t>
            </a:r>
            <a:endParaRPr lang="en-US" sz="18" dirty="0"/>
          </a:p>
        </p:txBody>
      </p:sp>
      <p:sp>
        <p:nvSpPr>
          <p:cNvPr id="22" name="Text 20"/>
          <p:cNvSpPr/>
          <p:nvPr/>
        </p:nvSpPr>
        <p:spPr>
          <a:xfrm>
            <a:off x="637016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Selebaran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016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600/lembar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6.000.000/kali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1336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13368" y="1005840"/>
            <a:ext cx="45720" cy="4937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Shape 24"/>
          <p:cNvSpPr/>
          <p:nvPr/>
        </p:nvSpPr>
        <p:spPr>
          <a:xfrm>
            <a:off x="9250528" y="1143000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925052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🚌</a:t>
            </a:r>
            <a:endParaRPr lang="en-US" sz="18" dirty="0"/>
          </a:p>
        </p:txBody>
      </p:sp>
      <p:sp>
        <p:nvSpPr>
          <p:cNvPr id="28" name="Text 26"/>
          <p:cNvSpPr/>
          <p:nvPr/>
        </p:nvSpPr>
        <p:spPr>
          <a:xfrm>
            <a:off x="925052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5052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6.000/m²/hari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kendaraan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1" name="Text 29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Lainnya (lanjutan)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7228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228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0944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0944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🎈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60944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44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2.400.000/sekali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264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5264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348980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348980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🌊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348980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8980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600.000/sekali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33008" y="1005840"/>
            <a:ext cx="45720" cy="493776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0168" y="1143000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637016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🎬</a:t>
            </a:r>
            <a:endParaRPr lang="en-US" sz="18" dirty="0"/>
          </a:p>
        </p:txBody>
      </p:sp>
      <p:sp>
        <p:nvSpPr>
          <p:cNvPr id="22" name="Text 20"/>
          <p:cNvSpPr/>
          <p:nvPr/>
        </p:nvSpPr>
        <p:spPr>
          <a:xfrm>
            <a:off x="637016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/ Slide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016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12.000/15 detik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13368" y="1005840"/>
            <a:ext cx="26060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13368" y="1005840"/>
            <a:ext cx="45720" cy="4937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Shape 24"/>
          <p:cNvSpPr/>
          <p:nvPr/>
        </p:nvSpPr>
        <p:spPr>
          <a:xfrm>
            <a:off x="9250528" y="1143000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925052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🎭</a:t>
            </a:r>
            <a:endParaRPr lang="en-US" sz="18" dirty="0"/>
          </a:p>
        </p:txBody>
      </p:sp>
      <p:sp>
        <p:nvSpPr>
          <p:cNvPr id="28" name="Text 26"/>
          <p:cNvSpPr/>
          <p:nvPr/>
        </p:nvSpPr>
        <p:spPr>
          <a:xfrm>
            <a:off x="9250528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Peragaan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50528" y="1965960"/>
            <a:ext cx="2331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480.000/penyelenggaraan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1" name="Text 29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PENETAPAN, TAGIHAN &amp; PEMBAYARAN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11–14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Penetapan → Tagihan → Pembayaran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11–14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516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5168" y="1645920"/>
            <a:ext cx="23774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1615288" y="17830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61528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3" dirty="0"/>
          </a:p>
        </p:txBody>
      </p:sp>
      <p:sp>
        <p:nvSpPr>
          <p:cNvPr id="11" name="Text 9"/>
          <p:cNvSpPr/>
          <p:nvPr/>
        </p:nvSpPr>
        <p:spPr>
          <a:xfrm>
            <a:off x="74660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660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 Bapenda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berlaku 5 tahun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3260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48980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9808" y="1645920"/>
            <a:ext cx="23774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Shape 14"/>
          <p:cNvSpPr/>
          <p:nvPr/>
        </p:nvSpPr>
        <p:spPr>
          <a:xfrm>
            <a:off x="4449928" y="17830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444992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358124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8124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Lunas 1 bulan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SKPD diterima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6724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2444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24448" y="1645920"/>
            <a:ext cx="237744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3" name="Shape 21"/>
          <p:cNvSpPr/>
          <p:nvPr/>
        </p:nvSpPr>
        <p:spPr>
          <a:xfrm>
            <a:off x="7284568" y="1783080"/>
            <a:ext cx="457200" cy="45720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4" name="Text 22"/>
          <p:cNvSpPr/>
          <p:nvPr/>
        </p:nvSpPr>
        <p:spPr>
          <a:xfrm>
            <a:off x="728456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3" dirty="0"/>
          </a:p>
        </p:txBody>
      </p:sp>
      <p:sp>
        <p:nvSpPr>
          <p:cNvPr id="25" name="Text 23"/>
          <p:cNvSpPr/>
          <p:nvPr/>
        </p:nvSpPr>
        <p:spPr>
          <a:xfrm>
            <a:off x="641588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1588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 1%/bln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 STPD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0188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15908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9088" y="1645920"/>
            <a:ext cx="237744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Shape 28"/>
          <p:cNvSpPr/>
          <p:nvPr/>
        </p:nvSpPr>
        <p:spPr>
          <a:xfrm>
            <a:off x="10119208" y="178308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1920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3" dirty="0"/>
          </a:p>
        </p:txBody>
      </p:sp>
      <p:sp>
        <p:nvSpPr>
          <p:cNvPr id="32" name="Text 30"/>
          <p:cNvSpPr/>
          <p:nvPr/>
        </p:nvSpPr>
        <p:spPr>
          <a:xfrm>
            <a:off x="925052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5052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Harus lunas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30 hari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931920"/>
            <a:ext cx="11277295" cy="155448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3977640"/>
            <a:ext cx="109115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Jatuh tempo: 1 bulan sejak tanggal pengiriman SKPD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Pembayaran: Kas Daerah / Bank Persepsi / tempat lain yang ditunjuk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Stiker sebagai tanda bukti pembayaran reklame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STPD dikenakan bunga 1%/bulan (maks. 24 bulan)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7" name="Text 35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PEMBETULAN, KEBERATAN &amp; BANDING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15–20, 29–33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 Ketetapan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 (Pasal 15–20)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tulis: nama, alamat, NPWPD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hitung: jumlah, tarif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Kekeliruan penerapan aturan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permohonan = 1 ketetapan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maksimal 6 bulan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6 bulan tanpa putusan → dikabulkan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dilakukan berulang (Ps 20)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keputusan: kabul / batal / tolak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 &amp; SANKSI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Permohonan diajukan ke Bapenda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Keputusan: kabul (tambah/kurang/hapus)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Keputusan: batal | tolak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19: pembetulan jabatan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20: berulang jika masih salah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 &amp; Banding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 (Pasal 29–31)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Objek: SKPD, SKPDKB, SKPDKBT, dll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Diajukan maks. 3 bulan sejak SKPD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bayar min. yang disetujui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maks. 12 bulan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30%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dikabulkan: + bunga 0,6%/bulan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 (Pasal 32–33)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Objek: Surat Keputusan Keberatan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badan peradilan pajak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 bulan sejak keputusan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Menangguhkan kewajiban bayar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60%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dikabulkan: + bunga 0,6%/bulan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IX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PEMERIKSAAN, PENAGIHAN &amp; PENGHAPUSAN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22–26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&amp; Penagihan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086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086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7802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7802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67802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(Ps 22–23)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802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Bapenda berwenang periksa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kepatuhan WP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wajib: buka buku/dokumen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akses tempat &amp; keterangan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→ pajak ditetapkan jabatan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3562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562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278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447278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📬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447278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Penagihan (Ps 24)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7278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Dasar: SKPD, SKPDKB, SKPDKBT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STPD, SK Pembetulan/Keberatan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 Banding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038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0388" y="1005840"/>
            <a:ext cx="45720" cy="493776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0" name="Shape 18"/>
          <p:cNvSpPr/>
          <p:nvPr/>
        </p:nvSpPr>
        <p:spPr>
          <a:xfrm>
            <a:off x="8267548" y="1143000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826754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⏳</a:t>
            </a:r>
            <a:endParaRPr lang="en-US" sz="18" dirty="0"/>
          </a:p>
        </p:txBody>
      </p:sp>
      <p:sp>
        <p:nvSpPr>
          <p:cNvPr id="22" name="Text 20"/>
          <p:cNvSpPr/>
          <p:nvPr/>
        </p:nvSpPr>
        <p:spPr>
          <a:xfrm>
            <a:off x="826754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(Ps 25)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6754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tahun sejak pajak terutang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Tertangguh jika ada: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Teguran / Paksa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Pengakuan utang dari WP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5" name="Text 23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Penghapusan Piutang Pajak (Pasal 26)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516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168" y="1645920"/>
            <a:ext cx="23774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1615288" y="17830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61528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3" dirty="0"/>
          </a:p>
        </p:txBody>
      </p:sp>
      <p:sp>
        <p:nvSpPr>
          <p:cNvPr id="10" name="Text 8"/>
          <p:cNvSpPr/>
          <p:nvPr/>
        </p:nvSpPr>
        <p:spPr>
          <a:xfrm>
            <a:off x="74660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Penelitian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660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Dilakukan Bapenda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3260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8980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89808" y="1645920"/>
            <a:ext cx="23774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Shape 13"/>
          <p:cNvSpPr/>
          <p:nvPr/>
        </p:nvSpPr>
        <p:spPr>
          <a:xfrm>
            <a:off x="4449928" y="17830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44992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3" dirty="0"/>
          </a:p>
        </p:txBody>
      </p:sp>
      <p:sp>
        <p:nvSpPr>
          <p:cNvPr id="17" name="Text 15"/>
          <p:cNvSpPr/>
          <p:nvPr/>
        </p:nvSpPr>
        <p:spPr>
          <a:xfrm>
            <a:off x="358124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8124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Wali Kota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6724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32444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24448" y="1645920"/>
            <a:ext cx="237744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4568" y="1783080"/>
            <a:ext cx="457200" cy="45720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3" name="Text 21"/>
          <p:cNvSpPr/>
          <p:nvPr/>
        </p:nvSpPr>
        <p:spPr>
          <a:xfrm>
            <a:off x="728456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641588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Koordinasi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1588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 Inspektorat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70188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159088" y="1645920"/>
            <a:ext cx="23774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59088" y="1645920"/>
            <a:ext cx="2377440" cy="4572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9" name="Shape 27"/>
          <p:cNvSpPr/>
          <p:nvPr/>
        </p:nvSpPr>
        <p:spPr>
          <a:xfrm>
            <a:off x="10119208" y="1783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0" name="Text 28"/>
          <p:cNvSpPr/>
          <p:nvPr/>
        </p:nvSpPr>
        <p:spPr>
          <a:xfrm>
            <a:off x="10119208" y="18059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3" dirty="0"/>
          </a:p>
        </p:txBody>
      </p:sp>
      <p:sp>
        <p:nvSpPr>
          <p:cNvPr id="31" name="Text 29"/>
          <p:cNvSpPr/>
          <p:nvPr/>
        </p:nvSpPr>
        <p:spPr>
          <a:xfrm>
            <a:off x="9250528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Penghapusan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50528" y="2651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931920"/>
            <a:ext cx="11277295" cy="155448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977640"/>
            <a:ext cx="109115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 penghapusan piutang pajak: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Piutang tidak mungkin ditagih lagi karena kedaluwarsa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Ada koordinasi dengan Inspektorat Daerah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Dibuktikan dengan dokumen pelaksanaan penagihan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6" name="Text 34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KERINGANAN, KEMUDAHAN &amp; PENGHARGAAN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27–28, 34–35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 &amp; Penghargaan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086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0868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78028" y="114300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7802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endParaRPr lang="en-US" sz="18" dirty="0"/>
          </a:p>
        </p:txBody>
      </p:sp>
      <p:sp>
        <p:nvSpPr>
          <p:cNvPr id="10" name="Text 8"/>
          <p:cNvSpPr/>
          <p:nvPr/>
        </p:nvSpPr>
        <p:spPr>
          <a:xfrm>
            <a:off x="67802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 (Ps 27)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802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 / Pengurangan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Pembebasan / Penundaan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 pokok &amp; sanksi pajak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dengan likuiditas rendah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terdampak bencana/kebakaran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3562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5628" y="1005840"/>
            <a:ext cx="45720" cy="4937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2788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447278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🤝</a:t>
            </a:r>
            <a:endParaRPr lang="en-US" sz="18" dirty="0"/>
          </a:p>
        </p:txBody>
      </p:sp>
      <p:sp>
        <p:nvSpPr>
          <p:cNvPr id="16" name="Text 14"/>
          <p:cNvSpPr/>
          <p:nvPr/>
        </p:nvSpPr>
        <p:spPr>
          <a:xfrm>
            <a:off x="447278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Kemudahan (Ps 28)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7278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Perpanjangan waktu bayar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Angsuran maks. 24 bulan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 0,6%/bulan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Keadaan kahar: bencana, wabah, kerusuhan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0388" y="1005840"/>
            <a:ext cx="352044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0388" y="1005840"/>
            <a:ext cx="45720" cy="493776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0" name="Shape 18"/>
          <p:cNvSpPr/>
          <p:nvPr/>
        </p:nvSpPr>
        <p:spPr>
          <a:xfrm>
            <a:off x="8267548" y="1143000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8267548" y="11612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🏆</a:t>
            </a:r>
            <a:endParaRPr lang="en-US" sz="18" dirty="0"/>
          </a:p>
        </p:txBody>
      </p:sp>
      <p:sp>
        <p:nvSpPr>
          <p:cNvPr id="22" name="Text 20"/>
          <p:cNvSpPr/>
          <p:nvPr/>
        </p:nvSpPr>
        <p:spPr>
          <a:xfrm>
            <a:off x="8267548" y="16002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Penghargaan (Ps 34–35)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67548" y="196596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Taat Pajak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 tepat waktu ≥ 1 tahun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tunggakan 3 tahun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signifikan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Piagam / Hadiah (APBD)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5" name="Text 23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PENUTUP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36–37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8" name="Text 6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Pencabutan &amp; Mulai Berlaku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YANG DICABUT (Pasal 36)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No. 48 Tahun 2012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Petunjuk Pelaksanaan Perda 14/2012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No. 52 Tahun 2013 (Perubahan)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5303520" cy="4937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8ED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188720"/>
            <a:ext cx="4983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MULAI BERLAKU (Pasal 37)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diundangkan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Desember 2024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Pj. WALI KOTA BEKASI,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ttd.</a:t>
            </a:r>
            <a:endParaRPr lang="en-US" sz="13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GANI MUHAMAD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3291840"/>
            <a:ext cx="3200400" cy="36576"/>
          </a:xfrm>
          <a:prstGeom prst="rect">
            <a:avLst/>
          </a:prstGeom>
          <a:solidFill>
            <a:srgbClr val="C896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 KOTA BEKASI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 Nomor 51 Tahun 2024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 Pengelolaan Pajak Reklame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https://jdih.bekasikota.go.id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Perwal Bekasi No 51/2024 - Pengelolaan Pajak Reklame</dc:title>
  <dc:subject>PptxGenJS Presentation</dc:subject>
  <dc:creator>Pemerintah Kota Bekasi</dc:creator>
  <cp:lastModifiedBy>Pemerintah Kota Bekasi</cp:lastModifiedBy>
  <cp:revision>1</cp:revision>
  <dcterms:created xsi:type="dcterms:W3CDTF">2026-06-20T11:56:06Z</dcterms:created>
  <dcterms:modified xsi:type="dcterms:W3CDTF">2026-06-20T11:56:06Z</dcterms:modified>
</cp:coreProperties>
</file>