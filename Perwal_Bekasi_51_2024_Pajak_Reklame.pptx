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0"/>
            <a:ext cx="36576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962E"/>
                </a:solidFill>
                <a:latin typeface="Calibri"/>
              </a:defRPr>
            </a:pPr>
            <a:r>
              <a:t>BERITA DAERAH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KOTA BEKASI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77295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PERATURAN WALI KOTA BEKASI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2772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8962E"/>
                </a:solidFill>
                <a:latin typeface="Calibri"/>
              </a:defRPr>
            </a:pPr>
            <a:r>
              <a:t>NOMOR 51 TAHUN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1127729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TENTANG</a:t>
            </a:r>
            <a:br/>
            <a:r>
              <a:t>PENGELOLAAN PAJAK REKLAME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6858000" cy="822960"/>
          </a:xfrm>
          <a:prstGeom prst="round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9834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Pemerintah Kota Bekasi  ·  20 Desember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5780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Berlaku sejak diundangkan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DAFTAR 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362895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Perwal Bekasi No 51/2024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6627" y="100584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98067" y="107899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2427" y="107899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Umum &amp; Definisi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6627" y="178308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8067" y="1856232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2427" y="185623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Objek, Subjek &amp; Wajib Pajak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627" y="256032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8067" y="2633472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2427" y="263347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Masa Pajak &amp; Tahun Pajak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27" y="333756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8067" y="3410712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2427" y="341071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Pendaftaran &amp; Pendataan WP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" y="411480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8067" y="4187952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2427" y="418795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Nilai Sewa Reklame (NSR)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27" y="489204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98067" y="496519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2427" y="496519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Perhitungan &amp; Tarif Pajak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100584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47307" y="1078992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1667" y="107899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Penetapan, Tagihan &amp; Pembayaran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178308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47307" y="1856232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667" y="185623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Pembetulan, Keberatan &amp; Banding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5867" y="256032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47307" y="2633472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1667" y="263347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Pemeriksaan, Penagihan &amp; Penghapusan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5867" y="333756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47307" y="341071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341071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Keringanan, Kemudahan &amp; Penghargaan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55867" y="4114800"/>
            <a:ext cx="502920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47307" y="4187952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1667" y="418795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Penutup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</a:t>
            </a:r>
            <a:br/>
            <a:r>
              <a:t>KETENTUAN UMUM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1 — Definisi Kunci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Definisi Penting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1277295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6928" y="1078992"/>
            <a:ext cx="457200" cy="457200"/>
          </a:xfrm>
          <a:prstGeom prst="ellipse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97280"/>
            <a:ext cx="457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042416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1A2E"/>
                </a:solidFill>
                <a:latin typeface="Calibri"/>
              </a:defRPr>
            </a:pPr>
            <a:r>
              <a:t>Daerah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98448"/>
            <a:ext cx="10362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Kota Bekasi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19072"/>
            <a:ext cx="11277295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928" y="1792224"/>
            <a:ext cx="457200" cy="457200"/>
          </a:xfrm>
          <a:prstGeom prst="ellipse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810512"/>
            <a:ext cx="457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755648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1A2E"/>
                </a:solidFill>
                <a:latin typeface="Calibri"/>
              </a:defRPr>
            </a:pPr>
            <a:r>
              <a:t>Bapenda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011680"/>
            <a:ext cx="10362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Badan Pendapatan Daerah Kota Bekasi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32304"/>
            <a:ext cx="11277295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2505456"/>
            <a:ext cx="457200" cy="457200"/>
          </a:xfrm>
          <a:prstGeom prst="ellipse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523744"/>
            <a:ext cx="457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4688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1A2E"/>
                </a:solidFill>
                <a:latin typeface="Calibri"/>
              </a:defRPr>
            </a:pPr>
            <a:r>
              <a:t>Reklame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724912"/>
            <a:ext cx="10362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Media untuk promosi &amp; pengenalan komersial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45536"/>
            <a:ext cx="11277295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236976"/>
            <a:ext cx="457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182112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1A2E"/>
                </a:solidFill>
                <a:latin typeface="Calibri"/>
              </a:defRPr>
            </a:pPr>
            <a:r>
              <a:t>Pajak Reklame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438144"/>
            <a:ext cx="10362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Pajak atas penyelenggaraan reklame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858768"/>
            <a:ext cx="11277295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931920"/>
            <a:ext cx="457200" cy="457200"/>
          </a:xfrm>
          <a:prstGeom prst="ellipse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950208"/>
            <a:ext cx="457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3895344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1A2E"/>
                </a:solidFill>
                <a:latin typeface="Calibri"/>
              </a:defRPr>
            </a:pPr>
            <a:r>
              <a:t>NSR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151376"/>
            <a:ext cx="10362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Nilai Sewa Reklame — dasar pengenaan pajak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77295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" y="4645152"/>
            <a:ext cx="457200" cy="457200"/>
          </a:xfrm>
          <a:prstGeom prst="ellipse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663440"/>
            <a:ext cx="457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608576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1A2E"/>
                </a:solidFill>
                <a:latin typeface="Calibri"/>
              </a:defRPr>
            </a:pPr>
            <a:r>
              <a:t>NPWPD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4864608"/>
            <a:ext cx="10362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Nomor Pokok Wajib Pajak Daerah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285232"/>
            <a:ext cx="11277295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5358384"/>
            <a:ext cx="457200" cy="457200"/>
          </a:xfrm>
          <a:prstGeom prst="ellipse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5376672"/>
            <a:ext cx="457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5321808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1A2E"/>
                </a:solidFill>
                <a:latin typeface="Calibri"/>
              </a:defRPr>
            </a:pPr>
            <a:r>
              <a:t>Wajib Pajak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577840"/>
            <a:ext cx="10362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Orang pribadi/badan dengan hak &amp; kewajiban pajak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</a:t>
            </a:r>
            <a:br/>
            <a:r>
              <a:t>OBJEK, SUBJEK &amp; WAJIB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2–4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Objek Pajak Reklame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1005840"/>
            <a:ext cx="53492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6607" y="1143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60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1600200"/>
            <a:ext cx="5074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10 Jenis Reklame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19659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Papan / Billboard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607" y="21945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Videotron / Megatron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07" y="24231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Kain (Spanduk, Umbul, Baliho)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6607" y="26517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Melekat / Stiker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607" y="28803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Selebaran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607" y="31089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Berjalan (Kendaraan)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607" y="33375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Udara (Balon Gas)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607" y="35661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Apung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607" y="37947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Film / Slide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607" y="40233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Peragaan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05840"/>
            <a:ext cx="53492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05840"/>
            <a:ext cx="45720" cy="4937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00200"/>
            <a:ext cx="5074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Dikecualikan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19659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Internet, TV, radio, media cetak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1945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Label / merek produk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24231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Nama usaha ≤ 1 m² di tempat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26517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Reklame Pemerintah/Pemda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28803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Tempat ibadah &amp; panti asuhan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31089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Sosial &amp; keagamaan ≤ 30 hari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33375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Kegiatan politik (masa kampanye)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35661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Olahraga KONI ≤ 30 hari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Subjek &amp; Wajib Pajak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1005840"/>
            <a:ext cx="53492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6607" y="1143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60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1600200"/>
            <a:ext cx="5074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Subjek Pajak (Pasal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19659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607" y="21945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yang menggunakan Reklame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005840"/>
            <a:ext cx="53492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005840"/>
            <a:ext cx="45720" cy="4937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0167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1600200"/>
            <a:ext cx="5074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Wajib Pajak (Pasal 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9659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21945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yang menyelenggarakan Reklame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2423160"/>
            <a:ext cx="5074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pihak ketiga → menjadi 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III</a:t>
            </a:r>
            <a:br/>
            <a:r>
              <a:t>MASA PAJAK &amp; TAHUN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Masa &amp; Tahun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362895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Pasal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147" y="118872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147" y="1188720"/>
            <a:ext cx="256032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147" y="14630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2148840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 (Permanen)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5507" y="118872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5507" y="1188720"/>
            <a:ext cx="256032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5507" y="14630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947" y="2148840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Hari (Insidentil)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7" y="118872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5867" y="1188720"/>
            <a:ext cx="256032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14630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148840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Tahun Pajak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6227" y="118872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36227" y="1188720"/>
            <a:ext cx="2560320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6227" y="14630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B3A6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7667" y="2148840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 (Bagian Tahun)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474720"/>
            <a:ext cx="11277295" cy="22860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566160"/>
            <a:ext cx="10911535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Masa Pajak Permanen: 12 bulan atau sesuai jangka waktu penayangan reklame</a:t>
            </a:r>
            <a:br/>
            <a:r>
              <a:t>• Masa Pajak Insidentil: dihitung per hari, maksimal 30 hari</a:t>
            </a:r>
            <a:br/>
            <a:r>
              <a:t>• Tahun Pajak: 1 tahun kalender atau sesuai tahun buku wajib pajak</a:t>
            </a:r>
            <a:br/>
            <a:r>
              <a:t>• Bagian Tahun Pajak: 1 bulan penuh (jika tidak mencakup satu tahun penuh)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IV</a:t>
            </a:r>
            <a:br/>
            <a:r>
              <a:t>PENDAFTARAN &amp; PENDATAAN WP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6–8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Pendaftaran &amp; Pendataan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5303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PENDAFTARAN (Pasal 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078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WP wajib mendaftarkan diri &amp; objek pajak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5681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Formulir: ambil/online/dikirim petugas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Lampirkan: KTP, NPWP, Akta, NIB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terbitkan NPWPD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2491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tidak mendaftar → NPWPD jabatan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Juga: NOPD &amp; nomor registrasi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1005840"/>
            <a:ext cx="5303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1005840"/>
            <a:ext cx="45720" cy="4937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PENDATAAN &amp; NONAKTIF (Pasal 7–8)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44475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70078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mendata WP &amp; objek pajak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95681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Termasuk data geografis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21284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kerjasama dengan instansi 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468880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Penonaktifan: WP tak penuhi syarat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72491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3 bulan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98094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Syarat: tanpa tunggakan &amp; keberatan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</a:t>
            </a:r>
            <a:br/>
            <a:r>
              <a:t>NILAI SEWA REKLAME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9 — Dasar Pengenaan Pajak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Faktor Penentu NSR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00584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0887" y="123444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887" y="123444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5247" y="118872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Jenis Reklame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100584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35527" y="12344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27" y="123444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9887" y="118872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Bahan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0584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0167" y="1234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123444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4527" y="118872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Lokasi (Kelas Jalan)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7647" y="100584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4807" y="1234440"/>
            <a:ext cx="502920" cy="50292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4807" y="123444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9167" y="118872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Waktu Tayang (detik)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3727" y="246888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887" y="26974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887" y="269748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247" y="265176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Jangka Waktu (hari)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98367" y="246888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35527" y="269748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5527" y="269748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29887" y="265176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Jumlah Media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246888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70167" y="269748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0167" y="269748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4527" y="265176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Ukuran (m²)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023360"/>
            <a:ext cx="11277295" cy="155448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06908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A1628"/>
                </a:solidFill>
                <a:latin typeface="Calibri"/>
              </a:defRPr>
            </a:pPr>
            <a:r>
              <a:t>KLASIFIKASI KELAS JALAN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🏛️  Kelas Jalan Khusus — Tol | Premium 1 | Premium 2</a:t>
            </a:r>
            <a:br/>
            <a:r>
              <a:t>🚗  Kelas Jalan I (Kendali Ketat) — Lebar &gt; 3 m, pusat pelayanan</a:t>
            </a:r>
            <a:br/>
            <a:r>
              <a:t>🏡  Kelas Jalan II (Kendali Sedang) — Lebar ≤ 3 m, jalan lingkungan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</a:t>
            </a:r>
            <a:br/>
            <a:r>
              <a:t>PERHITUNGAN &amp; TARIF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Rumus Dasar Perhitungan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362895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147" y="118872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147" y="1188720"/>
            <a:ext cx="256032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147" y="14630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2148840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Pajak = Tarif × NSR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5507" y="118872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5507" y="1188720"/>
            <a:ext cx="256032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5507" y="14630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947" y="2148840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Indoor = 50% NSR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7" y="118872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5867" y="1188720"/>
            <a:ext cx="256032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14630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+20%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148840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Tinggi &gt; 15 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6227" y="1188720"/>
            <a:ext cx="256032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36227" y="1188720"/>
            <a:ext cx="256032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6227" y="14630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C2626"/>
                </a:solidFill>
                <a:latin typeface="Calibri"/>
              </a:defRPr>
            </a:pPr>
            <a:r>
              <a:t>+50%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7667" y="2148840"/>
            <a:ext cx="23774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Tembakau &amp; Miras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474720"/>
            <a:ext cx="11277295" cy="22860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566160"/>
            <a:ext cx="10911535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Rumus: Pajak Reklame = Tarif Pajak × NSR</a:t>
            </a:r>
            <a:br/>
            <a:r>
              <a:t>NSR = Nilai Kelas Jalan × Ukuran (m²) × Jumlah × Jangka Waktu</a:t>
            </a:r>
            <a:br/>
            <a:br/>
            <a:r>
              <a:t>Ketentuan Khusus:</a:t>
            </a:r>
            <a:br/>
            <a:r>
              <a:t>• Reklame indoor: NSR 50% dari NSR normal</a:t>
            </a:r>
            <a:br/>
            <a:r>
              <a:t>• Ketinggian &gt; 15 meter: tambahan 20%</a:t>
            </a:r>
            <a:br/>
            <a:r>
              <a:t>• Produk tembakau &amp; minuman beralkohol: tambahan 50%</a:t>
            </a:r>
            <a:br/>
            <a:r>
              <a:t>• Perubahan naskah/revisi isi reklame: dikecualikan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— Papan / Billboard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7729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23.575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16.100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14.950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13.225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11.500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— Megatron / Videotron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7729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3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(/30 dtk)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(/m²/thn)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17,25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13.599.900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13,80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10.879.920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9,20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7.253.280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8,05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6.346.620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5,75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4.533.300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— Kain (Spanduk/Umbul/Baliho)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27729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— Jenis Reklame Lainnya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1005840"/>
            <a:ext cx="26060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2287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9447" y="1143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🏷️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" y="160020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Stiker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" y="19659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Rp 7,5/cm²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447" y="21945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Min. Rp 750.000/kali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2647" y="1005840"/>
            <a:ext cx="26060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2647" y="1005840"/>
            <a:ext cx="45720" cy="4937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89807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980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9807" y="160020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Melekat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9807" y="19659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Rp 750.000/m²/tahun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005840"/>
            <a:ext cx="26060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005840"/>
            <a:ext cx="45720" cy="4937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0167" y="1143000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160020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Selebaran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19659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Rp 600/lembar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21945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Min. Rp 6.000.000/kali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13367" y="1005840"/>
            <a:ext cx="26060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13367" y="1005840"/>
            <a:ext cx="45720" cy="4937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50527" y="114300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052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0527" y="160020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Berjalan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0527" y="19659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Rp 6.000/m²/hari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527" y="21945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Termasuk kendaraan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— Jenis Lainnya (lanjutan)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1005840"/>
            <a:ext cx="26060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2287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9447" y="1143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" y="160020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Udara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" y="19659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Rp 2.400.000/sekali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447" y="21945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2647" y="1005840"/>
            <a:ext cx="26060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2647" y="1005840"/>
            <a:ext cx="45720" cy="4937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89807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980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9807" y="160020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Apung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9807" y="19659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Rp 600.000/sekali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9807" y="21945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1005840"/>
            <a:ext cx="26060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1005840"/>
            <a:ext cx="45720" cy="4937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70167" y="1143000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016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160020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Film / Slide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9659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Rp 12.000/15 detik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13367" y="1005840"/>
            <a:ext cx="26060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13367" y="1005840"/>
            <a:ext cx="45720" cy="4937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50527" y="114300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052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0527" y="160020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Peragaan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0527" y="1965960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Rp 480.000/penyelenggaraan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</a:t>
            </a:r>
            <a:br/>
            <a:r>
              <a:t>PENETAPAN, TAGIHAN &amp; PEMBAYARAN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11–14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Alur Penetapan → Tagihan → Pembayaran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362895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Pasal 11–14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16459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5167" y="1645920"/>
            <a:ext cx="237744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287" y="17830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1783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23317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SKPD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607" y="26517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 Bapenda</a:t>
            </a:r>
            <a:br/>
            <a:r>
              <a:t>Masa berlaku 5 tahun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607" y="21945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9807" y="16459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9807" y="1645920"/>
            <a:ext cx="237744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9927" y="17830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9927" y="1783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3317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26517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Lunas 1 bulan</a:t>
            </a:r>
            <a:br/>
            <a:r>
              <a:t>sejak SKPD diterima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7247" y="21945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4447" y="16459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24447" y="1645920"/>
            <a:ext cx="237744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84567" y="17830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84567" y="1783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3317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Keterlambatan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6517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Bunga 1%/bln</a:t>
            </a:r>
            <a:br/>
            <a:r>
              <a:t>Diterbitkan STPD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1887" y="21945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59087" y="16459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59087" y="1645920"/>
            <a:ext cx="237744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19207" y="178308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19207" y="1783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527" y="23317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STPD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0527" y="26517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Harus lunas</a:t>
            </a:r>
            <a:br/>
            <a:r>
              <a:t>≤ 30 hari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931920"/>
            <a:ext cx="11277295" cy="155448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977639"/>
            <a:ext cx="1091153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Jatuh tempo: 1 bulan sejak tanggal pengiriman SKPD</a:t>
            </a:r>
            <a:br/>
            <a:r>
              <a:t>• Pembayaran: Kas Daerah / Bank Persepsi / tempat lain yang ditunjuk</a:t>
            </a:r>
            <a:br/>
            <a:r>
              <a:t>• Stiker sebagai tanda bukti pembayaran reklame</a:t>
            </a:r>
            <a:br/>
            <a:r>
              <a:t>• STPD dikenakan bunga 1%/bulan (maks. 24 bulan)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VIII</a:t>
            </a:r>
            <a:br/>
            <a:r>
              <a:t>PEMBETULAN, KEBERATAN &amp; BANDING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15–20, 29–33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Pembetulan Ketetapan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5303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PEMBETULAN (Pasal 15–20)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078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tulis: nama, alamat, NPWPD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5681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hitung: jumlah, tarif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Kekeliruan penerapan aturan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1 permohonan = 1 ketetapan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2491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6 bulan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&gt; 6 bulan tanpa putusan → dikabulkan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3697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dilakukan berulang (Ps 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9300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Jenis keputusan: kabul / batal / tolak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005840"/>
            <a:ext cx="5303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005840"/>
            <a:ext cx="45720" cy="4937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JANGKA WAKTU &amp; SANKSI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44475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70078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Permohonan diajukan ke Bapenda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5681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kabul (tambah/kurang/hapus)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1284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batal | tolak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468880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19: pembetulan jabatan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72491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20: berulang jika masih salah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Keberatan &amp; Banding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5303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KEBERATAN (Pasal 29–31)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078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SKPD, SKPDKB, SKPDKBT, dll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5681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Diajukan maks. 3 bulan sejak SKPD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Sudah bayar min. yang disetujui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maks. 12 bulan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2491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1005840"/>
            <a:ext cx="5303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1005840"/>
            <a:ext cx="45720" cy="4937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BANDING (Pasal 32–33)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44475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70078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Surat Keputusan Keberatan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95681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 badan peradilan pajak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21284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Maks. 3 bulan sejak keputusan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468880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Menangguhkan kewajiban bayar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72491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60%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98094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IX</a:t>
            </a:r>
            <a:br/>
            <a:r>
              <a:t>PEMERIKSAAN, PENAGIHAN &amp; PENGHAPUSAN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22–26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Pemeriksaan &amp; Penagihan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867" y="100584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8027" y="1143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02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160020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Pemeriksaan (Ps 22–23)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19659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Kepala Bapenda berwenang periksa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21945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Menguji kepatuhan WP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027" y="24231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WP wajib: buka buku/dokumen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027" y="26517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Beri akses tempat &amp; keterangan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027" y="28803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tidak → pajak ditetapkan jabatan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5627" y="100584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5627" y="1005840"/>
            <a:ext cx="45720" cy="4937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72787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160020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Penagihan (Ps 24)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19659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Dasar: SKPD, SKPDKB, SKPDKBT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21945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STPD, SK Pembetulan/Keberatan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24231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Putusan Banding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0387" y="100584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0387" y="1005840"/>
            <a:ext cx="45720" cy="4937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67547" y="1143000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754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7547" y="160020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Kedaluwarsa (Ps 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7547" y="19659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5 tahun sejak pajak terutang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7547" y="21945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Tertangguh jika ada: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4231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Surat Teguran / Paksa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26517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Pengakuan utang dari WP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Penghapusan Piutang Pajak (Pasal 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167" y="16459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5167" y="1645920"/>
            <a:ext cx="237744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287" y="17830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287" y="1783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23317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Penelitian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26517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Dilakukan Bapenda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2607" y="21945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9807" y="16459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9807" y="1645920"/>
            <a:ext cx="237744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49927" y="17830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9927" y="1783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23317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Penetapan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6517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Keputusan Wali Kota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7247" y="21945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4447" y="16459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4447" y="1645920"/>
            <a:ext cx="237744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84567" y="17830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84567" y="1783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23317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Koordinasi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6517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Dengan Inspektorat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01887" y="219456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9087" y="16459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59087" y="1645920"/>
            <a:ext cx="2377440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19207" y="1783080"/>
            <a:ext cx="457200" cy="4572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19207" y="17830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0527" y="23317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B3A6B"/>
                </a:solidFill>
                <a:latin typeface="Calibri"/>
              </a:defRPr>
            </a:pPr>
            <a:r>
              <a:t>SK Penghapusan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527" y="26517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931920"/>
            <a:ext cx="11277295" cy="155448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977639"/>
            <a:ext cx="1091153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Syarat penghapusan piutang pajak:</a:t>
            </a:r>
            <a:br/>
            <a:r>
              <a:t>• Piutang tidak mungkin ditagih lagi karena kedaluwarsa</a:t>
            </a:r>
            <a:br/>
            <a:r>
              <a:t>• Ada koordinasi dengan Inspektorat Daerah</a:t>
            </a:r>
            <a:br/>
            <a:r>
              <a:t>• Dibuktikan dengan dokumen pelaksanaan penagihan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</a:t>
            </a:r>
            <a:br/>
            <a:r>
              <a:t>KERINGANAN, KEMUDAHAN &amp; PENGHARGAAN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27–28, 34–35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Fasilitas &amp; Penghargaan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867" y="100584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8027" y="1143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02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160020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Keringanan (Ps 27)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19659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Keringanan / Pengurangan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21945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Pembebasan / Penundaan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027" y="24231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Atas pokok &amp; sanksi pajak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027" y="26517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WP dengan likuiditas rendah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027" y="28803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 terdampak bencana/kebakaran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5627" y="100584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5627" y="1005840"/>
            <a:ext cx="45720" cy="4937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72787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160020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Kemudahan (Ps 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19659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Perpanjangan waktu bayar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21945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Angsuran maks. 24 bulan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24231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Bunga 0,6%/bulan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2787" y="26517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Keadaan kahar: bencana, wabah, kerusuhan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0387" y="100584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0387" y="1005840"/>
            <a:ext cx="45720" cy="4937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67547" y="1143000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7547" y="11430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7547" y="160020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Penghargaan (Ps 34–35)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7547" y="19659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WP Taat Pajak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1945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Bayar tepat waktu ≥ 1 tahun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24231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Tanpa tunggakan 3 tahun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26517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Kontribusi signifikan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288036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Piagam / Hadiah (APBD)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1277295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XI</a:t>
            </a:r>
            <a:br/>
            <a:r>
              <a:t>KETENTUAN PENUTUP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94484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Pasal 36–37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362895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Pencabutan &amp; Mulai Berlaku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5303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45720" cy="4937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PERATURAN YANG DICABUT (Pasal 36)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078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48 Tahun 2012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5681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Petunjuk Pelaksanaan Perda 14/2012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52 Tahun 2013 (Perubahan)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005840"/>
            <a:ext cx="530352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1005840"/>
            <a:ext cx="45720" cy="4937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B3A6B"/>
                </a:solidFill>
                <a:latin typeface="Calibri"/>
              </a:defRPr>
            </a:pPr>
            <a:r>
              <a:t>MULAI BERLAKU (Pasal 37)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44475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70078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Sejak diundangkan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56816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20 Desember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212848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68880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Pj. WALI KOTA BEKASI,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24912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ttd.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80944"/>
            <a:ext cx="49834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R. GANI MUHAMAD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56832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68735" y="6492240"/>
            <a:ext cx="640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91840"/>
            <a:ext cx="32004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772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7729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729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E8EDF5"/>
                </a:solidFill>
                <a:latin typeface="Calibri"/>
              </a:defRPr>
            </a:pPr>
            <a:r>
              <a:t>Peraturan Wali Kota Bekasi Nomor 51 Tahun 2024</a:t>
            </a:r>
            <a:br/>
            <a:r>
              <a:t>Tentang Pengelolaan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7729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Sumber: https://jdih.bekasikota.go.id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