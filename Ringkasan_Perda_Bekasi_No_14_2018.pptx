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548640"/>
            <a:ext cx="1254264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914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EE"/>
                </a:solidFill>
                <a:latin typeface="Calibri"/>
              </a:defRPr>
            </a:pPr>
            <a:r>
              <a:t>RINGKASAN PERATURAN DAERAH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KOTA BEKASI</a:t>
            </a:r>
            <a:br/>
            <a:r>
              <a:t>NOMOR 14 TAHUN 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DDEE"/>
                </a:solidFill>
                <a:latin typeface="Calibri"/>
              </a:defRPr>
            </a:pPr>
            <a:r>
              <a:t>Perubahan Atas Peraturan Daerah Kota Bekasi</a:t>
            </a:r>
            <a:br/>
            <a:r>
              <a:t>Nomor 08 Tahun 2011 Tentang Pajak Restoran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AACC"/>
                </a:solidFill>
                <a:latin typeface="Calibri"/>
              </a:defRPr>
            </a:pPr>
            <a:r>
              <a:t>LEMBARAN DAERAH KOTA BEKASI — SERI B NOMOR 14 — 2018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54874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LATAR BELAKANG &amp; DASAR HUKUM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54864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▸  LATAR BELAKANG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Mengoptimalkan &amp; meningkatkan Pendapatan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Asli Daerah (PAD) dari Pajak Restoran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Menyesuaikan Perda No. 08/2011 dengan</a:t>
            </a:r>
          </a:p>
          <a:p>
            <a:pPr>
              <a:spcAft>
                <a:spcPts val="4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kondisi terkini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54864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▸  DASAR HUKUM UTAMA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UU No. 28/2009 — Pajak Daerah &amp; Retribusi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UU No. 23/2014 — Pemerintahan Daerah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UU No. 6/1983 jo. UU 16/2009 — Ketentuan Perpajakan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PP No. 55/2016 — Pemungutan Pajak Daerah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PP No. 69/2010 — Insentif Pajak Daerah</a:t>
            </a:r>
          </a:p>
          <a:p>
            <a:pPr>
              <a:spcAft>
                <a:spcPts val="300"/>
              </a:spcAft>
              <a:defRPr sz="1400">
                <a:solidFill>
                  <a:srgbClr val="2D2D2D"/>
                </a:solidFill>
                <a:latin typeface="Calibri"/>
              </a:defRPr>
            </a:pPr>
            <a:r>
              <a:t>Perda Kota Bekasi No. 08/2011 — Pajak Restoran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CCEE"/>
                </a:solidFill>
                <a:latin typeface="Calibri"/>
              </a:defRPr>
            </a:pPr>
            <a:r>
              <a:t>Perda No. 14/2018 — Perubahan Perda No. 08/2011 tentang Pajak Restoran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54874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PASAL I — PERUBAHAN UTAMA: OBJEK PAJAK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F8A"/>
                </a:solidFill>
                <a:latin typeface="Calibri"/>
              </a:defRPr>
            </a:pPr>
            <a:r>
              <a:t>Ayat (1) — Objek Pajak Restoran (diperluas)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Pelayanan yg disediakan restoran, termasuk: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• Roti, bakery, donat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• Katering &amp; jasa boga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• Usaha sejenis — termasuk yang mobile/insidentil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3580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5F8A"/>
                </a:solidFill>
                <a:latin typeface="Calibri"/>
              </a:defRPr>
            </a:pPr>
            <a:r>
              <a:t>Ayat (2) — Lingkup Pelayanan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Penjualan makanan/minuman yg dikonsumsi pembeli: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• Di tempat pelayanan (dine-in)</a:t>
            </a:r>
          </a:p>
          <a:p>
            <a:pPr>
              <a:spcAft>
                <a:spcPts val="3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   • Di tempat lain (takeaway/delivery)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89120"/>
            <a:ext cx="11247120" cy="13716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137160" cy="13716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56E04"/>
                </a:solidFill>
                <a:latin typeface="Calibri"/>
              </a:defRPr>
            </a:pPr>
            <a:r>
              <a:t>PENGECUALIAN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37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65000"/>
                </a:solidFill>
                <a:latin typeface="Calibri"/>
              </a:defRPr>
            </a:pPr>
            <a:r>
              <a:t>Ayat (3): Omzet ≤ Rp 10.000.000/bulan → BUKAN objek pajak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CCEE"/>
                </a:solidFill>
                <a:latin typeface="Calibri"/>
              </a:defRPr>
            </a:pPr>
            <a:r>
              <a:t>Mengubah Pasal 3 Perda No. 08/2011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54874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PASAL II &amp; INFORMASI PENGESAHAN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PASAL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Peraturan Daerah ini mulai berlaku</a:t>
            </a:r>
            <a:br/>
            <a:r>
              <a:t>pada tanggal diundangkan.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0700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INFORMASI PENGESAHAN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Tanggal: 3 Desember 2018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Wali Kota: Rahmat Effendi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Pj. Sekda: Widodo Indrijantoro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Disetujui DPRD &amp; Wali Kota Bekasi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Diundangkan: 3 Desember 2018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Noreg: (11/169/2018)</a:t>
            </a:r>
          </a:p>
          <a:p>
            <a:pPr>
              <a:spcAft>
                <a:spcPts val="300"/>
              </a:spcAft>
              <a:defRPr sz="1500">
                <a:solidFill>
                  <a:srgbClr val="2D2D2D"/>
                </a:solidFill>
                <a:latin typeface="Calibri"/>
              </a:defRPr>
            </a:pPr>
            <a:r>
              <a:t>Lembaran Daerah Seri B No. 14/2018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33087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RINGKASAN ISI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1. Memperluas objek pajak restoran (katering, bakery, mobile, dsb)</a:t>
            </a:r>
          </a:p>
          <a:p>
            <a:pPr>
              <a:spcAft>
                <a:spcPts val="6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2. Menegaskan lingkup: dine-in &amp; takeaway/delivery</a:t>
            </a:r>
          </a:p>
          <a:p>
            <a:pPr>
              <a:spcAft>
                <a:spcPts val="6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3. Pengecualian: omzet ≤ Rp 10 jt/bulan → bebas pajak</a:t>
            </a:r>
          </a:p>
          <a:p>
            <a:pPr>
              <a:spcAft>
                <a:spcPts val="600"/>
              </a:spcAft>
              <a:defRPr sz="1600">
                <a:solidFill>
                  <a:srgbClr val="2D2D2D"/>
                </a:solidFill>
                <a:latin typeface="Calibri"/>
              </a:defRPr>
            </a:pPr>
            <a:r>
              <a:t>4. Hanya Pasal 3 yg diubah — pasal lain tetap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CCEE"/>
                </a:solidFill>
                <a:latin typeface="Calibri"/>
              </a:defRPr>
            </a:pPr>
            <a:r>
              <a:t>Sumber: jdih.bekasikota.go.id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bek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731520"/>
            <a:ext cx="1411047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DDEE"/>
                </a:solidFill>
                <a:latin typeface="Calibri"/>
              </a:defRPr>
            </a:pPr>
            <a:r>
              <a:t>Perda Kota Bekasi No. 14 Tahun 2018</a:t>
            </a:r>
            <a:br/>
            <a:r>
              <a:t>Perubahan Atas Perda No. 08/2011 tentang Pajak Restoran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AACC"/>
                </a:solidFill>
                <a:latin typeface="Calibri"/>
              </a:defRPr>
            </a:pPr>
            <a:r>
              <a:t>Sumber: JDIH Kota Bekasi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