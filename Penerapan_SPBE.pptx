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086100"/>
            <a:ext cx="12191695" cy="54864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223260"/>
            <a:ext cx="12191695" cy="18288"/>
          </a:xfrm>
          <a:prstGeom prst="rect">
            <a:avLst/>
          </a:prstGeom>
          <a:solidFill>
            <a:srgbClr val="005B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3716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4400"/>
              </a:lnSpc>
              <a:defRPr sz="3600" b="1">
                <a:solidFill>
                  <a:srgbClr val="FFFFFF"/>
                </a:solidFill>
              </a:defRPr>
            </a:pPr>
            <a:r>
              <a:t>PENERAPAN SISTEM PEMERINTAHAN</a:t>
            </a:r>
            <a:br/>
            <a:r>
              <a:t>BERBASIS ELEKTRONIK (SPBE)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30175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>
                <a:solidFill>
                  <a:srgbClr val="D6E8F7"/>
                </a:solidFill>
              </a:defRPr>
            </a:pPr>
            <a:r>
              <a:t>Transformasi Birokrasi Menuju Pemerintahan yang Terintegrasi, Efisien, Aman, dan Tepercaya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39319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F0A500"/>
                </a:solidFill>
              </a:defRPr>
            </a:pPr>
            <a:r>
              <a:t>Perpres No. 95 Tahun 2018  •  Perpres No. 132 Tahun 2022</a:t>
            </a:r>
          </a:p>
          <a:p>
            <a:pPr algn="ctr">
              <a:defRPr sz="1200">
                <a:solidFill>
                  <a:srgbClr val="D6E8F7"/>
                </a:solidFill>
              </a:defRPr>
            </a:pPr>
            <a:r>
              <a:t>Kementerian Pendayagunaan Aparatur Negara dan Reformasi Birokrasi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400"/>
              </a:spcBef>
              <a:defRPr sz="1000">
                <a:solidFill>
                  <a:srgbClr val="FFFFFF"/>
                </a:solidFill>
              </a:defRPr>
            </a:pPr>
            <a:r>
              <a:t>Sistem Pemerintahan Berbasis Elektronik (SPBE)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Apa Itu SPBE?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5486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02B5C"/>
                </a:solidFill>
              </a:defRPr>
            </a:pPr>
            <a:r>
              <a:t>Sistem Pemerintahan Berbasis Elektronik (SPBE)</a:t>
            </a:r>
          </a:p>
          <a:p>
            <a:pPr>
              <a:spcBef>
                <a:spcPts val="800"/>
              </a:spcBef>
              <a:defRPr sz="1300">
                <a:solidFill>
                  <a:srgbClr val="666666"/>
                </a:solidFill>
              </a:defRPr>
            </a:pPr>
            <a:r>
              <a:t>Penyelenggaraan pemerintahan yang memanfaatkan teknologi informasi dan komunikasi untuk memberikan layanan kepada pengguna SPBE.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468880"/>
            <a:ext cx="3383280" cy="18288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2468880"/>
            <a:ext cx="3383280" cy="411480"/>
          </a:xfrm>
          <a:prstGeom prst="rect">
            <a:avLst/>
          </a:prstGeom>
          <a:solidFill>
            <a:srgbClr val="005B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514600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</a:defRPr>
            </a:pPr>
            <a:r>
              <a:t>Bukan Sekadar Digitalisasi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926080"/>
            <a:ext cx="3108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</a:defRPr>
              <a:buChar char="•"/>
            </a:pPr>
            <a:r>
              <a:t>Bukan memindahkan kertas ke aplikasi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</a:defRPr>
              <a:buChar char="•"/>
            </a:pPr>
            <a:r>
              <a:t>Transformasi menyeluruh birokrasi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</a:defRPr>
              <a:buChar char="•"/>
            </a:pPr>
            <a:r>
              <a:t>Menciptakan tata kelola terintegrasi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06240" y="2468880"/>
            <a:ext cx="3383280" cy="18288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06240" y="2468880"/>
            <a:ext cx="3383280" cy="411480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43400" y="2514600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</a:defRPr>
            </a:pPr>
            <a:r>
              <a:t>Dasar Hukum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3400" y="2926080"/>
            <a:ext cx="3108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</a:defRPr>
              <a:buChar char="•"/>
            </a:pPr>
            <a:r>
              <a:t>Perpres No. 95 Tahun 2018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</a:defRPr>
              <a:buChar char="•"/>
            </a:pPr>
            <a:r>
              <a:t>Perpres No. 132 Tahun 2022 (penyempurnaan)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</a:defRPr>
              <a:buChar char="•"/>
            </a:pPr>
            <a:r>
              <a:t>Pedoman dari Kemenpan-RB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863840" y="2468880"/>
            <a:ext cx="3383280" cy="18288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863840" y="2468880"/>
            <a:ext cx="3383280" cy="411480"/>
          </a:xfrm>
          <a:prstGeom prst="rect">
            <a:avLst/>
          </a:prstGeom>
          <a:solidFill>
            <a:srgbClr val="005B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01000" y="2514600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</a:defRPr>
            </a:pPr>
            <a:r>
              <a:t>Tujuan Akhir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1000" y="2926080"/>
            <a:ext cx="3108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</a:defRPr>
              <a:buChar char="•"/>
            </a:pPr>
            <a:r>
              <a:t>Birokrasi terintegrasi &amp; efisien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</a:defRPr>
              <a:buChar char="•"/>
            </a:pPr>
            <a:r>
              <a:t>Layanan prima masyarakat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</a:defRPr>
              <a:buChar char="•"/>
            </a:pPr>
            <a:r>
              <a:t>Pemerintahan aman &amp; tepercaya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5720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66666"/>
                </a:solidFill>
              </a:defRPr>
            </a:pPr>
            <a:r>
              <a:t>💡 </a:t>
            </a:r>
          </a:p>
          <a:p>
            <a:pPr>
              <a:defRPr sz="1200" b="1">
                <a:solidFill>
                  <a:srgbClr val="002B5C"/>
                </a:solidFill>
              </a:defRPr>
            </a:pPr>
            <a:r>
              <a:t>SPBE adalah transformasi menyeluruh — bukan proyek TIK biasa. Digitalisasi tanpa perubahan tata kelola hanya akan menciptakan ego sektoral digital.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400"/>
              </a:spcBef>
              <a:defRPr sz="1000">
                <a:solidFill>
                  <a:srgbClr val="FFFFFF"/>
                </a:solidFill>
              </a:defRPr>
            </a:pPr>
            <a:r>
              <a:t>Sistem Pemerintahan Berbasis Elektronik (SPBE)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Kerangka Arsitektur SPBE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0" y="1371600"/>
            <a:ext cx="4846320" cy="64008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0" y="1371600"/>
            <a:ext cx="4846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400"/>
              </a:spcBef>
              <a:defRPr sz="1600" b="1">
                <a:solidFill>
                  <a:srgbClr val="FFFFFF"/>
                </a:solidFill>
              </a:defRPr>
            </a:pPr>
            <a:r>
              <a:t>LAYANAN SPBE</a:t>
            </a:r>
          </a:p>
        </p:txBody>
      </p:sp>
      <p:sp>
        <p:nvSpPr>
          <p:cNvPr id="7" name="Rectangle 6"/>
          <p:cNvSpPr/>
          <p:nvPr/>
        </p:nvSpPr>
        <p:spPr>
          <a:xfrm>
            <a:off x="2926080" y="2103120"/>
            <a:ext cx="6309360" cy="640080"/>
          </a:xfrm>
          <a:prstGeom prst="rect">
            <a:avLst/>
          </a:prstGeom>
          <a:solidFill>
            <a:srgbClr val="005B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26080" y="2103120"/>
            <a:ext cx="6309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400"/>
              </a:spcBef>
              <a:defRPr sz="1600" b="1">
                <a:solidFill>
                  <a:srgbClr val="FFFFFF"/>
                </a:solidFill>
              </a:defRPr>
            </a:pPr>
            <a:r>
              <a:t>Aplikasi &amp; Layanan Digital</a:t>
            </a:r>
          </a:p>
        </p:txBody>
      </p:sp>
      <p:sp>
        <p:nvSpPr>
          <p:cNvPr id="9" name="Rectangle 8"/>
          <p:cNvSpPr/>
          <p:nvPr/>
        </p:nvSpPr>
        <p:spPr>
          <a:xfrm>
            <a:off x="2194560" y="2834640"/>
            <a:ext cx="7772400" cy="64008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94560" y="283464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400"/>
              </a:spcBef>
              <a:defRPr sz="1600" b="1">
                <a:solidFill>
                  <a:srgbClr val="FFFFFF"/>
                </a:solidFill>
              </a:defRPr>
            </a:pPr>
            <a:r>
              <a:t>Data &amp; Informasi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63040" y="3566160"/>
            <a:ext cx="9235440" cy="640080"/>
          </a:xfrm>
          <a:prstGeom prst="rect">
            <a:avLst/>
          </a:prstGeom>
          <a:solidFill>
            <a:srgbClr val="008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63040" y="3566160"/>
            <a:ext cx="9235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400"/>
              </a:spcBef>
              <a:defRPr sz="1600" b="1">
                <a:solidFill>
                  <a:srgbClr val="FFFFFF"/>
                </a:solidFill>
              </a:defRPr>
            </a:pPr>
            <a:r>
              <a:t>Infrastruktur &amp; Keamanan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1371600"/>
            <a:ext cx="731520" cy="3474720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1371600"/>
            <a:ext cx="7315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TATA</a:t>
            </a:r>
            <a:br/>
            <a:r>
              <a:t>KELOLA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972800" y="1371600"/>
            <a:ext cx="731520" cy="3474720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0" y="1371600"/>
            <a:ext cx="7315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MANA-</a:t>
            </a:r>
            <a:br/>
            <a:r>
              <a:t>JEMEN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57200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666666"/>
                </a:solidFill>
              </a:defRPr>
              <a:buChar char="•"/>
            </a:pPr>
            <a:r>
              <a:t>Tata Kelola dan Manajemen menjadi pondasi luar yang mengikat seluruh komponen arsitektur SPBE.</a:t>
            </a:r>
          </a:p>
          <a:p>
            <a:pPr>
              <a:spcAft>
                <a:spcPts val="600"/>
              </a:spcAft>
              <a:defRPr sz="1200">
                <a:solidFill>
                  <a:srgbClr val="666666"/>
                </a:solidFill>
              </a:defRPr>
              <a:buChar char="•"/>
            </a:pPr>
            <a:r>
              <a:t>Proses bisnis, data, aplikasi, infrastruktur, dan keamanan saling menopang untuk satu tujuan: Layanan SPBE yang prima.</a:t>
            </a:r>
          </a:p>
          <a:p>
            <a:pPr>
              <a:spcAft>
                <a:spcPts val="600"/>
              </a:spcAft>
              <a:defRPr sz="1200">
                <a:solidFill>
                  <a:srgbClr val="666666"/>
                </a:solidFill>
              </a:defRPr>
              <a:buChar char="•"/>
            </a:pPr>
            <a:r>
              <a:t>Layanan Publik → untuk masyarakat  |  Layanan Administrasi → untuk internal pemerintah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400"/>
              </a:spcBef>
              <a:defRPr sz="1000">
                <a:solidFill>
                  <a:srgbClr val="FFFFFF"/>
                </a:solidFill>
              </a:defRPr>
            </a:pPr>
            <a:r>
              <a:t>Sistem Pemerintahan Berbasis Elektronik (SPBE)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4 Domain Utama Evaluasi SPBE — Indikator Tingkat Kematangan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280160"/>
          <a:ext cx="1106424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389120"/>
                <a:gridCol w="4663440"/>
              </a:tblGrid>
              <a:tr h="64008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Domain</a:t>
                      </a:r>
                    </a:p>
                  </a:txBody>
                  <a:tcPr>
                    <a:solidFill>
                      <a:srgbClr val="004B8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Fokus Utama</a:t>
                      </a:r>
                    </a:p>
                  </a:txBody>
                  <a:tcPr>
                    <a:solidFill>
                      <a:srgbClr val="004B8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Output yang Diharapkan</a:t>
                      </a:r>
                    </a:p>
                  </a:txBody>
                  <a:tcPr>
                    <a:solidFill>
                      <a:srgbClr val="004B87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spcBef>
                          <a:spcPts val="300"/>
                        </a:spcBef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Kebijakan Internal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300"/>
                        </a:spcBef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Regulasi, pedoman, SK formal di internal instansi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300"/>
                        </a:spcBef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Perbup/Perwali/Perka terkait Tim Koordinasi &amp; Tata Kelola TIK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spcBef>
                          <a:spcPts val="300"/>
                        </a:spcBef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Tata Kelola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300"/>
                        </a:spcBef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Perencanaan arsitektur, peta rencana, integrasi sistem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300"/>
                        </a:spcBef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Dokumen Arsitektur SPBE &amp; Peta Rencana 5 tahun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spcBef>
                          <a:spcPts val="300"/>
                        </a:spcBef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Manajemen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300"/>
                        </a:spcBef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Pengelolaan risiko, data, keamanan, SDM, aset TIK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300"/>
                        </a:spcBef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Penerapan Satu Data Indonesia &amp; Manajemen Risiko SPBE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spcBef>
                          <a:spcPts val="300"/>
                        </a:spcBef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Layanan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300"/>
                        </a:spcBef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Kualitas fungsi aplikasi pelayanan publik &amp; administrasi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300"/>
                        </a:spcBef>
                        <a:defRPr sz="1100">
                          <a:solidFill>
                            <a:srgbClr val="333333"/>
                          </a:solidFill>
                        </a:defRPr>
                      </a:pPr>
                      <a:r>
                        <a:t>Aplikasi terintegrasi (bukan platform terpisah-pisah)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47548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2B5C"/>
                </a:solidFill>
              </a:defRPr>
            </a:pPr>
            <a:r>
              <a:t>⚠️  Sebelum menyusun strategi, instansi Anda akan dinilai berdasarkan 4 domain evaluasi ini sebagai indikator tingkat kematangan (Maturity Index) SPBE.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400"/>
              </a:spcBef>
              <a:defRPr sz="1000">
                <a:solidFill>
                  <a:srgbClr val="FFFFFF"/>
                </a:solidFill>
              </a:defRPr>
            </a:pPr>
            <a:r>
              <a:t>Sistem Pemerintahan Berbasis Elektronik (SPBE)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Domain 1: Kebijakan Internal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i="1">
                <a:solidFill>
                  <a:srgbClr val="666666"/>
                </a:solidFill>
              </a:defRPr>
            </a:pPr>
            <a:r>
              <a:t>Regulasi, Pedoman, dan SK Formal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91640"/>
            <a:ext cx="365760" cy="365760"/>
          </a:xfrm>
          <a:prstGeom prst="ellipse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7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1645920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</a:defRPr>
            </a:pPr>
            <a:r>
              <a:t>Menyusun dan menetapkan Peraturan Kepala Daerah / Menteri tentang Tim Koordinasi SPBE</a:t>
            </a:r>
          </a:p>
        </p:txBody>
      </p:sp>
      <p:sp>
        <p:nvSpPr>
          <p:cNvPr id="8" name="Oval 7"/>
          <p:cNvSpPr/>
          <p:nvPr/>
        </p:nvSpPr>
        <p:spPr>
          <a:xfrm>
            <a:off x="6217920" y="1691640"/>
            <a:ext cx="365760" cy="365760"/>
          </a:xfrm>
          <a:prstGeom prst="ellipse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7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1645920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</a:defRPr>
            </a:pPr>
            <a:r>
              <a:t>Menyusun pedoman tata kelola TIK internal instansi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2880360"/>
            <a:ext cx="365760" cy="365760"/>
          </a:xfrm>
          <a:prstGeom prst="ellipse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7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834640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</a:defRPr>
            </a:pPr>
            <a:r>
              <a:t>Memastikan setiap kebijakan TIK selaras dengan arah strategis SPBE nasional</a:t>
            </a:r>
          </a:p>
        </p:txBody>
      </p:sp>
      <p:sp>
        <p:nvSpPr>
          <p:cNvPr id="12" name="Oval 11"/>
          <p:cNvSpPr/>
          <p:nvPr/>
        </p:nvSpPr>
        <p:spPr>
          <a:xfrm>
            <a:off x="6217920" y="2880360"/>
            <a:ext cx="365760" cy="365760"/>
          </a:xfrm>
          <a:prstGeom prst="ellipse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7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2834640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</a:defRPr>
            </a:pPr>
            <a:r>
              <a:t>Menerbitkan SK formal untuk pembentukan struktur organisasi SPBE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4069080"/>
            <a:ext cx="365760" cy="365760"/>
          </a:xfrm>
          <a:prstGeom prst="ellipse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7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4023360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</a:defRPr>
            </a:pPr>
            <a:r>
              <a:t>Melakukan harmonisasi regulasi antar sektor terkait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2B5C"/>
                </a:solidFill>
              </a:defRPr>
            </a:pPr>
            <a:r>
              <a:t>📋 Output: Perbup/Perwali/Perka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400"/>
              </a:spcBef>
              <a:defRPr sz="1000">
                <a:solidFill>
                  <a:srgbClr val="FFFFFF"/>
                </a:solidFill>
              </a:defRPr>
            </a:pPr>
            <a:r>
              <a:t>Sistem Pemerintahan Berbasis Elektronik (SPBE)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Domain 2: Tata Kelola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i="1">
                <a:solidFill>
                  <a:srgbClr val="666666"/>
                </a:solidFill>
              </a:defRPr>
            </a:pPr>
            <a:r>
              <a:t>Perencanaan Arsitektur &amp; Peta Rencana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91640"/>
            <a:ext cx="365760" cy="365760"/>
          </a:xfrm>
          <a:prstGeom prst="ellipse">
            <a:avLst/>
          </a:prstGeom>
          <a:solidFill>
            <a:srgbClr val="005B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7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1645920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</a:defRPr>
            </a:pPr>
            <a:r>
              <a:t>Menyusun Dokumen Arsitektur SPBE Instansi (proses bisnis, data, aplikasi, infrastruktur)</a:t>
            </a:r>
          </a:p>
        </p:txBody>
      </p:sp>
      <p:sp>
        <p:nvSpPr>
          <p:cNvPr id="8" name="Oval 7"/>
          <p:cNvSpPr/>
          <p:nvPr/>
        </p:nvSpPr>
        <p:spPr>
          <a:xfrm>
            <a:off x="6217920" y="1691640"/>
            <a:ext cx="365760" cy="365760"/>
          </a:xfrm>
          <a:prstGeom prst="ellipse">
            <a:avLst/>
          </a:prstGeom>
          <a:solidFill>
            <a:srgbClr val="005B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7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1645920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</a:defRPr>
            </a:pPr>
            <a:r>
              <a:t>Membuat Peta Rencana (Roadmap) 5 tahun implementasi SPBE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2880360"/>
            <a:ext cx="365760" cy="365760"/>
          </a:xfrm>
          <a:prstGeom prst="ellipse">
            <a:avLst/>
          </a:prstGeom>
          <a:solidFill>
            <a:srgbClr val="005B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7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834640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</a:defRPr>
            </a:pPr>
            <a:r>
              <a:t>Memastikan arsitektur instansi selaras dengan Arsitektur SPBE Nasional</a:t>
            </a:r>
          </a:p>
        </p:txBody>
      </p:sp>
      <p:sp>
        <p:nvSpPr>
          <p:cNvPr id="12" name="Oval 11"/>
          <p:cNvSpPr/>
          <p:nvPr/>
        </p:nvSpPr>
        <p:spPr>
          <a:xfrm>
            <a:off x="6217920" y="2880360"/>
            <a:ext cx="365760" cy="365760"/>
          </a:xfrm>
          <a:prstGeom prst="ellipse">
            <a:avLst/>
          </a:prstGeom>
          <a:solidFill>
            <a:srgbClr val="005B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7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2834640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</a:defRPr>
            </a:pPr>
            <a:r>
              <a:t>Merencanakan integrasi sistem lintas unit kerja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4069080"/>
            <a:ext cx="365760" cy="365760"/>
          </a:xfrm>
          <a:prstGeom prst="ellipse">
            <a:avLst/>
          </a:prstGeom>
          <a:solidFill>
            <a:srgbClr val="005B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7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4023360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</a:defRPr>
            </a:pPr>
            <a:r>
              <a:t>Menggunakan aplikasi Arsitektur SPBE Nasional sebagai acuan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5B96"/>
                </a:solidFill>
              </a:defRPr>
            </a:pPr>
            <a:r>
              <a:t>📋 Output: Dokumen Arsitektur &amp; Peta Rencana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400"/>
              </a:spcBef>
              <a:defRPr sz="1000">
                <a:solidFill>
                  <a:srgbClr val="FFFFFF"/>
                </a:solidFill>
              </a:defRPr>
            </a:pPr>
            <a:r>
              <a:t>Sistem Pemerintahan Berbasis Elektronik (SPBE)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Domain 3: Manajemen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i="1">
                <a:solidFill>
                  <a:srgbClr val="666666"/>
                </a:solidFill>
              </a:defRPr>
            </a:pPr>
            <a:r>
              <a:t>Pengelolaan Risiko, Data, SDM &amp; Aset TIK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91640"/>
            <a:ext cx="365760" cy="365760"/>
          </a:xfrm>
          <a:prstGeom prst="ellipse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7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1645920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</a:defRPr>
            </a:pPr>
            <a:r>
              <a:t>Menerapkan prinsip Satu Data Indonesia (SDI) dalam pengelolaan data</a:t>
            </a:r>
          </a:p>
        </p:txBody>
      </p:sp>
      <p:sp>
        <p:nvSpPr>
          <p:cNvPr id="8" name="Oval 7"/>
          <p:cNvSpPr/>
          <p:nvPr/>
        </p:nvSpPr>
        <p:spPr>
          <a:xfrm>
            <a:off x="6217920" y="1691640"/>
            <a:ext cx="365760" cy="365760"/>
          </a:xfrm>
          <a:prstGeom prst="ellipse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7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1645920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</a:defRPr>
            </a:pPr>
            <a:r>
              <a:t>Menyusun dan menerapkan Manajemen Risiko SPBE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2880360"/>
            <a:ext cx="365760" cy="365760"/>
          </a:xfrm>
          <a:prstGeom prst="ellipse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7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834640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</a:defRPr>
            </a:pPr>
            <a:r>
              <a:t>Mengelola SDM TIK secara profesional dan berkelanjutan</a:t>
            </a:r>
          </a:p>
        </p:txBody>
      </p:sp>
      <p:sp>
        <p:nvSpPr>
          <p:cNvPr id="12" name="Oval 11"/>
          <p:cNvSpPr/>
          <p:nvPr/>
        </p:nvSpPr>
        <p:spPr>
          <a:xfrm>
            <a:off x="6217920" y="2880360"/>
            <a:ext cx="365760" cy="365760"/>
          </a:xfrm>
          <a:prstGeom prst="ellipse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7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2834640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</a:defRPr>
            </a:pPr>
            <a:r>
              <a:t>Melakukan inventarisasi dan optimalisasi aset TIK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4069080"/>
            <a:ext cx="365760" cy="365760"/>
          </a:xfrm>
          <a:prstGeom prst="ellipse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7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4023360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</a:defRPr>
            </a:pPr>
            <a:r>
              <a:t>Menyusun kebijakan pengamanan data dan informasi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70C0"/>
                </a:solidFill>
              </a:defRPr>
            </a:pPr>
            <a:r>
              <a:t>📋 Output: Satu Data Indonesia &amp; Manajemen Risiko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400"/>
              </a:spcBef>
              <a:defRPr sz="1000">
                <a:solidFill>
                  <a:srgbClr val="FFFFFF"/>
                </a:solidFill>
              </a:defRPr>
            </a:pPr>
            <a:r>
              <a:t>Sistem Pemerintahan Berbasis Elektronik (SPBE)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Domain 4: Layanan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i="1">
                <a:solidFill>
                  <a:srgbClr val="666666"/>
                </a:solidFill>
              </a:defRPr>
            </a:pPr>
            <a:r>
              <a:t>Kualitas Fungsi Aplikasi &amp; Integrasi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91640"/>
            <a:ext cx="365760" cy="365760"/>
          </a:xfrm>
          <a:prstGeom prst="ellipse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7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1645920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</a:defRPr>
            </a:pPr>
            <a:r>
              <a:t>Mengintegrasikan aplikasi pelayanan publik dalam satu platform terpadu</a:t>
            </a:r>
          </a:p>
        </p:txBody>
      </p:sp>
      <p:sp>
        <p:nvSpPr>
          <p:cNvPr id="8" name="Oval 7"/>
          <p:cNvSpPr/>
          <p:nvPr/>
        </p:nvSpPr>
        <p:spPr>
          <a:xfrm>
            <a:off x="6217920" y="1691640"/>
            <a:ext cx="365760" cy="365760"/>
          </a:xfrm>
          <a:prstGeom prst="ellipse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7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1645920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</a:defRPr>
            </a:pPr>
            <a:r>
              <a:t>Menyediakan layanan administrasi internal yang efisien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2880360"/>
            <a:ext cx="365760" cy="365760"/>
          </a:xfrm>
          <a:prstGeom prst="ellipse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7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834640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</a:defRPr>
            </a:pPr>
            <a:r>
              <a:t>Memastikan aplikasi dapat saling bertukar data (interoperabilitas)</a:t>
            </a:r>
          </a:p>
        </p:txBody>
      </p:sp>
      <p:sp>
        <p:nvSpPr>
          <p:cNvPr id="12" name="Oval 11"/>
          <p:cNvSpPr/>
          <p:nvPr/>
        </p:nvSpPr>
        <p:spPr>
          <a:xfrm>
            <a:off x="6217920" y="2880360"/>
            <a:ext cx="365760" cy="365760"/>
          </a:xfrm>
          <a:prstGeom prst="ellipse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7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2834640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</a:defRPr>
            </a:pPr>
            <a:r>
              <a:t>Menerapkan standar kualitas layanan digital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4069080"/>
            <a:ext cx="365760" cy="365760"/>
          </a:xfrm>
          <a:prstGeom prst="ellipse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7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4023360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</a:defRPr>
            </a:pPr>
            <a:r>
              <a:t>Mengukur kepuasan pengguna (masyarakat &amp; internal) secara berkala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0A500"/>
                </a:solidFill>
              </a:defRPr>
            </a:pPr>
            <a:r>
              <a:t>📋 Output: Aplikasi Terintegrasi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400"/>
              </a:spcBef>
              <a:defRPr sz="1000">
                <a:solidFill>
                  <a:srgbClr val="FFFFFF"/>
                </a:solidFill>
              </a:defRPr>
            </a:pPr>
            <a:r>
              <a:t>Sistem Pemerintahan Berbasis Elektronik (SPBE)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Langkah 1: Pembentukan Tim Koordinasi SPBE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1188720"/>
            <a:ext cx="731520" cy="731520"/>
          </a:xfrm>
          <a:prstGeom prst="ellipse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188720"/>
            <a:ext cx="9144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2B5C"/>
                </a:solidFill>
              </a:defRPr>
            </a:pPr>
            <a:r>
              <a:t>Langkah Awal / Fondasi Implementasi SPBE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031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</a:defRPr>
              <a:buChar char="•"/>
            </a:pPr>
            <a:r>
              <a:t>Tim Koordinasi SPBE Instansi disahkan melalui SK Kepala Daerah / Menteri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</a:defRPr>
              <a:buChar char="•"/>
            </a:pPr>
            <a:r>
              <a:t>Dipimpin oleh Sekretaris Daerah atau Sekretaris Jenderal (Sekjen)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</a:defRPr>
              <a:buChar char="•"/>
            </a:pPr>
            <a:r>
              <a:t>Bersifat lintas sektor — melibatkan berbagai unsur strategis: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6576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005B96"/>
                </a:solidFill>
              </a:defRPr>
              <a:buChar char="•"/>
            </a:pPr>
            <a:r>
              <a:t>  • Perencanaan (Bappeda/Bappenas)</a:t>
            </a:r>
          </a:p>
          <a:p>
            <a:pPr>
              <a:spcAft>
                <a:spcPts val="600"/>
              </a:spcAft>
              <a:defRPr sz="1300">
                <a:solidFill>
                  <a:srgbClr val="005B96"/>
                </a:solidFill>
              </a:defRPr>
              <a:buChar char="•"/>
            </a:pPr>
            <a:r>
              <a:t>  • Organisasi &amp; Tata Laksana (Ortala)</a:t>
            </a:r>
          </a:p>
          <a:p>
            <a:pPr>
              <a:spcAft>
                <a:spcPts val="600"/>
              </a:spcAft>
              <a:defRPr sz="1300">
                <a:solidFill>
                  <a:srgbClr val="005B96"/>
                </a:solidFill>
              </a:defRPr>
              <a:buChar char="•"/>
            </a:pPr>
            <a:r>
              <a:t>  • Keuangan (BPKAD / Biro Keuangan)</a:t>
            </a:r>
          </a:p>
          <a:p>
            <a:pPr>
              <a:spcAft>
                <a:spcPts val="600"/>
              </a:spcAft>
              <a:defRPr sz="1300">
                <a:solidFill>
                  <a:srgbClr val="005B96"/>
                </a:solidFill>
              </a:defRPr>
              <a:buChar char="•"/>
            </a:pPr>
            <a:r>
              <a:t>  • Teknis TIK (Diskominfo / Pusdatin)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5029200"/>
            <a:ext cx="10972800" cy="640080"/>
          </a:xfrm>
          <a:prstGeom prst="rect">
            <a:avLst/>
          </a:prstGeom>
          <a:solidFill>
            <a:srgbClr val="D6E8F7"/>
          </a:solidFill>
          <a:ln>
            <a:solidFill>
              <a:srgbClr val="005B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507492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2B5C"/>
                </a:solidFill>
              </a:defRPr>
            </a:pPr>
            <a:r>
              <a:t>💡  Prinsip: Tim harus bersifat lintas sektor — bukan hanya domain Diskominfo / TIK semata. SPBE bukan proyek TIK, melainkan transformasi birokrasi menyeluruh.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400"/>
              </a:spcBef>
              <a:defRPr sz="1000">
                <a:solidFill>
                  <a:srgbClr val="FFFFFF"/>
                </a:solidFill>
              </a:defRPr>
            </a:pPr>
            <a:r>
              <a:t>Sistem Pemerintahan Berbasis Elektronik (SPBE)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Langkah 2: Penyusunan Arsitektur &amp; Peta Rencana (Roadmap)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1188720"/>
            <a:ext cx="731520" cy="731520"/>
          </a:xfrm>
          <a:prstGeom prst="ellipse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188720"/>
            <a:ext cx="9144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2B5C"/>
                </a:solidFill>
              </a:defRPr>
            </a:pPr>
            <a:r>
              <a:t>Proses Perencanaan Strategis SPBE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0312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</a:defRPr>
              <a:buChar char="•"/>
            </a:pPr>
            <a:r>
              <a:t>Petakan Proses Bisnis Instansi terlebih dahulu — sebelum menyentuh teknologi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</a:defRPr>
              <a:buChar char="•"/>
            </a:pPr>
            <a:r>
              <a:t>Gunakan aplikasi Arsitektur SPBE Nasional sebagai acuan penyusunan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</a:defRPr>
              <a:buChar char="•"/>
            </a:pPr>
            <a:r>
              <a:t>Susun Dokumen Arsitektur SPBE Instansi: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</a:defRPr>
              <a:buChar char="•"/>
            </a:pPr>
            <a:r>
              <a:t>  • Proses Bisnis  • Data &amp; Informasi  • Aplikasi  • Infrastruktur  • Keamanan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</a:defRPr>
              <a:buChar char="•"/>
            </a:pPr>
            <a:r>
              <a:t>Susun Peta Rencana (Roadmap) implementasi — biasanya berdurasi 5 tahun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</a:defRPr>
              <a:buChar char="•"/>
            </a:pPr>
            <a:r>
              <a:t>Pastikan keselarasan dengan arah strategis SPBE Nasional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5029200"/>
            <a:ext cx="10972800" cy="640080"/>
          </a:xfrm>
          <a:prstGeom prst="rect">
            <a:avLst/>
          </a:prstGeom>
          <a:solidFill>
            <a:srgbClr val="D6E8F7"/>
          </a:solidFill>
          <a:ln>
            <a:solidFill>
              <a:srgbClr val="005B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507492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2B5C"/>
                </a:solidFill>
              </a:defRPr>
            </a:pPr>
            <a:r>
              <a:t>📌  Prinsip: Jangan mulai dari teknologi — mulailah dari proses bisnis. Teknologi hanyalah alat untuk mewujudkan proses yang efisien.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400"/>
              </a:spcBef>
              <a:defRPr sz="1000">
                <a:solidFill>
                  <a:srgbClr val="FFFFFF"/>
                </a:solidFill>
              </a:defRPr>
            </a:pPr>
            <a:r>
              <a:t>Sistem Pemerintahan Berbasis Elektronik (SPBE)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Langkah 3: Standardisasi Infrastruktur &amp; Integrasi Data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1188720"/>
            <a:ext cx="731520" cy="731520"/>
          </a:xfrm>
          <a:prstGeom prst="ellipse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188720"/>
            <a:ext cx="9144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2B5C"/>
                </a:solidFill>
              </a:defRPr>
            </a:pPr>
            <a:r>
              <a:t>Fase Eksekusi Teknis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0312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</a:defRPr>
              <a:buChar char="•"/>
            </a:pPr>
            <a:r>
              <a:t>Batasi pembangunan pusat data (data center) mandiri — biaya besar &amp; tidak efisien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</a:defRPr>
              <a:buChar char="•"/>
            </a:pPr>
            <a:r>
              <a:t>Mulai migrasi ke Pusat Data Nasional (PDN) atau cloud tersertifikasi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</a:defRPr>
              <a:buChar char="•"/>
            </a:pPr>
            <a:r>
              <a:t>Implementasikan sistem berbagi pakai melalui Hub SPLP: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</a:defRPr>
              <a:buChar char="•"/>
            </a:pPr>
            <a:r>
              <a:t>  • SPLP = Sistem Penghubung Layanan Pemerintah (interkoneksi antar sistem)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</a:defRPr>
              <a:buChar char="•"/>
            </a:pPr>
            <a:r>
              <a:t>Pastikan data selaras dengan prinsip Satu Data Indonesia (SDI):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</a:defRPr>
              <a:buChar char="•"/>
            </a:pPr>
            <a:r>
              <a:t>  • Standar data, metadata, interoperabilitas, dan referensi data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5029200"/>
            <a:ext cx="10972800" cy="640080"/>
          </a:xfrm>
          <a:prstGeom prst="rect">
            <a:avLst/>
          </a:prstGeom>
          <a:solidFill>
            <a:srgbClr val="D6E8F7"/>
          </a:solidFill>
          <a:ln>
            <a:solidFill>
              <a:srgbClr val="005B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507492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2B5C"/>
                </a:solidFill>
              </a:defRPr>
            </a:pPr>
            <a:r>
              <a:t>💰  Prinsip: Tidak perlu membangun data center sendiri — manfaatkan PDN dan komputasi cloud untuk efisiensi anggaran.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400"/>
              </a:spcBef>
              <a:defRPr sz="1000">
                <a:solidFill>
                  <a:srgbClr val="FFFFFF"/>
                </a:solidFill>
              </a:defRPr>
            </a:pPr>
            <a:r>
              <a:t>Sistem Pemerintahan Berbasis Elektronik (SPBE)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Langkah 4: Konsolidasi Aplikasi &amp; Layanan Digital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1188720"/>
            <a:ext cx="731520" cy="731520"/>
          </a:xfrm>
          <a:prstGeom prst="ellipse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188720"/>
            <a:ext cx="9144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2B5C"/>
                </a:solidFill>
              </a:defRPr>
            </a:pPr>
            <a:r>
              <a:t>Penyederhanaan Layanan Digital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0312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</a:defRPr>
              <a:buChar char="•"/>
            </a:pPr>
            <a:r>
              <a:t>Lakukan audit menyeluruh terhadap seluruh aplikasi yang ada di instansi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</a:defRPr>
              <a:buChar char="•"/>
            </a:pPr>
            <a:r>
              <a:t>Terapkan moratorium pembuatan aplikasi baru yang bersifat duplikatif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</a:defRPr>
              <a:buChar char="•"/>
            </a:pPr>
            <a:r>
              <a:t>Gabungkan aplikasi sektoral ke dalam satu platform layanan digital terpadu: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</a:defRPr>
              <a:buChar char="•"/>
            </a:pPr>
            <a:r>
              <a:t>  • Super Apps untuk layanan administrasi internal (kepegawaian, keuangan, dll)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</a:defRPr>
              <a:buChar char="•"/>
            </a:pPr>
            <a:r>
              <a:t>  • Super Apps untuk layanan publik (perizinan, pengaduan, informasi)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</a:defRPr>
              <a:buChar char="•"/>
            </a:pPr>
            <a:r>
              <a:t>Pastikan setiap aplikasi memiliki API yang terdokumentasi untuk interoperabilitas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5029200"/>
            <a:ext cx="10972800" cy="640080"/>
          </a:xfrm>
          <a:prstGeom prst="rect">
            <a:avLst/>
          </a:prstGeom>
          <a:solidFill>
            <a:srgbClr val="D6E8F7"/>
          </a:solidFill>
          <a:ln>
            <a:solidFill>
              <a:srgbClr val="005B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507492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2B5C"/>
                </a:solidFill>
              </a:defRPr>
            </a:pPr>
            <a:r>
              <a:t>⚠️  Prinsip: Stop membuat aplikasi baru untuk setiap masalah! Fokus pada integrasi dan interoperabilitas sistem yang sudah ada.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400"/>
              </a:spcBef>
              <a:defRPr sz="1000">
                <a:solidFill>
                  <a:srgbClr val="FFFFFF"/>
                </a:solidFill>
              </a:defRPr>
            </a:pPr>
            <a:r>
              <a:t>Sistem Pemerintahan Berbasis Elektronik (SPBE)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Langkah 5: Penerapan Manajemen Keamanan Informasi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1188720"/>
            <a:ext cx="731520" cy="731520"/>
          </a:xfrm>
          <a:prstGeom prst="ellipse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188720"/>
            <a:ext cx="9144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2B5C"/>
                </a:solidFill>
              </a:defRPr>
            </a:pPr>
            <a:r>
              <a:t>Aspek Keamanan &amp; Kepatuhan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0312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</a:defRPr>
              <a:buChar char="•"/>
            </a:pPr>
            <a:r>
              <a:t>Terapkan Sistem Manajemen Keamanan Informasi (SMKI) berbasis ISO 27001 secara bertahap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</a:defRPr>
              <a:buChar char="•"/>
            </a:pPr>
            <a:r>
              <a:t>Berkolaborasi dengan BSSN (Badan Siber dan Sandi Negara):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</a:defRPr>
              <a:buChar char="•"/>
            </a:pPr>
            <a:r>
              <a:t>  • Vulnerability Assessment (penilaian kerentanan) secara berkala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</a:defRPr>
              <a:buChar char="•"/>
            </a:pPr>
            <a:r>
              <a:t>  • Konsultasi keamanan siber dan kriptografi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</a:defRPr>
              <a:buChar char="•"/>
            </a:pPr>
            <a:r>
              <a:t>Bentuk CSIRT (Computer Security Incident Response Team) internal instansi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</a:defRPr>
              <a:buChar char="•"/>
            </a:pPr>
            <a:r>
              <a:t>Lakukan uji penetrasi (penetration testing) dan audit keamanan rutin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5029200"/>
            <a:ext cx="10972800" cy="640080"/>
          </a:xfrm>
          <a:prstGeom prst="rect">
            <a:avLst/>
          </a:prstGeom>
          <a:solidFill>
            <a:srgbClr val="D6E8F7"/>
          </a:solidFill>
          <a:ln>
            <a:solidFill>
              <a:srgbClr val="005B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507492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2B5C"/>
                </a:solidFill>
              </a:defRPr>
            </a:pPr>
            <a:r>
              <a:t>🔒  Prinsip: Keamanan bukan lapisan terakhir — keamanan harus menjadi pertimbangan sejak tahap perencanaan (security by design).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400"/>
              </a:spcBef>
              <a:defRPr sz="1000">
                <a:solidFill>
                  <a:srgbClr val="FFFFFF"/>
                </a:solidFill>
              </a:defRPr>
            </a:pPr>
            <a:r>
              <a:t>Sistem Pemerintahan Berbasis Elektronik (SPBE)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Langkah 6: Pemantauan, Evaluasi, dan Audit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1188720"/>
            <a:ext cx="731520" cy="731520"/>
          </a:xfrm>
          <a:prstGeom prst="ellipse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14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188720"/>
            <a:ext cx="9144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2B5C"/>
                </a:solidFill>
              </a:defRPr>
            </a:pPr>
            <a:r>
              <a:t>Continuous Improvement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0312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</a:defRPr>
              <a:buChar char="•"/>
            </a:pPr>
            <a:r>
              <a:t>Lakukan evaluasi mandiri (self-assessment) secara berkala untuk memantau kemajuan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</a:defRPr>
              <a:buChar char="•"/>
            </a:pPr>
            <a:r>
              <a:t>Persiapkan diri sebelum penilaian formal dari Kemenpan-RB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</a:defRPr>
              <a:buChar char="•"/>
            </a:pPr>
            <a:r>
              <a:t>Audit TIK (Teknologi Informasi dan Komunikasi) wajib dijalankan: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</a:defRPr>
              <a:buChar char="•"/>
            </a:pPr>
            <a:r>
              <a:t>  • Menilai efisiensi infrastruktur yang berjalan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</a:defRPr>
              <a:buChar char="•"/>
            </a:pPr>
            <a:r>
              <a:t>  • Mengaudit aplikasi dan layanan digital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</a:defRPr>
              <a:buChar char="•"/>
            </a:pPr>
            <a:r>
              <a:t>  • Memeriksa kepatuhan keamanan informasi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</a:defRPr>
              <a:buChar char="•"/>
            </a:pPr>
            <a:r>
              <a:t>Gunakan hasil evaluasi sebagai dasar perbaikan berkelanjutan (continuous improvement)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5029200"/>
            <a:ext cx="10972800" cy="640080"/>
          </a:xfrm>
          <a:prstGeom prst="rect">
            <a:avLst/>
          </a:prstGeom>
          <a:solidFill>
            <a:srgbClr val="D6E8F7"/>
          </a:solidFill>
          <a:ln>
            <a:solidFill>
              <a:srgbClr val="005B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507492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2B5C"/>
                </a:solidFill>
              </a:defRPr>
            </a:pPr>
            <a:r>
              <a:t>📊  Prinsip: Evaluasi bukan formalitas — gunakan hasilnya untuk perbaikan nyata. Ukur, evaluasi, perbaiki, ulangi.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400"/>
              </a:spcBef>
              <a:defRPr sz="1000">
                <a:solidFill>
                  <a:srgbClr val="FFFFFF"/>
                </a:solidFill>
              </a:defRPr>
            </a:pPr>
            <a:r>
              <a:t>Sistem Pemerintahan Berbasis Elektronik (SPBE)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Ringkasan 6 Langkah Penerapan SPBE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88720"/>
            <a:ext cx="3474720" cy="18288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188720"/>
            <a:ext cx="3474720" cy="41148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234440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</a:defRPr>
            </a:pPr>
            <a:r>
              <a:t>Langkah 1: Tim Koordinasi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645920"/>
            <a:ext cx="3200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</a:defRPr>
              <a:buChar char="•"/>
            </a:pPr>
            <a:r>
              <a:t>SK Tim lintas sektor</a:t>
            </a:r>
          </a:p>
        </p:txBody>
      </p:sp>
      <p:sp>
        <p:nvSpPr>
          <p:cNvPr id="9" name="Rectangle 8"/>
          <p:cNvSpPr/>
          <p:nvPr/>
        </p:nvSpPr>
        <p:spPr>
          <a:xfrm>
            <a:off x="4251960" y="1188720"/>
            <a:ext cx="3474720" cy="18288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51960" y="1188720"/>
            <a:ext cx="3474720" cy="411480"/>
          </a:xfrm>
          <a:prstGeom prst="rect">
            <a:avLst/>
          </a:prstGeom>
          <a:solidFill>
            <a:srgbClr val="005B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89120" y="1234440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</a:defRPr>
            </a:pPr>
            <a:r>
              <a:t>Langkah 2: Arsitektur &amp; Roadmap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0" y="1645920"/>
            <a:ext cx="3200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</a:defRPr>
              <a:buChar char="•"/>
            </a:pPr>
            <a:r>
              <a:t>Dokumen arsitektur 5 tahun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55280" y="1188720"/>
            <a:ext cx="3474720" cy="18288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55280" y="1188720"/>
            <a:ext cx="3474720" cy="41148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92440" y="1234440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</a:defRPr>
            </a:pPr>
            <a:r>
              <a:t>Langkah 3: Infrastruktur &amp; Data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92440" y="1645920"/>
            <a:ext cx="3200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</a:defRPr>
              <a:buChar char="•"/>
            </a:pPr>
            <a:r>
              <a:t>PDN, SPLP, Satu Data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246120"/>
            <a:ext cx="3474720" cy="18288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3246120"/>
            <a:ext cx="3474720" cy="411480"/>
          </a:xfrm>
          <a:prstGeom prst="rect">
            <a:avLst/>
          </a:prstGeom>
          <a:solidFill>
            <a:srgbClr val="008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291840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</a:defRPr>
            </a:pPr>
            <a:r>
              <a:t>Langkah 4: Konsolidasi Aplikasi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3703320"/>
            <a:ext cx="3200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</a:defRPr>
              <a:buChar char="•"/>
            </a:pPr>
            <a:r>
              <a:t>Super Apps terintegrasi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51960" y="3246120"/>
            <a:ext cx="3474720" cy="18288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51960" y="3246120"/>
            <a:ext cx="3474720" cy="411480"/>
          </a:xfrm>
          <a:prstGeom prst="rect">
            <a:avLst/>
          </a:prstGeom>
          <a:solidFill>
            <a:srgbClr val="0096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89120" y="3291840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</a:defRPr>
            </a:pPr>
            <a:r>
              <a:t>Langkah 5: Keamanan Informasi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89120" y="3703320"/>
            <a:ext cx="3200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</a:defRPr>
              <a:buChar char="•"/>
            </a:pPr>
            <a:r>
              <a:t>ISO 27001, CSIRT, BSSN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55280" y="3246120"/>
            <a:ext cx="3474720" cy="18288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955280" y="3246120"/>
            <a:ext cx="3474720" cy="411480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92440" y="3291840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</a:defRPr>
            </a:pPr>
            <a:r>
              <a:t>Langkah 6: Evaluasi &amp; Audit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92440" y="3703320"/>
            <a:ext cx="3200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</a:defRPr>
              <a:buChar char="•"/>
            </a:pPr>
            <a:r>
              <a:t>Self-assessment &amp; Audit TIK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400"/>
              </a:spcBef>
              <a:defRPr sz="1000">
                <a:solidFill>
                  <a:srgbClr val="FFFFFF"/>
                </a:solidFill>
              </a:defRPr>
            </a:pPr>
            <a:r>
              <a:t>Sistem Pemerintahan Berbasis Elektronik (SPBE)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Prinsip Utama: Interoperabilitas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0A500"/>
                </a:solidFill>
              </a:defRPr>
            </a:pPr>
            <a:r>
              <a:t>Jebakan Terbesar SPBE:</a:t>
            </a:r>
          </a:p>
          <a:p>
            <a:pPr>
              <a:spcBef>
                <a:spcPts val="600"/>
              </a:spcBef>
              <a:defRPr sz="1800" b="1">
                <a:solidFill>
                  <a:srgbClr val="002B5C"/>
                </a:solidFill>
              </a:defRPr>
            </a:pPr>
            <a:r>
              <a:t>Menganggap digitalisasi berarti 'membuat aplikasi baru untuk setiap masalah'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74320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05B96"/>
                </a:solidFill>
              </a:defRPr>
            </a:pPr>
            <a:r>
              <a:t>Paradigma SPBE Modern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38328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</a:defRPr>
              <a:buChar char="•"/>
            </a:pPr>
            <a:r>
              <a:t>Fokus pada interoperabilitas — bagaimana sistem yang sudah ada bisa saling berbicara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</a:defRPr>
              <a:buChar char="•"/>
            </a:pPr>
            <a:r>
              <a:t>Bertukar data tanpa memaksa masyarakat mengunduh puluhan aplikasi berbeda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</a:defRPr>
              <a:buChar char="•"/>
            </a:pPr>
            <a:r>
              <a:t>Satu platform terpadu, banyak layanan — bukan banyak platform, satu layanan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</a:defRPr>
              <a:buChar char="•"/>
            </a:pPr>
            <a:r>
              <a:t>Efisiensi anggaran melalui berbagi pakai infrastruktur dan aplikasi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12064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 i="1">
                <a:solidFill>
                  <a:srgbClr val="666666"/>
                </a:solidFill>
              </a:defRPr>
            </a:pPr>
            <a:r>
              <a:t>SPBE adalah transformasi birokrasi, bukan proyek TIK. Keberhasilannya diukur dari layanan yang dirasakan masyarakat, bukan jumlah aplikasi yang dibuat.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400"/>
              </a:spcBef>
              <a:defRPr sz="1000">
                <a:solidFill>
                  <a:srgbClr val="FFFFFF"/>
                </a:solidFill>
              </a:defRPr>
            </a:pPr>
            <a:r>
              <a:t>Sistem Pemerintahan Berbasis Elektronik (SPBE)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017520"/>
            <a:ext cx="12191695" cy="54864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Terima Kasih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32004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>
                <a:solidFill>
                  <a:srgbClr val="F0A500"/>
                </a:solidFill>
              </a:defRPr>
            </a:pPr>
            <a:r>
              <a:t>Mari Wujudkan SPBE yang Terintegrasi, Efisien, Aman, dan Tepercaya</a:t>
            </a:r>
          </a:p>
          <a:p>
            <a:pPr algn="ctr">
              <a:spcBef>
                <a:spcPts val="1200"/>
              </a:spcBef>
              <a:defRPr sz="1400">
                <a:solidFill>
                  <a:srgbClr val="D6E8F7"/>
                </a:solidFill>
              </a:defRPr>
            </a:pPr>
            <a:r>
              <a:t>Bersama membangun birokrasi digital Indonesia yang melayani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50292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>
                <a:solidFill>
                  <a:srgbClr val="666666"/>
                </a:solidFill>
              </a:defRPr>
            </a:pPr>
            <a:r>
              <a:t>Sumber: Perpres No. 95/2018 • Perpres No. 132/2022 • Pedoman SPBE Kemenpan-RB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400"/>
              </a:spcBef>
              <a:defRPr sz="1000">
                <a:solidFill>
                  <a:srgbClr val="FFFFFF"/>
                </a:solidFill>
              </a:defRPr>
            </a:pPr>
            <a:r>
              <a:t>Sistem Pemerintahan Berbasis Elektronik (SPBE)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