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576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962E"/>
                </a:solidFill>
                <a:latin typeface="Calibri"/>
              </a:defRPr>
            </a:pPr>
            <a:r>
              <a:t>SISTEM PEMERINTAHAN BERBASIS ELEKTRONIK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Republik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PENERAPAN SPBE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8962E"/>
                </a:solidFill>
                <a:latin typeface="Calibri"/>
              </a:defRPr>
            </a:pPr>
            <a:r>
              <a:t>Transformasi Birokrasi Terintegrasi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Efisien • Aman • Tepercaya</a:t>
            </a:r>
            <a:br/>
            <a:r>
              <a:t>Terintegrasi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6858000" cy="822960"/>
          </a:xfrm>
          <a:prstGeom prst="roundRect">
            <a:avLst>
              <a:gd name="adj" fmla="val 4000"/>
            </a:avLst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DF5"/>
                </a:solidFill>
                <a:latin typeface="Calibri"/>
              </a:defRPr>
            </a:pPr>
            <a:r>
              <a:t>Perpres No. 95 Tahun 2018  •  Perpres No. 132 Tahun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Kementerian PAN-RB — Pedoman SPBE Nasional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0E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Apa Itu SPBE • Arsitektur • 4 Domain • 6 Langkah • Prinsip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Pokok bahasan presentasi SPBE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0E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Apa Itu SPBE?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Dasar Hukum: Perpres No. 95/2018 &amp; Perpres No. 132/2022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Sistem Pemerintahan Berbasis Elektronik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Memahami SPBE — Bukan Sekadar Digitalisasi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SPBE adalah transformasi menyeluruh — bukan proyek TIK biasa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Bukan Digitalisasi Biasa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Bukan memindahkan kertas ke aplikasi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Transformasi menyeluruh birokrasi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Menciptakan tata kelola terintegrasi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4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Dasar Hukum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Perpres No. 95 Tahun 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77440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Perpres No. 132 Tahun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715768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Pedoman dari Kemenpan-RB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4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Tujuan Akhir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Birokrasi terintegrasi &amp; efisien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77440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Layanan prima bagi masyarakat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715768"/>
            <a:ext cx="32409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Pemerintahan aman &amp; tepercaya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Kerangka Arsitektur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Tata Kelola dan Manajemen sebagai pondasi pengikat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2567863" cy="45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A1628"/>
                </a:solidFill>
                <a:latin typeface="Calibri"/>
              </a:defRPr>
            </a:pPr>
            <a:r>
              <a:t>Layanan SPBE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Tujuan akhir: layanan</a:t>
            </a:r>
            <a:br/>
            <a:r>
              <a:t>publik &amp; administrasi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0823" y="1051560"/>
            <a:ext cx="256786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0823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Platform digital</a:t>
            </a:r>
            <a:br/>
            <a:r>
              <a:t>terpadu &amp; interoperabel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051560"/>
            <a:ext cx="2567863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D9488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Satu Data Indonesia</a:t>
            </a:r>
            <a:br/>
            <a:r>
              <a:t>standar &amp;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051560"/>
            <a:ext cx="2567863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5191" y="1051560"/>
            <a:ext cx="2567863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5191" y="1280160"/>
            <a:ext cx="25678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8860B"/>
                </a:solidFill>
                <a:latin typeface="Calibri"/>
              </a:defRPr>
            </a:pPr>
            <a:r>
              <a:t>Infrastruktur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19659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PDN, cloud, jaringan</a:t>
            </a:r>
            <a:br/>
            <a:r>
              <a:t>aman &amp; efisien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3756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10637215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Tata Kelola → perencanaan arsitektur, peta rencana, integrasi sistem</a:t>
            </a:r>
            <a:br/>
            <a:r>
              <a:t>Manajemen → pengelolaan risiko, data, keamanan, SDM, aset TIK</a:t>
            </a:r>
            <a:br/>
            <a:br/>
            <a:r>
              <a:t>💡 Prinsip: Seluruh komponen saling menopang untuk satu tujuan — Layanan SPBE yang prima.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0E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4 Domain Evaluasi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Penilaian oleh Kemenpan-RB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Indikator Tingkat Kematangan (Maturity Index)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Empat Domain Evaluasi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Indikator tingkat kematangan instansi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51560"/>
          <a:ext cx="1109441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Fokus Utama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yang Diharapkan</a:t>
                      </a:r>
                    </a:p>
                  </a:txBody>
                  <a:tcPr anchor="ctr"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Kebijakan Internal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Regulasi, pedoman, SK formal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Perbup/Perwali/Perka terkait Tim Koordinasi &amp; Tata Kelola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Tata Kelola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Perencanaan arsitektur, peta rencana, integrasi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Dokumen Arsitektur SPBE &amp; Peta Rencana 5 tahun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Manajemen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Pengelolaan risiko, data, keamanan, SDM, aset TIK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Penerapan Satu Data Indonesia &amp; Manajemen Risiko SPBE</a:t>
                      </a:r>
                    </a:p>
                  </a:txBody>
                  <a:tcPr anchor="ctr">
                    <a:solidFill>
                      <a:srgbClr val="E8ED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Layanan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Kualitas fungsi aplikasi publik &amp; administrasi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Aplikasi terintegrasi — bukan platform terpisah-pisah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Domain 1: Kebijakan Internal — Regulasi &amp; SK Formal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Peraturan Kepala Daerah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Terbitkan Perbup/Perwali/Perka Tim Koordinasi SPBE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Landasan hukum formal implementasi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7983" y="118872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983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Pedoman TIK Internal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Pedoman tata kelola TIK internal instansi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Selaras dengan arah strategis nasional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118872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SK Formal Organisasi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SK pembentukan struktur organisasi SPBE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Melibatkan seluruh unit terkait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12351" y="1188720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2351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Harmonisasi Regulasi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Harmonisasi antar sektor terkait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2351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Koordinasi lintas bidang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Domain 2: Tata Kelola — Arsitektur &amp; Peta Rencana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Arsitektur SPBE Instansi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Proses bisnis, data, aplikasi, infrastruktur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Selaras dengan Arsitektur Nasional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7983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983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Peta Rencana 5 Tahun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Roadmap implementasi SPBE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Tahapan dan milestone jelas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Integrasi 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Integrasi lintas unit kerja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Aplikasi Arsitektur SPBE Nasional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12351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2351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Monitoring &amp; Evaluasi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Evaluasi berkala kemajuan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2351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Penyesuaian rencana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Domain 3: Manajemen — Risiko, Data, SDM &amp; Aset 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Satu Data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Standar data, metadata, interoperabilitas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Referensi data nasional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7983" y="1188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983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Manajemen Risiko SPBE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Identifikasi dan mitigasi risiko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Berbasis standar manajemen risiko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1188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SDM TIK Profesional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Pengelolaan SDM berkelanjutan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Sertifikasi kompetensi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12351" y="11887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2351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Aset &amp; Keamanan TIK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Inventarisasi aset TIK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2351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Kebijakan pengamanan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Domain 4: Layanan — Kualitas Aplikasi &amp; 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Platform Terpadu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Integrasi layanan publik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Super Apps untuk masyarakat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7983" y="118872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983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Layanan Administrasi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Layanan internal efisien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Kepegawaian, keuangan, dll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0167" y="118872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Interoperabilitas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Sistem saling bertukar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API terdokumentasi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5191" y="1051560"/>
            <a:ext cx="2567863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051560"/>
            <a:ext cx="45720" cy="53492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12351" y="1188720"/>
            <a:ext cx="384048" cy="384048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2351" y="1188720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1691640"/>
            <a:ext cx="229354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8962E"/>
                </a:solidFill>
                <a:latin typeface="Calibri"/>
              </a:defRPr>
            </a:pPr>
            <a:r>
              <a:t>Kualitas &amp; Kepuasan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039112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Standar kualitas layanan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2351" y="2377440"/>
            <a:ext cx="2293543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Ukur kepuasan pengguna berkala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0E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6 Langkah Penerapan SPBE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Hindari pemborosan anggaran 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Urutan implementasi wajib diikuti secara runut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Ringkasan 6 Langkah Implementasi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Tahapan implementasi SPBE yang berurutan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582369" cy="45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1224" y="1325880"/>
            <a:ext cx="457200" cy="457200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1224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A1628"/>
                </a:solidFill>
                <a:latin typeface="Calibri"/>
              </a:defRPr>
            </a:pPr>
            <a:r>
              <a:t>Tim Koordinasi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SK Tim lintas</a:t>
            </a:r>
            <a:br/>
            <a:r>
              <a:t>sektor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1009" y="182880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1049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1049" y="1188720"/>
            <a:ext cx="1582369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3633" y="13258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3633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489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Arsitektur &amp;</a:t>
            </a:r>
            <a:br/>
            <a:r>
              <a:t>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489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Dokumen</a:t>
            </a:r>
            <a:br/>
            <a:r>
              <a:t>5 tahun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3418" y="182880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3458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3458" y="1188720"/>
            <a:ext cx="1582369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6042" y="1325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6042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4898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Infrastruktur</a:t>
            </a:r>
            <a:br/>
            <a:r>
              <a:t>&amp;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4898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PDN, SPLP,</a:t>
            </a:r>
            <a:br/>
            <a:r>
              <a:t>Satu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5827" y="182880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5867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55867" y="1188720"/>
            <a:ext cx="1582369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8452" y="1325880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8452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7307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860B"/>
                </a:solidFill>
                <a:latin typeface="Calibri"/>
              </a:defRPr>
            </a:pPr>
            <a:r>
              <a:t>Konsolidasi</a:t>
            </a:r>
            <a:br/>
            <a:r>
              <a:t>Aplikasi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307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Super Apps</a:t>
            </a:r>
            <a:br/>
            <a:r>
              <a:t>terpadu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8236" y="182880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8276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8276" y="1188720"/>
            <a:ext cx="1582369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20861" y="132588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20861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9716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Keamanan</a:t>
            </a:r>
            <a:br/>
            <a:r>
              <a:t>Informasi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9716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ISO 27001,</a:t>
            </a:r>
            <a:br/>
            <a:r>
              <a:t>BSSN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0645" y="182880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962E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60685" y="1188720"/>
            <a:ext cx="1582369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60685" y="1188720"/>
            <a:ext cx="1582369" cy="4572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23270" y="1325880"/>
            <a:ext cx="457200" cy="457200"/>
          </a:xfrm>
          <a:prstGeom prst="ellipse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23270" y="13258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52125" y="1874520"/>
            <a:ext cx="139948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Evaluasi &amp;</a:t>
            </a:r>
            <a:br/>
            <a:r>
              <a:t>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2125" y="2194560"/>
            <a:ext cx="1399489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8"/>
                </a:solidFill>
                <a:latin typeface="Calibri"/>
              </a:defRPr>
            </a:pPr>
            <a:r>
              <a:t>Self-assessment</a:t>
            </a:r>
            <a:br/>
            <a:r>
              <a:t>Audit TIK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338328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3520440"/>
            <a:ext cx="10637215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📌 Urutan bersifat wajib — jangan melompati langkah. Setiap langkah adalah fondasi bagi langkah selanjutnya.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1: Pembentukan Tim Koordinasi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Langkah Awal / Fondasi Implementasi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Pembentukan Tim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SK Kepala Daerah / Menteri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Dipimpin Sekda / Sekjen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Bersifat lintas sektor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Bukan proyek TIK — transformasi birokrasi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Unsur yang Terlibat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Perencanaan (Bappeda)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Organisasi (Ortala)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Keuangan (BPKAD)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Teknis TIK (Diskominfo)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2: Penyusunan Arsitektur &amp; Peta Rencana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Proses Perencanaan Strategis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Arsitektur SPBE Instansi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Petakan Proses Bisnis dulu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Data &amp; Informasi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Aplikasi yang dibutuhkan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Infrastruktur &amp; Keamanan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Peta Rencana 5 Tahun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Gunakan Arsitektur SPBE Nasional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Selaras dengan strategi nasional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Milestone &amp; target per tahun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Anggaran &amp; sumber daya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3: Standardisasi Infrastruktur &amp; Integrasi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Fase Eksekusi Teknis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Infrastruktur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Batasi data center mandiri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Migrasi ke PDN /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Hub SPLP interoperabilitas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Efisiensi anggaran TIK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Prinsip Satu Data Indonesia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Standar data &amp;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Interoperabilitas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Referensi data nasional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4: Konsolidasi Aplikasi &amp; Layanan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Penyederhanaan Layanan Digital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8860B"/>
                </a:solidFill>
                <a:latin typeface="Calibri"/>
              </a:defRPr>
            </a:pPr>
            <a:r>
              <a:t>Yang Harus Dilakukan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seluruh aplikasi existing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Moratorium aplikasi duplikatif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Gabung ke platform terpadu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Super Apps publik &amp; internal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Yang Harus Dihindari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Aplikasi baru tiap masalah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Platform terpisah-pisah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Membangun dari nol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Mengabaikan interoperabilitas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5: Penerapan Manajemen Keamanan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Aspek Keamanan &amp; Kepatuhan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Standar &amp; Kolaborasi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SMKI berbasis ISO 27001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Kolaborasi dengan BSSN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Vulnerability Assessment berkala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Security by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Tim &amp; Prosedur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CSIRT internal instansi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Penetration testing rutin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keamanan informasi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Insiden response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Langkah 6: Pemantauan, Evaluasi, dan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16636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Evaluasi Mandiri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Self-assessment berkala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Pantau kemajuan implementasi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Persiapan penilaian Kemenpan-RB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Gunakan hasil untuk perbaikan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051560"/>
            <a:ext cx="5410047" cy="5166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051560"/>
            <a:ext cx="45720" cy="5166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188720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Audit TIK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1481328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Efisiensi infrastruktur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1700784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Audit aplikasi &amp; layanan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1920240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Kepatuhan keamanan informasi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139696"/>
            <a:ext cx="5090007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Laporan rekomendasi perbaikan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2743200"/>
            <a:ext cx="2743200" cy="2743200"/>
          </a:xfrm>
          <a:prstGeom prst="ellipse">
            <a:avLst/>
          </a:prstGeom>
          <a:solidFill>
            <a:srgbClr val="0E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Prinsip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962E"/>
                </a:solidFill>
                <a:latin typeface="Calibri"/>
              </a:defRPr>
            </a:pPr>
            <a:r>
              <a:t>Interoperabilitas — Bukan Jumlah Aplikasi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Kunci Keberhasilan SPBE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48640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Jebakan Terbesar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Menganggap digitalisasi = membuat aplikasi baru untuk setiap masalah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5410047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Puluhan aplikasi terpisah</a:t>
            </a:r>
            <a:br/>
            <a:r>
              <a:t>Masyarakat bingung</a:t>
            </a:r>
            <a:br/>
            <a:r>
              <a:t>Anggaran membengkak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051560"/>
            <a:ext cx="5410047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D9488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8"/>
                </a:solidFill>
                <a:latin typeface="Calibri"/>
              </a:defRPr>
            </a:pPr>
            <a:r>
              <a:t>Satu platform terpadu</a:t>
            </a:r>
            <a:br/>
            <a:r>
              <a:t>Interoperabilitas</a:t>
            </a:r>
            <a:br/>
            <a:r>
              <a:t>Efisiensi &amp; sinergi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11094415" cy="2743200"/>
          </a:xfrm>
          <a:prstGeom prst="roundRect">
            <a:avLst>
              <a:gd name="adj" fmla="val 4000"/>
            </a:avLst>
          </a:prstGeom>
          <a:solidFill>
            <a:srgbClr val="E8EDF5"/>
          </a:solidFill>
          <a:ln w="6350">
            <a:solidFill>
              <a:srgbClr val="E8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637215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💡 Paradigma SPBE Modern:</a:t>
            </a:r>
            <a:br/>
            <a:r>
              <a:t>• Fokus pada interoperabilitas — bagaimana sistem yang sudah ada bisa saling berbicara</a:t>
            </a:r>
            <a:br/>
            <a:r>
              <a:t>• Bertukar data tanpa memaksa masyarakat mengunduh puluhan aplikasi berbeda</a:t>
            </a:r>
            <a:br/>
            <a:r>
              <a:t>• Satu platform terpadu, banyak layanan — bukan banyak platform, satu layanan</a:t>
            </a:r>
            <a:br/>
            <a:r>
              <a:t>• SPBE adalah transformasi birokrasi, bukan proyek TIK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8962E"/>
                </a:solidFill>
                <a:latin typeface="Calibri"/>
              </a:defRPr>
            </a:pPr>
            <a:r>
              <a:t>Mari Wujudkan SPBE yang Terintegrasi, Efisien, Aman, dan Tepercaya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CA3AF"/>
                </a:solidFill>
                <a:latin typeface="Calibri"/>
              </a:defRPr>
            </a:pPr>
            <a:r>
              <a:t>Bersama membangun birokrasi digital Indonesia yang melayani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Sumber: Perpres No. 95/2018 • Perpres No. 132/2022 • Pedoman SPBE Kemenpan-RB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