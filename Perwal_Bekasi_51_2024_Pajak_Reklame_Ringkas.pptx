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194560"/>
            <a:ext cx="32004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DAERAH KOTA BEKASI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51  ·  TAHUN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WALI KOTA BEKASI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51 TAHUN 2024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PAJAK REKLAME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Bekasi  |  20 Desember 2024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 RINGKAS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Perwal Bekasi No 51/2024 — Pengelolaan Pajak Reklame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149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0149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Umum &amp; Definisi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721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14721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Objek, Subjek &amp; Wajib Pajak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93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19293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Pajak &amp; Tahun Pajak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865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3865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&amp; Pendataan WP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437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28437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Sewa Reklame (NSR)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009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33009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&amp; Tarif Pajak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581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37581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&amp; Pembayaran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153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42153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Pembetulan, Keberatan &amp; Banding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6725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80160" y="46725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Pemeriksaan, Penagihan &amp; Penghapusan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1297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80160" y="51297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Keringanan, Kemudahan &amp; Penghargaan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577840"/>
            <a:ext cx="548640" cy="320040"/>
          </a:xfrm>
          <a:prstGeom prst="roundRect">
            <a:avLst/>
          </a:prstGeom>
          <a:solidFill>
            <a:srgbClr val="2D7DD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58698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80160" y="55869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Penutup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I: KETENTUAN UMUM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 — Definisi Kunci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Penting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Daerah = Kota Bekasi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Bapenda = Badan Pendapatan Daerah Kota Bekasi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 = Benda/alat/media untuk tujuan komersial (promosi, pengenalan)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Pajak Reklame = Pajak atas penyelenggaraan reklame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(Nilai Sewa Reklame) = Dasar pengenaan Pajak Reklame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NPWPD = Nomor Pokok Wajib Pajak Daerah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Pajak = Orang pribadi/badan dengan hak &amp; kewajiban perpajakan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II: OBJEK, SUBJEK &amp; WAJIB PAJAK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2–4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&amp; Pengecualian Pajak Reklame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303520" cy="5029200"/>
          </a:xfrm>
          <a:prstGeom prst="roundRect">
            <a:avLst/>
          </a:prstGeom>
          <a:solidFill>
            <a:srgbClr val="E8EDF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Pajak: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jenis reklame: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Papan/Billboard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Videotron/Megatron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Kain (spanduk, umbul, baliho)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Melekat/Stiker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Selebaran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(kendaraan)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(balon gas)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Apung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Film/Slide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Peragaan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303520" cy="5029200"/>
          </a:xfrm>
          <a:prstGeom prst="roundRect">
            <a:avLst/>
          </a:prstGeom>
          <a:solidFill>
            <a:srgbClr val="F0F2F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Dikecualikan: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TV, radio, media cetak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Label/merek produk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usaha ≤ 1 m² di tempat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 Pemerintah/Pemda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ibadah &amp; panti asuhan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politik (masa kampanye)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Sosial/keagamaan (≤ 30 hari)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Olahraga KONI (≤ 30 hari)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Subjek: Pengguna reklame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Pajak: Penyelenggara reklame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III: MASA &amp; TAHUN PAJAK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Pajak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Pajak Permanen: 12 bulan / sesuai masa penayangan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Pajak Insidentil: per hari, maks. 30 hari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Pajak: 1 tahun kalender (atau sesuai tahun buku WP)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IV: PENDAFTARAN &amp; PENDATAAN WP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6–8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Pendaftaran, Pendataan &amp; Penonaktifan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303520" cy="5029200"/>
          </a:xfrm>
          <a:prstGeom prst="roundRect">
            <a:avLst/>
          </a:prstGeom>
          <a:solidFill>
            <a:srgbClr val="E8EDF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(Pasal 6):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daftarkan diri + objek pajak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ambil/online/dikirim petugas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Lampirkan: KTP, NPWP, Akta, NIB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Bapenda terbitkan NPWPD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tak daftar → NPWPD jabatan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303520" cy="5029200"/>
          </a:xfrm>
          <a:prstGeom prst="roundRect">
            <a:avLst/>
          </a:prstGeom>
          <a:solidFill>
            <a:srgbClr val="F0F2F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Pendataan (Pasal 7):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Bapenda data WP &amp; objek pajak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data geografis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Penonaktifan (Pasal 8):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tak penuhi syarat → nonaktif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maks. 3 bulan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Syarat: tanpa tunggakan &amp; keberatan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V: NILAI SEWA REKLAME (NSR)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9 — Dasar Pengenaan Pajak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Penentu NSR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= Nilai Jual Objek Pajak + Nilai Strategis Pemasangan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Faktor: Jenis reklame | Bahan | Lokasi (Kelas Jalan) | Waktu (detik) | Jangka waktu (hari) | Jumlah media | Ukuran (m²)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Jalan: Khusus (Tol, Premium I, Premium II) | Kelas I (Kendali Ketat) | Kelas II (Kendali Sedang)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VI: PERHITUNGAN &amp; TARIF PAJAK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Perhitungan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Pajak Reklame = Tarif × NSR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Papan/Billboard = Nilai Kelas Jalan × Ukuran × Jumlah × Jangka Waktu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Khusus: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 indoor: NSR = 50%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Ketinggian &gt; 15 m: tambahan 20%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tembakau &amp; miras: tambahan 50%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Papan/Billboard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Satuan: 1 m², 1 buah, 1 hari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(Rp/m²/hari)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 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23.575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16.100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14.950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Ketat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13.225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11.500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Megatron/Videotron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246888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(/30 detik)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(/m²/tahun)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 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17,25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13.599.900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13,80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10.879.920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9,20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7.253.280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Ketat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8,05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6.346.620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4.533.300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Kain (Spanduk/Umbul/Baliho)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Satuan: 1 m², 1 buah, 1 hari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(Rp/m²/hari)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 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Ketat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19.000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Jenis Lainnya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Stiker: Rp 7,5/cm² (min. Rp 750.000/kali)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Melekat: Rp 750.000/m²/tahun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Selebaran: Rp 600/lembar (min. Rp 6.000.000/kali)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Berjalan: Rp 6.000/m²/hari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Udara: Rp 2.400.000/sekali (maks. 1 bln)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Apung: Rp 600.000/sekali (maks. 1 bln)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Film/Slide: Rp 12.000/15 detik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Peragaan: Rp 480.000/penyelenggaraan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VII: PENETAPAN, TAGIHAN &amp; PEMBAYARAN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11–14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Penetapan hingga Pembayaran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(Pasal 11): SKPD berdasarkan pendaftaran / jabatan / hasil periksa — maks. 5 tahun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STPD (Pasal 12):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pajak tak/kurang dibayar → STPD + bunga 1%/bln (maks. 24 bln)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SK Keberatan/Banding tak dibayar → bunga 0,6%/bln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(Pasal 13–14):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Lunas via Kas Daerah/bank persepsi — maks. 1 bulan sejak SKPD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Keterlambatan: bunga 1%/bln + STPD (lunas ≤ 30 hari)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VIII: PEMBETULAN, KEBERATAN &amp; BANDING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15–20 (Pembetulan), 29–33 (Keberatan &amp; Banding)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Pembetulan, Keberatan &amp; Banding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303520" cy="5029200"/>
          </a:xfrm>
          <a:prstGeom prst="roundRect">
            <a:avLst/>
          </a:prstGeom>
          <a:solidFill>
            <a:srgbClr val="E8EDF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 (Pasal 15–20):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tulis/hitung/penerapan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→ keputusan 6 bulan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&gt; 6 bln tanpa keputusan → dikabulkan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jabatan (Pasal 19)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berulang (Pasal 20)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303520" cy="5029200"/>
          </a:xfrm>
          <a:prstGeom prst="roundRect">
            <a:avLst/>
          </a:prstGeom>
          <a:solidFill>
            <a:srgbClr val="F0F2F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Keberatan (Pasal 29–31):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3 bulan sejak SKPD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maks. 12 bulan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Ditolak: denda 30%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(Pasal 32–33):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3 bulan sejak SK Keberatan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Ditolak: denda 60%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Dikabulkan: + bunga 0,6%/bln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IX: PEMERIKSAAN, PENAGIHAN &amp; PENGHAPUSAN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22–26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Pemeriksaan, Penagihan &amp; Penghapusan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(Pasal 22–23): Kepala Bapenda berwenang periksa kepatuhan WP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wajib: tunjukkan dokumen, beri akses tempat, beri keterangan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tidak → pajak ditetapkan jabatan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Penagihan (Pasal 24): Dasar: SKPD, SKPDKB, SKPDKBT, STPD, dll.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Kedaluwarsa (Pasal 25): 5 tahun sejak pajak terutang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Tertangguh jika: ada Surat Teguran/Paksa atau ada pengakuan utang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Penghapusan Piutang (Pasal 26): Untuk piutang tak tertagih → Keputusan Wali Kota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X: KERINGANAN, KEMUDAHAN &amp; PENGHARGAAN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27–28, 34–35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&amp; Penghargaan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Keringanan/Pengurangan/Pembebasan (Pasal 27):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WP dengan likuiditas rendah atau objek terdampak bencana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Kemudahan Perpajakan (Pasal 28):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Perpanjangan waktu bayar &amp; angsuran (maks. 24 bln, bunga 0,6%/bln)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WP keadaan kahar: bencana, kebakaran, kerusuhan, wabah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Penghargaan (Pasal 34–35):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WP Taat Pajak: bayar tepat waktu ≥ 1 tahun, tanpa tunggakan 3 tahun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XI: KETENTUAN PENUTUP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36–37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7315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Pencabutan &amp; Mulai Berlaku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303520" cy="5029200"/>
          </a:xfrm>
          <a:prstGeom prst="roundRect">
            <a:avLst/>
          </a:prstGeom>
          <a:solidFill>
            <a:srgbClr val="E8EDF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36 — Dicabut: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Perwal No. 48/2012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Perwal No. 52/2013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303520" cy="5029200"/>
          </a:xfrm>
          <a:prstGeom prst="roundRect">
            <a:avLst/>
          </a:prstGeom>
          <a:solidFill>
            <a:srgbClr val="F0F2F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00584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37 — Berlaku: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Sejak diundangkan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20 Desember 2024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Pj. WALI KOTA BEKASI: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GANI MUHAMAD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2294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108960"/>
            <a:ext cx="32004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DAERAH KOTA BEKASI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Wali Kota Bekasi Nomor 51 Tahun 2024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Pengelolaan Pajak Reklame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https://jdih.bekasikota.go.id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Perwal Bekasi No 51/2024 - Pengelolaan Pajak Reklame</dc:title>
  <dc:subject>PptxGenJS Presentation</dc:subject>
  <dc:creator>Pemerintah Kota Bekasi</dc:creator>
  <cp:lastModifiedBy>Pemerintah Kota Bekasi</cp:lastModifiedBy>
  <cp:revision>1</cp:revision>
  <dcterms:created xsi:type="dcterms:W3CDTF">2026-06-20T11:39:45Z</dcterms:created>
  <dcterms:modified xsi:type="dcterms:W3CDTF">2026-06-20T11:39:45Z</dcterms:modified>
</cp:coreProperties>
</file>