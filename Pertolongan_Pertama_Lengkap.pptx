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286000" cy="2286000"/>
          </a:xfrm>
          <a:prstGeom prst="ellipse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6576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C2626"/>
                </a:solidFill>
                <a:latin typeface="Calibri"/>
              </a:defRPr>
            </a:pPr>
            <a:r>
              <a:t>🚨 PANDUAN KESEHATAN &amp; KESELAMATAN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EDUKASI MASYARAKAT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11094415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PANDUAN LENGKAP</a:t>
            </a:r>
            <a:br/>
            <a:r>
              <a:t>PERTOLONGAN PERTAMA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C2626"/>
                </a:solidFill>
                <a:latin typeface="Calibri"/>
              </a:defRPr>
            </a:pPr>
            <a:r>
              <a:t>🏥 Penanganan Korban Kecelakaan — Berdasarkan Pedoman BTLS (Basic Trauma Life Support)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109441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FIRST</a:t>
            </a:r>
            <a:br/>
            <a:r>
              <a:t>AID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37760"/>
            <a:ext cx="6858000" cy="822960"/>
          </a:xfrm>
          <a:prstGeom prst="roundRect">
            <a:avLst>
              <a:gd name="adj" fmla="val 4000"/>
            </a:avLst>
          </a:prstGeom>
          <a:solidFill>
            <a:srgbClr val="0D145C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8EAF6"/>
                </a:solidFill>
                <a:latin typeface="Calibri"/>
              </a:defRPr>
            </a:pPr>
            <a:r>
              <a:t>🚑 Prinsip 3A  •  🩺 DRSABCD  •  ❤️ Golden Hour  •  🩹 Do's &amp; Don'ts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14 Slide  •  Materi Lengkap  •  Siap Edukasi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📋 Daftar 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Struktur Materi Pertolongan Pertama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106424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06424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🚨 Mengapa Pertolongan Pertama Penting?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18488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7335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73352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🛡️ Prinsip 3A: Amankan Diri, Lingkungan, Korban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85415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7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40279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📞 Hubungi Bantuan Medis (119/112)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52344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0720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07208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👀 Periksa Kesadaran Korban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1051560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7307" y="1106424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1667" y="1106424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⚠️ Jangan Pindahkan Korban Sembarangan!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5867" y="1618488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47307" y="167335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1667" y="1673352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🩸 Tangani Perdarahan Hebat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5867" y="2185415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47307" y="224027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1667" y="2240279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✅❌ Do's and Don'ts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5867" y="2752344"/>
            <a:ext cx="5387187" cy="5212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47307" y="280720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1667" y="2807208"/>
            <a:ext cx="456422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2E"/>
                </a:solidFill>
                <a:latin typeface="Calibri"/>
              </a:defRPr>
            </a:pPr>
            <a:r>
              <a:t>⏰ The Golden Hour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🚨 Mengapa Pertolongan Pertama Penting?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Kecelakaan dapat terjadi kapan saja — penanganan cepat menyelamatkan nyawa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Waktu Sangat Kritis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Setiap detik sangat berharga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"The Golden Hour" = 60 menit pertama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Penanganan cepat = peluang hidup lebih besar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Mencegah Cedera Lebih Parah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Cedera tulang belakang permanen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Perdarahan tak terkendali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Gangguan pernapasan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Menjembatani ke Profesional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Pertolongan awam = pertolongan pertama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Sambil menunggu ambulans tiba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Anda bisa jadi pahlawan nyawa!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🛡️ Prinsip 3A — Amankan Keadaan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Sebelum menolong, PASTIKAN Anda aman terlebih dahulu!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🧑‍⚕️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A: AMAN DIRI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⚠️ Jangan menjadi korban selanjutnya!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🧤 Pakai APD jika ada (sarung tangan medis)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🚗 Pastikan posisi aman dari lalu lintas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👁️ Waspada terhadap bahaya sekitar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🛣️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A: AMAN LINGKUNGAN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🔑 Matikan mesin kendaraan yang terlibat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🔺 Pasang segitiga pengaman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🚦 Minta orang lain atur lalu lintas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5378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🔥 Jauhkan api atau sumber percikan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A: AMAN KORBAN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🚷 Jauhkan korban dari bahaya langsung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🔥 Risiko kebakaran atau ledakan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🚗 Risiko terlindas kendaraan 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4956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⚡ Risiko korsleting listrik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📞 Segera Hubungi Bantuan Medis Darurat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Langkah terpenting: Panggil tenaga ahli segera!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Nomor 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🚑 Ambulans / Gawat Darurat Medis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🏥 Untuk keadaan darurat medis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👨‍⚕️ Ditangani tenaga medis profesional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Nomor 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📞 Layanan Panggilan Darurat Terpadu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🚒 Gabungan: Polisi, PMI, Damkar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🌐 Akses di seluruh Indonesia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Informasi yang Harus Disampaikan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📍 Lokasi kejadian (alamat jelas)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👥 Jumlah korban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🩺 Kondisi korban (sadarkah/tidak)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🚗 Jenis kecelakaan (laka lintas, dll)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👀 Periksa Kesadaran Korban (Cek Respon)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Dekati korban dan periksa respons dengan cara yang benar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Cara Memeriksa: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👋 Dekati korban secara perlahan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🫱 Tepuk bahu secara pelan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🗣️ Panggil: "Pak/Bu, bisa dengar saya?"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3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Perhatikan Reaksi: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👀 Apakah mata terbuka?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6265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🗣️ Apakah ada respons verbal?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39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🖐️ Apakah ada gerakan?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051560"/>
            <a:ext cx="5410047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1188719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Jika SADAR: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1481328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😌 Tenangkan korban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7" y="1719072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🚫 Larang banyak bergerak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195681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💬 Ajak mengobrol agar panik berkurang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219455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2432303"/>
            <a:ext cx="5090007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Jika TIDAK SADAR: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724911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👀 Periksa pernapasan (gerakan dada)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5887" y="2962655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🫁 Jika tidak bernapas → RJP/CPR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3200399"/>
            <a:ext cx="5090007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• ⚡ Kompresi dada 30x : napas buatan 2x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⚠️ JANGAN Pindahkan Korban Secara Sembarangan!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Kesalahan paling fatal yang sering terjadi di masyarakat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5410047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C2626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JANGAN pindahkan korban kecuali ada ancaman nyawa langsung (kebakaran, terlindas, ledakan)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051560"/>
            <a:ext cx="5410047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C2626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Memindahkan tanpa teknik benar = risiko kelumpuhan permanen atau kematian!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11094415" cy="2560320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06372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🦺 ATURAN EMAS:</a:t>
            </a:r>
            <a:br/>
            <a:br/>
            <a:r>
              <a:t>• Cedera leher/tulang belakang = JANGAN DIGERAKKAN</a:t>
            </a:r>
            <a:br/>
            <a:r>
              <a:t>• Tunggu paramedis dengan alat penyangga (neck brace, spinal board)</a:t>
            </a:r>
            <a:br/>
            <a:r>
              <a:t>• Kecuali: korban berada di posisi yang sangat berbahaya</a:t>
            </a:r>
            <a:br/>
            <a:br/>
            <a:r>
              <a:t>⚖️ Risiko memindahkan vs Risiko tetap di tempat — pertimbangkan dengan bijak!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🩸 Tangani Perdarahan Hebat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Perdarahan hebat harus segera ditangani — setiap detik berharga!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Kenali Tanda Perdarahan Hebat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🩸 Darah menyemprot atau mengalir deras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😰 Korban pucat, dingin, berkeringat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💓 Detak jantung cepat dan lemah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😵 Kesadaran menurun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563EB"/>
                </a:solidFill>
                <a:latin typeface="Calibri"/>
              </a:defRPr>
            </a:pPr>
            <a:r>
              <a:t>Cara Menghentikan Perdarahan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🧻 Gunakan kain bersih (baju, handuk, kassa)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🖐️ Tekan langsung pada titik luka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💪 Pertahankan tekanan secara konsisten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5378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⬆️ Angkat bagian yang berdarah jika mungkin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Yang TIDAK Boleh Dilakukan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❌ Jangan cabut benda asing dari luka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❌ Jangan gunakan tourniquet sembarangan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❌ Jangan buka tekanan yang sudah diberikan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4956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❌ Jangan gunakan obat-obatan tanpa anjuran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✅ DO's — Yang BOLEH Dilakukan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Langkah-langkah yang aman dan dianjurkan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Jaga Suhu Tubuh Korban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🧥 Tutupi dengan jaket atau selimut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🌡️ Mencegah hipotermia (suhu tubuh turun)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🛏️ Jaga korban tetap hangat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⛑️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Buka Kaca Helm (Jika Full-Face)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🪖 Buka kaca helm pelindung saja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💨 Agar udara lancar ke saluran napas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⚠️ JANGAN lepas helm dari kepala!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A1628"/>
                </a:solidFill>
                <a:latin typeface="Calibri"/>
              </a:defRPr>
            </a:pPr>
            <a:r>
              <a:t>Ajak Korban Mengobrol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🗣️ Jika korban sadar, ajak bicara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😌 Mencegah kepanikan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😴 Mencegah korban tertidur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❌ DON'Ts — Yang DILARANG KERAS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Kesalahan yang dapat berakibat fatal!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Jangan Beri Makan/Minum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🍔 Jangan beri makan atau minum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😮 Risiko tersedak (aspirasi)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🫁 Menutup jalan napas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💀 Dapat menyebabkan kematian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8218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5378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Jangan Lepas Helm Paksa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5378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❌ JANGAN lepas helm secara paksa!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378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🦴 Risiko merusak tulang leher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5378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🦽 Dapat menyebabkan kelumpuhan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5378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✅ Buka kaca helm saja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7796" y="1051560"/>
            <a:ext cx="3515258" cy="5349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27796" y="1051560"/>
            <a:ext cx="45720" cy="5349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64956" y="1188719"/>
            <a:ext cx="384048" cy="38404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4956" y="1188719"/>
            <a:ext cx="384048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4956" y="1691639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Jangan Mengerumuni Korban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956" y="2039112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🚫 Jangan berkerumun terlalu rapat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956" y="2331720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💨 Menghalangi sirkulasi udara segar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4956" y="2624327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🚑 Mengganggu akses paramedis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4956" y="2916935"/>
            <a:ext cx="324093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A1A2E"/>
                </a:solidFill>
                <a:latin typeface="Calibri"/>
              </a:defRPr>
            </a:pPr>
            <a:r>
              <a:t>• 📸 Jangan sibuk foto/video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📋 Ringkasan: Do's and Don'ts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Perbandingan tegas antara yang boleh dan yang dilarang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051560"/>
          <a:ext cx="1109441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✅ BOLEH (Do's)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❌ DILARANG (Don'ts)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⚠️ Alasan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🧣 Jaga suhu tubuh korban tetap hangat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🍔 Beri makan atau minum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Risiko tersedak &amp; sumbatan jalan napas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⛑️ Buka kaca helm (jika full-face)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🪖 Lepas helm secara paksa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Risiko cedera tulang leher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💬 Ajak korban mengobrol jika sadar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👥 Mengerumuni korban terlalu rapat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Menghalangi udara &amp; akses medis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📞 Segera hubungi 119/112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📱 Sibuk foto/video kecelakaan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Waktu sangat kritis!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🩹 Tekan luka dengan kain bersih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🩸 Biarkan perdarahan terus mengalir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Perdarahan hebat = kematian</a:t>
                      </a:r>
                    </a:p>
                  </a:txBody>
                  <a:tcPr anchor="ctr">
                    <a:solidFill>
                      <a:srgbClr val="E8EA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⏰ The Golden Hour — Jam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60 menit pertama setelah kecelakaan = penentu keselamatan!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5410047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DC2626"/>
                </a:solidFill>
                <a:latin typeface="Calibri"/>
              </a:defRPr>
            </a:pPr>
            <a:r>
              <a:t>60'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Menit pertama setelah trauma sangat menentukan tingkat keselamatan dan pemulihan korban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051560"/>
            <a:ext cx="5410047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051560"/>
            <a:ext cx="5410047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280160"/>
            <a:ext cx="541004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563EB"/>
                </a:solidFill>
                <a:latin typeface="Calibri"/>
              </a:defRPr>
            </a:pPr>
            <a:r>
              <a:t>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1965960"/>
            <a:ext cx="522716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Kecepatan menghubungi medis profesional (119) JAUH LEBIH BERHARGA daripada menolong dengan cara salah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11094415" cy="2560320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06372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💡 PENTING DIINGAT:</a:t>
            </a:r>
            <a:br/>
            <a:br/>
            <a:r>
              <a:t>• The Golden Hour = Jam Emas pertama setelah kecelakaan</a:t>
            </a:r>
            <a:br/>
            <a:r>
              <a:t>• Penanganan TEPAT dalam waktu ini = peluang hidup LEBIH BESAR</a:t>
            </a:r>
            <a:br/>
            <a:r>
              <a:t>• JANGAN tunda — hubungi 119/112 SEGERA!</a:t>
            </a:r>
            <a:br/>
            <a:r>
              <a:t>• Anda tidak harus jadi pahlawan — yang penting BERTINDAK CEPAT &amp; BENAR</a:t>
            </a:r>
            <a:br/>
            <a:br/>
            <a:r>
              <a:t>🙏 SETIAP ORANG BISA MENYELAMATKAN NYAWA — dengan pengetahuan yang benar!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"/>
            <a:ext cx="12191695" cy="822959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"/>
            <a:ext cx="64008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7160"/>
            <a:ext cx="10637215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🔄 Ringkasan: Urutan Penanganan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6072"/>
            <a:ext cx="106372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CA3AF"/>
                </a:solidFill>
                <a:latin typeface="Calibri"/>
              </a:defRPr>
            </a:pPr>
            <a:r>
              <a:t>Ingat urutan ini — bisa menyelamatkan nyawa!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19"/>
            <a:ext cx="256786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88719"/>
            <a:ext cx="2567863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3971" y="132587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3971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238498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🛡️ 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Amankan diri, lingkungan, dan korban dari bahaya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6503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C2626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3" y="1188719"/>
            <a:ext cx="256786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188719"/>
            <a:ext cx="256786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46155" y="132587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6155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2263" y="1874519"/>
            <a:ext cx="238498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📞 HUBUNGI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2263" y="21945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Panggil 119/112, sampaikan lokasi &amp; kondisi korban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8687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C2626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1188719"/>
            <a:ext cx="256786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1188719"/>
            <a:ext cx="2567863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88339" y="132587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8339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1874519"/>
            <a:ext cx="238498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👀 CEK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21945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Periksa kesadaran &amp; pernapasan korban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0871" y="1828799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C2626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5191" y="1188719"/>
            <a:ext cx="2567863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5191" y="1188719"/>
            <a:ext cx="256786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30523" y="132587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30523" y="132587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6631" y="1874519"/>
            <a:ext cx="238498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🩹 TANGANI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6631" y="2194560"/>
            <a:ext cx="238498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Hentikan perdarahan, jaga suhu, JANGAN pindahkan!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383279"/>
            <a:ext cx="11094415" cy="2560320"/>
          </a:xfrm>
          <a:prstGeom prst="roundRect">
            <a:avLst>
              <a:gd name="adj" fmla="val 4000"/>
            </a:avLst>
          </a:prstGeom>
          <a:solidFill>
            <a:srgbClr val="E8EAF6"/>
          </a:solidFill>
          <a:ln w="6350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520439"/>
            <a:ext cx="1063721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A1A2E"/>
                </a:solidFill>
                <a:latin typeface="Calibri"/>
              </a:defRPr>
            </a:pPr>
            <a:r>
              <a:t>⚡ INGAT: AMAN → HUBUNGI → CEK → TANGANI</a:t>
            </a:r>
            <a:br/>
            <a:r>
              <a:t>Jangan terburu-buru menolong tanpa memastikan keamanan!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00800"/>
            <a:ext cx="12191695" cy="2743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55664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Calibri"/>
              </a:defRPr>
            </a:pPr>
            <a:r>
              <a:t>Panduan Pertolongan Pertama pada Korban Kecelakaan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455664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114800" cy="4114800"/>
          </a:xfrm>
          <a:prstGeom prst="ellipse">
            <a:avLst/>
          </a:prstGeom>
          <a:solidFill>
            <a:srgbClr val="0D1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0D1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0D1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32004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C2626"/>
                </a:solidFill>
                <a:latin typeface="Calibri"/>
              </a:defRPr>
            </a:pPr>
            <a:r>
              <a:t>🙏 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SELAMATKAN NYAWA</a:t>
            </a:r>
            <a:br/>
            <a:r>
              <a:t>DENGAN PENGETAHUAN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944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8EAF6"/>
                </a:solidFill>
                <a:latin typeface="Calibri"/>
              </a:defRPr>
            </a:pPr>
            <a:r>
              <a:t>Ingat selalu:</a:t>
            </a:r>
            <a:br/>
            <a:r>
              <a:t>• AMAN → HUBUNGI → CEK → TANGANI</a:t>
            </a:r>
            <a:br/>
            <a:r>
              <a:t>• The Golden Hour = 60 menit pertama</a:t>
            </a:r>
            <a:br/>
            <a:r>
              <a:t>• Hubungi 119 (Ambulans) atau 112 (Darurat)</a:t>
            </a:r>
            <a:br/>
            <a:r>
              <a:t>• Jangan pindahkan korban sembarangan!</a:t>
            </a:r>
            <a:br/>
            <a:br/>
            <a:r>
              <a:t>🏥 Pedoman: Basic Trauma Life Support (BTLS)</a:t>
            </a:r>
            <a:br/>
            <a:r>
              <a:t>🩺 Palang Merah Indonesia / PMI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944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Ada Pertanyaan? Silakan Diskusi! 📞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