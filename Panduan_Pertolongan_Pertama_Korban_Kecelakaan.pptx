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23560" y="731520"/>
            <a:ext cx="457200" cy="137160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74920" y="1143000"/>
            <a:ext cx="1554480" cy="45720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PANDUAN LENGKAP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4D4D"/>
                </a:solidFill>
                <a:latin typeface="Calibri"/>
              </a:defRPr>
            </a:pPr>
            <a:r>
              <a:t>PERTOLONGAN PERTAMA PADA KORBAN KECELAKAAN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480560"/>
            <a:ext cx="3931920" cy="36576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Berdasarkan Pedoman Basic Trauma Life Support (BTLS) &amp; Prinsip DRSABCD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Palang Merah Indonesia  |  Layanan Darurat: 119  •  112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PENDAHULUAN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50292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84D4D"/>
                </a:solidFill>
              </a:defRPr>
            </a:pPr>
            <a:r>
              <a:t>Mengapa Pertolongan Pertama Penting?</a:t>
            </a:r>
          </a:p>
          <a:p>
            <a:pPr>
              <a:spcBef>
                <a:spcPts val="2000"/>
              </a:spcBef>
              <a:defRPr sz="1800">
                <a:solidFill>
                  <a:srgbClr val="FFFFFF"/>
                </a:solidFill>
              </a:defRPr>
            </a:pPr>
            <a:r>
              <a:t>Kecelakaan lalu lintas atau insiden tak terduga lainnya dapat terjadi kapan saja.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Penanganan pertama yang cepat dan tepat sangat krusial untuk:</a:t>
            </a:r>
          </a:p>
          <a:p>
            <a:pPr lvl="1">
              <a:spcBef>
                <a:spcPts val="1000"/>
              </a:spcBef>
            </a:pPr>
            <a:r>
              <a:rPr sz="1800">
                <a:solidFill>
                  <a:srgbClr val="E84D4D"/>
                </a:solidFill>
              </a:rPr>
              <a:t>▸  </a:t>
            </a:r>
            <a:r>
              <a:rPr sz="1800">
                <a:solidFill>
                  <a:srgbClr val="FFFFFF"/>
                </a:solidFill>
              </a:rPr>
              <a:t>Mencegah cedera yang lebih parah</a:t>
            </a:r>
          </a:p>
          <a:p>
            <a:pPr lvl="1">
              <a:spcBef>
                <a:spcPts val="1000"/>
              </a:spcBef>
            </a:pPr>
            <a:r>
              <a:rPr sz="1800">
                <a:solidFill>
                  <a:srgbClr val="E84D4D"/>
                </a:solidFill>
              </a:rPr>
              <a:t>▸  </a:t>
            </a:r>
            <a:r>
              <a:rPr sz="1800">
                <a:solidFill>
                  <a:srgbClr val="FFFFFF"/>
                </a:solidFill>
              </a:rPr>
              <a:t>Menyelamatkan nyawa korban</a:t>
            </a:r>
          </a:p>
          <a:p>
            <a:pPr lvl="1">
              <a:spcBef>
                <a:spcPts val="1000"/>
              </a:spcBef>
            </a:pPr>
            <a:r>
              <a:rPr sz="1800">
                <a:solidFill>
                  <a:srgbClr val="E84D4D"/>
                </a:solidFill>
              </a:rPr>
              <a:t>▸  </a:t>
            </a:r>
            <a:r>
              <a:rPr sz="1800">
                <a:solidFill>
                  <a:srgbClr val="FFFFFF"/>
                </a:solidFill>
              </a:rPr>
              <a:t>Memberikan waktu bagi tenaga medis profesional untuk tiba</a:t>
            </a:r>
          </a:p>
          <a:p>
            <a:pPr lvl="1">
              <a:spcBef>
                <a:spcPts val="1000"/>
              </a:spcBef>
            </a:pPr>
            <a:r>
              <a:rPr sz="1800">
                <a:solidFill>
                  <a:srgbClr val="E84D4D"/>
                </a:solidFill>
              </a:rPr>
              <a:t>▸  </a:t>
            </a:r>
            <a:r>
              <a:rPr sz="1800">
                <a:solidFill>
                  <a:srgbClr val="FFFFFF"/>
                </a:solidFill>
              </a:rPr>
              <a:t>Mengurangi risiko komplikasi jangka panjang</a:t>
            </a:r>
          </a:p>
          <a:p>
            <a:pPr>
              <a:spcBef>
                <a:spcPts val="2400"/>
              </a:spcBef>
            </a:pPr>
            <a:r>
              <a:rPr sz="1800" b="1">
                <a:solidFill>
                  <a:srgbClr val="FFD700"/>
                </a:solidFill>
              </a:rPr>
              <a:t>Prinsip Utama: </a:t>
            </a:r>
            <a:r>
              <a:rPr sz="1700">
                <a:solidFill>
                  <a:srgbClr val="BBBBCC"/>
                </a:solidFill>
              </a:rPr>
              <a:t>DRSABCD (Danger, Response, Send for help, Airway, Breathing, Circulation, Defibrillation) + 3A (Aman Diri, Aman Lingkungan, Aman Korban)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AMANKAN KEADAAN — Prinsip 3A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48463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4D4D"/>
                </a:solidFill>
                <a:latin typeface="Calibri"/>
              </a:defRPr>
            </a:pPr>
            <a:r>
              <a:t>AMAN DIRI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Jangan menjadi korban selanjutnya. Pakai alat pelindung diri jika ada (seperti sarung tangan medis) dan pastikan posisi Anda aman dari lalu lintas.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371600"/>
            <a:ext cx="3474720" cy="48463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371600"/>
            <a:ext cx="347472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1645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500"/>
                </a:solidFill>
                <a:latin typeface="Calibri"/>
              </a:defRPr>
            </a:pPr>
            <a:r>
              <a:t>AMAN LINGKUNGAN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2004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Matikan mesin kendaraan yang terlibat kecelakaan, pasang segitiga pengaman, atau minta orang lain untuk mengatur lalu lintas.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371600"/>
            <a:ext cx="3474720" cy="48463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371600"/>
            <a:ext cx="3474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1645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Calibri"/>
              </a:defRPr>
            </a:pPr>
            <a:r>
              <a:t>AMAN KORBAN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32004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Jauhkan korban dari bahaya yang mengancam nyawa secara langsung (seperti api atau kendaraan yang akan meledak).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HUBUNGI BANTUAN MEDIS DARURAT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858000" cy="48463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Langkah terpenting adalah memanggil tenaga ahli.</a:t>
            </a:r>
          </a:p>
          <a:p>
            <a:pPr>
              <a:spcBef>
                <a:spcPts val="2000"/>
              </a:spcBef>
              <a:defRPr sz="1800">
                <a:solidFill>
                  <a:srgbClr val="BBBBCC"/>
                </a:solidFill>
              </a:defRPr>
            </a:pPr>
            <a:r>
              <a:t>Di Indonesia, Anda dapat menghubungi:</a:t>
            </a:r>
          </a:p>
          <a:p>
            <a:pPr>
              <a:spcBef>
                <a:spcPts val="1600"/>
              </a:spcBef>
            </a:pPr>
            <a:r>
              <a:rPr sz="3200" b="1">
                <a:solidFill>
                  <a:srgbClr val="E84D4D"/>
                </a:solidFill>
              </a:rPr>
              <a:t>📞  119</a:t>
            </a:r>
            <a:r>
              <a:rPr sz="1800">
                <a:solidFill>
                  <a:srgbClr val="FFFFFF"/>
                </a:solidFill>
              </a:rPr>
              <a:t>   Ambulans / Gawat Darurat Medis</a:t>
            </a:r>
          </a:p>
          <a:p>
            <a:pPr>
              <a:spcBef>
                <a:spcPts val="1200"/>
              </a:spcBef>
            </a:pPr>
            <a:r>
              <a:rPr sz="3200" b="1">
                <a:solidFill>
                  <a:srgbClr val="FFA500"/>
                </a:solidFill>
              </a:rPr>
              <a:t>📞  112</a:t>
            </a:r>
            <a:r>
              <a:rPr sz="1800">
                <a:solidFill>
                  <a:srgbClr val="FFFFFF"/>
                </a:solidFill>
              </a:rPr>
              <a:t>   Layanan Panggilan Darurat Terpadu</a:t>
            </a:r>
          </a:p>
          <a:p>
            <a:pPr>
              <a:spcBef>
                <a:spcPts val="2400"/>
              </a:spcBef>
              <a:defRPr sz="1800" b="1">
                <a:solidFill>
                  <a:srgbClr val="FFD700"/>
                </a:solidFill>
              </a:defRPr>
            </a:pPr>
            <a:r>
              <a:t>Informasi yang perlu disampaikan:</a:t>
            </a:r>
          </a:p>
          <a:p>
            <a:pPr lvl="1">
              <a:spcBef>
                <a:spcPts val="800"/>
              </a:spcBef>
            </a:pPr>
            <a:r>
              <a:rPr sz="1600">
                <a:solidFill>
                  <a:srgbClr val="00B4D8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Lokasi kejadian (alamat jelas)</a:t>
            </a:r>
          </a:p>
          <a:p>
            <a:pPr lvl="1">
              <a:spcBef>
                <a:spcPts val="800"/>
              </a:spcBef>
            </a:pPr>
            <a:r>
              <a:rPr sz="1600">
                <a:solidFill>
                  <a:srgbClr val="00B4D8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Jumlah korban</a:t>
            </a:r>
          </a:p>
          <a:p>
            <a:pPr lvl="1">
              <a:spcBef>
                <a:spcPts val="800"/>
              </a:spcBef>
            </a:pPr>
            <a:r>
              <a:rPr sz="1600">
                <a:solidFill>
                  <a:srgbClr val="00B4D8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Kondisi korban secara singkat</a:t>
            </a:r>
          </a:p>
          <a:p>
            <a:pPr lvl="1">
              <a:spcBef>
                <a:spcPts val="800"/>
              </a:spcBef>
            </a:pPr>
            <a:r>
              <a:rPr sz="1600">
                <a:solidFill>
                  <a:srgbClr val="00B4D8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Jenis kecelakaan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840480" cy="484632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/>
            </a:pPr>
            <a:r>
              <a:t>⚠️</a:t>
            </a:r>
          </a:p>
          <a:p>
            <a:pPr algn="ctr">
              <a:spcBef>
                <a:spcPts val="1600"/>
              </a:spcBef>
              <a:defRPr sz="2400" b="1">
                <a:solidFill>
                  <a:srgbClr val="E84D4D"/>
                </a:solidFill>
              </a:defRPr>
            </a:pPr>
            <a:r>
              <a:t>INGAT!</a:t>
            </a:r>
          </a:p>
          <a:p>
            <a:pPr algn="ctr">
              <a:spcBef>
                <a:spcPts val="1600"/>
              </a:spcBef>
              <a:defRPr sz="1600">
                <a:solidFill>
                  <a:srgbClr val="BBBBCC"/>
                </a:solidFill>
              </a:defRPr>
            </a:pPr>
            <a:r>
              <a:t>Jangan mencoba menolong dengan cara yang salah. Kecepatan menghubungi 119 jauh lebih berharga.</a:t>
            </a:r>
          </a:p>
          <a:p>
            <a:pPr algn="ctr">
              <a:spcBef>
                <a:spcPts val="2000"/>
              </a:spcBef>
              <a:defRPr sz="1800" b="1">
                <a:solidFill>
                  <a:srgbClr val="FFD700"/>
                </a:solidFill>
              </a:defRPr>
            </a:pPr>
            <a:r>
              <a:t>"The Golden Hour"</a:t>
            </a:r>
          </a:p>
          <a:p>
            <a:pPr algn="ctr">
              <a:spcBef>
                <a:spcPts val="800"/>
              </a:spcBef>
              <a:defRPr sz="1400">
                <a:solidFill>
                  <a:srgbClr val="BBBBCC"/>
                </a:solidFill>
              </a:defRPr>
            </a:pPr>
            <a:r>
              <a:t>60 menit pertama setelah trauma menentukan keselamatan korban!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PERIKSA KESADARAN KORBAN (Cek Respon)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20116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B4D8"/>
                </a:solidFill>
              </a:defRPr>
            </a:pPr>
            <a:r>
              <a:t>Cara Memeriksa: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Dekati korban dan periksa kesadarannya dengan menepuk bahu secara perlahan sambil memanggil:</a:t>
            </a:r>
          </a:p>
          <a:p>
            <a:pPr>
              <a:spcBef>
                <a:spcPts val="1200"/>
              </a:spcBef>
            </a:pPr>
            <a:r>
              <a:rPr sz="2000" b="1" i="1">
                <a:solidFill>
                  <a:srgbClr val="FFD700"/>
                </a:solidFill>
              </a:rPr>
              <a:t>"Pak/Bu, apakah Anda bisa mendengar saya?"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5394960" cy="27432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657600"/>
            <a:ext cx="53949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ECC71"/>
                </a:solidFill>
              </a:rPr>
              <a:t>✅  </a:t>
            </a:r>
            <a:r>
              <a:rPr sz="2200" b="1">
                <a:solidFill>
                  <a:srgbClr val="2ECC71"/>
                </a:solidFill>
              </a:rPr>
              <a:t>JIKA SADAR</a:t>
            </a:r>
          </a:p>
          <a:p>
            <a:pPr>
              <a:spcBef>
                <a:spcPts val="1400"/>
              </a:spcBef>
              <a:defRPr sz="1700">
                <a:solidFill>
                  <a:srgbClr val="FFFFFF"/>
                </a:solidFill>
              </a:defRPr>
            </a:pPr>
            <a:r>
              <a:t>• Tenangkan korban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</a:defRPr>
            </a:pPr>
            <a:r>
              <a:t>• Larang mereka untuk banyak bergerak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</a:defRPr>
            </a:pPr>
            <a:r>
              <a:t>• Ajak mengobrol agar tidak panik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394960" cy="27432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657600"/>
            <a:ext cx="539496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93192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E74C3C"/>
                </a:solidFill>
              </a:rPr>
              <a:t>❌  </a:t>
            </a:r>
            <a:r>
              <a:rPr sz="2200" b="1">
                <a:solidFill>
                  <a:srgbClr val="E74C3C"/>
                </a:solidFill>
              </a:rPr>
              <a:t>JIKA TIDAK SADAR</a:t>
            </a:r>
          </a:p>
          <a:p>
            <a:pPr>
              <a:spcBef>
                <a:spcPts val="1400"/>
              </a:spcBef>
              <a:defRPr sz="1700">
                <a:solidFill>
                  <a:srgbClr val="FFFFFF"/>
                </a:solidFill>
              </a:defRPr>
            </a:pPr>
            <a:r>
              <a:t>• Periksa pernapasan (lihat pergerakan dada)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</a:defRPr>
            </a:pPr>
            <a:r>
              <a:t>• Jika tidak bernapas → lakukan RJP/CPR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</a:defRPr>
            </a:pPr>
            <a:r>
              <a:t>• Kompresi dada (untuk yang terlatih)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4D4D"/>
                </a:solidFill>
                <a:latin typeface="Calibri"/>
              </a:defRPr>
            </a:pPr>
            <a:r>
              <a:t>JANGAN PINDAHKAN KORBAN SECARA SEMBARANGAN!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1280160"/>
          </a:xfrm>
          <a:prstGeom prst="roundRect">
            <a:avLst/>
          </a:prstGeom>
          <a:solidFill>
            <a:srgbClr val="5C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4D4D"/>
                </a:solidFill>
              </a:rPr>
              <a:t>⚠️  KESALAHAN PALING FATAL YANG SERING TERJADI DI MASYARAKAT  ⚠️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11064240" cy="16459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1106424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D700"/>
                </a:solidFill>
              </a:rPr>
              <a:t>🏆  ATURAN EMAS: </a:t>
            </a:r>
            <a:r>
              <a:rPr sz="1800">
                <a:solidFill>
                  <a:srgbClr val="FFFFFF"/>
                </a:solidFill>
              </a:rPr>
              <a:t>Kecuali ada ancaman nyawa langsung (seperti kebakaran atau risiko terlindas), JANGAN MEMINDAHKAN KORBAN.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54880"/>
            <a:ext cx="11064240" cy="182880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74C3C"/>
                </a:solidFill>
              </a:rPr>
              <a:t>Konsekuensi Memindahkan Korban Tanpa Teknik yang Benar: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▸  Kerusakan tulang belakang dan leher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</a:defRPr>
            </a:pPr>
            <a:r>
              <a:t>▸  Kelumpuhan permanen (tetap lumpuh seumur hidup)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</a:defRPr>
            </a:pPr>
            <a:r>
              <a:t>▸  Kematian akibat cedera yang memburuk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TANGANI PERDARAHAN HEBAT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16459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Jika Anda melihat perdarahan yang menyemprot atau mengalir deras:</a:t>
            </a:r>
          </a:p>
          <a:p>
            <a:pPr>
              <a:spcBef>
                <a:spcPts val="1000"/>
              </a:spcBef>
              <a:defRPr sz="1700" b="1">
                <a:solidFill>
                  <a:srgbClr val="E84D4D"/>
                </a:solidFill>
              </a:defRPr>
            </a:pPr>
            <a:r>
              <a:t>Ini adalah situasi darurat yang memerlukan tindakan cepat!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3474720" cy="32004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91840"/>
            <a:ext cx="3474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566160"/>
            <a:ext cx="914400" cy="9144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TEKAN LANGSUNG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Gunakan kain bersih (baju, handuk, atau kassa) untuk menekan langsung pada titik luka.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3291840"/>
            <a:ext cx="3474720" cy="32004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3291840"/>
            <a:ext cx="347472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77839" y="3566160"/>
            <a:ext cx="914400" cy="91440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4663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500"/>
                </a:solidFill>
                <a:latin typeface="Calibri"/>
              </a:defRPr>
            </a:pPr>
            <a:r>
              <a:t>PERTAHANKAN TEKANAN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5212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Pertahankan tekanan secara konsisten sampai bantuan medis tiba. Jangan mengangkat untuk mengecek.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3291840"/>
            <a:ext cx="3474720" cy="32004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3291840"/>
            <a:ext cx="347472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79" y="3566160"/>
            <a:ext cx="914400" cy="91440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4663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4D4D"/>
                </a:solidFill>
                <a:latin typeface="Calibri"/>
              </a:defRPr>
            </a:pPr>
            <a:r>
              <a:t>PASTIKAN TEKANAN KUAT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5212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Tekanan yang kuat dan konsisten adalah kunci menghentikan perdarahan hebat.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DO'S &amp; DON'TS — Yang Boleh dan Tidak Boleh Dilakukan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94960" cy="512064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9496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CC71"/>
                </a:solidFill>
                <a:latin typeface="Calibri"/>
              </a:defRPr>
            </a:pPr>
            <a:r>
              <a:t>✅  BOLEH DILAKUKAN (Do's)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ECC71"/>
                </a:solidFill>
              </a:rPr>
              <a:t>▸  </a:t>
            </a:r>
            <a:r>
              <a:rPr sz="1800" b="1">
                <a:solidFill>
                  <a:srgbClr val="FFFFFF"/>
                </a:solidFill>
              </a:rPr>
              <a:t>Menjaga suhu tubuh korban</a:t>
            </a:r>
          </a:p>
          <a:p>
            <a:pPr>
              <a:spcBef>
                <a:spcPts val="400"/>
              </a:spcBef>
              <a:defRPr sz="1500">
                <a:solidFill>
                  <a:srgbClr val="BBBBCC"/>
                </a:solidFill>
              </a:defRPr>
            </a:pPr>
            <a:r>
              <a:t>Agar tetap hangat menggunakan jaket atau selimut.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ECC71"/>
                </a:solidFill>
              </a:rPr>
              <a:t>▸  </a:t>
            </a:r>
            <a:r>
              <a:rPr sz="1800" b="1">
                <a:solidFill>
                  <a:srgbClr val="FFFFFF"/>
                </a:solidFill>
              </a:rPr>
              <a:t>Membuka kaca helm pelindung</a:t>
            </a:r>
          </a:p>
          <a:p>
            <a:pPr>
              <a:spcBef>
                <a:spcPts val="400"/>
              </a:spcBef>
              <a:defRPr sz="1500">
                <a:solidFill>
                  <a:srgbClr val="BBBBCC"/>
                </a:solidFill>
              </a:defRPr>
            </a:pPr>
            <a:r>
              <a:t>Untuk melancarkan udara (jika korban memakai helm full-face).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ECC71"/>
                </a:solidFill>
              </a:rPr>
              <a:t>▸  </a:t>
            </a:r>
            <a:r>
              <a:rPr sz="1800" b="1">
                <a:solidFill>
                  <a:srgbClr val="FFFFFF"/>
                </a:solidFill>
              </a:rPr>
              <a:t>Mengajak korban mengobrol</a:t>
            </a:r>
          </a:p>
          <a:p>
            <a:pPr>
              <a:spcBef>
                <a:spcPts val="400"/>
              </a:spcBef>
              <a:defRPr sz="1500">
                <a:solidFill>
                  <a:srgbClr val="BBBBCC"/>
                </a:solidFill>
              </a:defRPr>
            </a:pPr>
            <a:r>
              <a:t>Jika sadar, agar mereka tidak panik atau tertidur.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94960" cy="512064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39496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74C3C"/>
                </a:solidFill>
                <a:latin typeface="Calibri"/>
              </a:defRPr>
            </a:pPr>
            <a:r>
              <a:t>❌  DILARANG KERAS (Don'ts)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74C3C"/>
                </a:solidFill>
              </a:rPr>
              <a:t>▸  </a:t>
            </a:r>
            <a:r>
              <a:rPr sz="1800" b="1">
                <a:solidFill>
                  <a:srgbClr val="FFFFFF"/>
                </a:solidFill>
              </a:rPr>
              <a:t>Memberikan makan atau minum</a:t>
            </a:r>
          </a:p>
          <a:p>
            <a:pPr>
              <a:spcBef>
                <a:spcPts val="400"/>
              </a:spcBef>
              <a:defRPr sz="1500">
                <a:solidFill>
                  <a:srgbClr val="BBBBCC"/>
                </a:solidFill>
              </a:defRPr>
            </a:pPr>
            <a:r>
              <a:t>Berisiko tersedak dan menutup jalan napas korban.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6616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74C3C"/>
                </a:solidFill>
              </a:rPr>
              <a:t>▸  </a:t>
            </a:r>
            <a:r>
              <a:rPr sz="1800" b="1">
                <a:solidFill>
                  <a:srgbClr val="FFFFFF"/>
                </a:solidFill>
              </a:rPr>
              <a:t>Melepas helm secara paksa</a:t>
            </a:r>
          </a:p>
          <a:p>
            <a:pPr>
              <a:spcBef>
                <a:spcPts val="400"/>
              </a:spcBef>
              <a:defRPr sz="1500">
                <a:solidFill>
                  <a:srgbClr val="BBBBCC"/>
                </a:solidFill>
              </a:defRPr>
            </a:pPr>
            <a:r>
              <a:t>Dari kepala korban, karena berisiko merusak tulang leher.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93776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74C3C"/>
                </a:solidFill>
              </a:rPr>
              <a:t>▸  </a:t>
            </a:r>
            <a:r>
              <a:rPr sz="1800" b="1">
                <a:solidFill>
                  <a:srgbClr val="FFFFFF"/>
                </a:solidFill>
              </a:rPr>
              <a:t>Mengerumuni korban terlalu rapat</a:t>
            </a:r>
          </a:p>
          <a:p>
            <a:pPr>
              <a:spcBef>
                <a:spcPts val="400"/>
              </a:spcBef>
              <a:defRPr sz="1500">
                <a:solidFill>
                  <a:srgbClr val="BBBBCC"/>
                </a:solidFill>
              </a:defRPr>
            </a:pPr>
            <a:r>
              <a:t>Menghalangi sirkulasi udara segar untuk korban.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731520"/>
            <a:ext cx="8503920" cy="5486400"/>
          </a:xfrm>
          <a:prstGeom prst="roundRect">
            <a:avLst/>
          </a:prstGeom>
          <a:solidFill>
            <a:srgbClr val="2A2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731520"/>
            <a:ext cx="8503920" cy="5486400"/>
          </a:xfrm>
          <a:prstGeom prst="rect">
            <a:avLst/>
          </a:prstGeom>
          <a:noFill/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/>
            </a:pPr>
            <a: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10896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Calibri"/>
              </a:defRPr>
            </a:pPr>
            <a:r>
              <a:t>THE GOLDEN 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749039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"Jam Emas" — 60 Menit Pertama Setelah Kecelakaan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389120"/>
            <a:ext cx="393192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66344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t>Penanganan yang tepat dalam waktu ini sangat menentukan tingkat keselamatan dan pemulihan korban.</a:t>
            </a:r>
          </a:p>
          <a:p>
            <a:pPr algn="ctr">
              <a:spcBef>
                <a:spcPts val="1400"/>
              </a:spcBef>
            </a:pPr>
            <a:r>
              <a:rPr sz="1700">
                <a:solidFill>
                  <a:srgbClr val="FFFFFF"/>
                </a:solidFill>
              </a:rPr>
              <a:t>Kecepatan menghubungi 119 jauh lebih berharga </a:t>
            </a:r>
            <a:r>
              <a:rPr sz="1700" b="1">
                <a:solidFill>
                  <a:srgbClr val="E84D4D"/>
                </a:solidFill>
              </a:rPr>
              <a:t>daripada mencoba menolong dengan cara yang salah.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RINGKASAN — 5 Langkah Pertolongan Pertama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148840" cy="47548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14884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737360"/>
            <a:ext cx="914400" cy="91440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4D4D"/>
                </a:solidFill>
                <a:latin typeface="Calibri"/>
              </a:defRPr>
            </a:pPr>
            <a:r>
              <a:t>AMANKAN</a:t>
            </a:r>
            <a:br/>
            <a:r>
              <a:t>KEADAAN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0"/>
            <a:ext cx="18745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Prinsip 3A:</a:t>
            </a:r>
            <a:br/>
            <a:r>
              <a:t>Diri, Lingkungan,</a:t>
            </a:r>
            <a:br/>
            <a:r>
              <a:t>Korban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463040"/>
            <a:ext cx="2148840" cy="47548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79" y="1463040"/>
            <a:ext cx="214884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91839" y="1737360"/>
            <a:ext cx="914400" cy="91440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283464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  <a:latin typeface="Calibri"/>
              </a:defRPr>
            </a:pPr>
            <a:r>
              <a:t>HUBUNGI</a:t>
            </a:r>
            <a:br/>
            <a:r>
              <a:t>BANTUAN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3840480"/>
            <a:ext cx="18745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Dial 119 / 112</a:t>
            </a:r>
            <a:br/>
            <a:r>
              <a:t>Ambulans &amp;</a:t>
            </a:r>
            <a:br/>
            <a:r>
              <a:t>Gawat Darurat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463040"/>
            <a:ext cx="2148840" cy="47548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463040"/>
            <a:ext cx="21488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23560" y="1737360"/>
            <a:ext cx="914400" cy="9144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83464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Calibri"/>
              </a:defRPr>
            </a:pPr>
            <a:r>
              <a:t>PERIKSA</a:t>
            </a:r>
            <a:br/>
            <a:r>
              <a:t>KESADARAN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840480"/>
            <a:ext cx="18745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Cek Respon:</a:t>
            </a:r>
            <a:br/>
            <a:r>
              <a:t>Tepuk bahu,</a:t>
            </a:r>
            <a:br/>
            <a:r>
              <a:t>panggil korban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19" y="1463040"/>
            <a:ext cx="2148840" cy="47548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19" y="1463040"/>
            <a:ext cx="214884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55279" y="173736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83464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JANGAN</a:t>
            </a:r>
            <a:br/>
            <a:r>
              <a:t>PINDAHKAN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840480"/>
            <a:ext cx="18745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Aturan Emas:</a:t>
            </a:r>
            <a:br/>
            <a:r>
              <a:t>Kecuali ancaman</a:t>
            </a:r>
            <a:br/>
            <a:r>
              <a:t>langsung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463040"/>
            <a:ext cx="2148840" cy="47548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463040"/>
            <a:ext cx="21488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87000" y="1737360"/>
            <a:ext cx="914400" cy="9144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83464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TANGANI</a:t>
            </a:r>
            <a:br/>
            <a:r>
              <a:t>PERDARAHAN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840480"/>
            <a:ext cx="18745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Tekan luka</a:t>
            </a:r>
            <a:br/>
            <a:r>
              <a:t>dengan kain</a:t>
            </a:r>
            <a:br/>
            <a:r>
              <a:t>bersih &amp; kuat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Calibri"/>
              </a:defRPr>
            </a:pPr>
            <a:r>
              <a:t>📞  119  •  112  |  Selamatkan Nyawa dengan Penanganan yang Tepat!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